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7" r:id="rId7"/>
    <p:sldId id="261" r:id="rId8"/>
    <p:sldId id="262" r:id="rId9"/>
    <p:sldId id="263" r:id="rId10"/>
    <p:sldId id="264" r:id="rId11"/>
    <p:sldId id="265" r:id="rId12"/>
    <p:sldId id="266"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71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0012" autoAdjust="0"/>
  </p:normalViewPr>
  <p:slideViewPr>
    <p:cSldViewPr snapToGrid="0">
      <p:cViewPr varScale="1">
        <p:scale>
          <a:sx n="100" d="100"/>
          <a:sy n="100" d="100"/>
        </p:scale>
        <p:origin x="93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ie Fuller" userId="e034bfba-bc31-4476-bf06-cfa524cc5850" providerId="ADAL" clId="{9EFFC170-8681-4273-969B-BBA287D3CBAA}"/>
    <pc:docChg chg="custSel modSld">
      <pc:chgData name="Ellie Fuller" userId="e034bfba-bc31-4476-bf06-cfa524cc5850" providerId="ADAL" clId="{9EFFC170-8681-4273-969B-BBA287D3CBAA}" dt="2024-11-11T13:29:22.508" v="21" actId="27636"/>
      <pc:docMkLst>
        <pc:docMk/>
      </pc:docMkLst>
      <pc:sldChg chg="modSp mod">
        <pc:chgData name="Ellie Fuller" userId="e034bfba-bc31-4476-bf06-cfa524cc5850" providerId="ADAL" clId="{9EFFC170-8681-4273-969B-BBA287D3CBAA}" dt="2024-11-11T13:29:22.508" v="21" actId="27636"/>
        <pc:sldMkLst>
          <pc:docMk/>
          <pc:sldMk cId="557005173" sldId="257"/>
        </pc:sldMkLst>
      </pc:sldChg>
      <pc:sldChg chg="modSp mod">
        <pc:chgData name="Ellie Fuller" userId="e034bfba-bc31-4476-bf06-cfa524cc5850" providerId="ADAL" clId="{9EFFC170-8681-4273-969B-BBA287D3CBAA}" dt="2024-11-11T13:26:59.984" v="9" actId="20577"/>
        <pc:sldMkLst>
          <pc:docMk/>
          <pc:sldMk cId="2713368816" sldId="261"/>
        </pc:sldMkLst>
      </pc:sldChg>
      <pc:sldChg chg="modSp mod">
        <pc:chgData name="Ellie Fuller" userId="e034bfba-bc31-4476-bf06-cfa524cc5850" providerId="ADAL" clId="{9EFFC170-8681-4273-969B-BBA287D3CBAA}" dt="2024-11-11T13:28:14.186" v="15" actId="14100"/>
        <pc:sldMkLst>
          <pc:docMk/>
          <pc:sldMk cId="270553398" sldId="263"/>
        </pc:sldMkLst>
      </pc:sldChg>
      <pc:sldChg chg="modSp mod">
        <pc:chgData name="Ellie Fuller" userId="e034bfba-bc31-4476-bf06-cfa524cc5850" providerId="ADAL" clId="{9EFFC170-8681-4273-969B-BBA287D3CBAA}" dt="2024-11-11T13:28:21.366" v="16" actId="255"/>
        <pc:sldMkLst>
          <pc:docMk/>
          <pc:sldMk cId="490567233" sldId="264"/>
        </pc:sldMkLst>
      </pc:sldChg>
      <pc:sldChg chg="modSp mod">
        <pc:chgData name="Ellie Fuller" userId="e034bfba-bc31-4476-bf06-cfa524cc5850" providerId="ADAL" clId="{9EFFC170-8681-4273-969B-BBA287D3CBAA}" dt="2024-11-11T13:28:31.520" v="17" actId="2711"/>
        <pc:sldMkLst>
          <pc:docMk/>
          <pc:sldMk cId="2555582646" sldId="265"/>
        </pc:sldMkLst>
      </pc:sldChg>
    </pc:docChg>
  </pc:docChgLst>
  <pc:docChgLst>
    <pc:chgData name="Ellie Fuller" userId="e034bfba-bc31-4476-bf06-cfa524cc5850" providerId="ADAL" clId="{365A209F-0445-4961-8B93-F7FD7F1DD349}"/>
    <pc:docChg chg="modSld sldOrd">
      <pc:chgData name="Ellie Fuller" userId="e034bfba-bc31-4476-bf06-cfa524cc5850" providerId="ADAL" clId="{365A209F-0445-4961-8B93-F7FD7F1DD349}" dt="2026-03-26T01:42:27.711" v="3"/>
      <pc:docMkLst>
        <pc:docMk/>
      </pc:docMkLst>
      <pc:sldChg chg="mod modShow">
        <pc:chgData name="Ellie Fuller" userId="e034bfba-bc31-4476-bf06-cfa524cc5850" providerId="ADAL" clId="{365A209F-0445-4961-8B93-F7FD7F1DD349}" dt="2026-03-26T01:42:13.132" v="0" actId="729"/>
        <pc:sldMkLst>
          <pc:docMk/>
          <pc:sldMk cId="270553398" sldId="263"/>
        </pc:sldMkLst>
      </pc:sldChg>
      <pc:sldChg chg="mod modShow">
        <pc:chgData name="Ellie Fuller" userId="e034bfba-bc31-4476-bf06-cfa524cc5850" providerId="ADAL" clId="{365A209F-0445-4961-8B93-F7FD7F1DD349}" dt="2026-03-26T01:42:16.288" v="1" actId="729"/>
        <pc:sldMkLst>
          <pc:docMk/>
          <pc:sldMk cId="490567233" sldId="264"/>
        </pc:sldMkLst>
      </pc:sldChg>
      <pc:sldChg chg="ord">
        <pc:chgData name="Ellie Fuller" userId="e034bfba-bc31-4476-bf06-cfa524cc5850" providerId="ADAL" clId="{365A209F-0445-4961-8B93-F7FD7F1DD349}" dt="2026-03-26T01:42:27.711" v="3"/>
        <pc:sldMkLst>
          <pc:docMk/>
          <pc:sldMk cId="273178743" sldId="26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D3669-17B8-48F8-527D-52C1716CCB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961146-DC2E-424C-E499-60669ED74C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1B29F8-393F-AB43-6E28-194AF00264B7}"/>
              </a:ext>
            </a:extLst>
          </p:cNvPr>
          <p:cNvSpPr>
            <a:spLocks noGrp="1"/>
          </p:cNvSpPr>
          <p:nvPr>
            <p:ph type="dt" sz="half" idx="10"/>
          </p:nvPr>
        </p:nvSpPr>
        <p:spPr/>
        <p:txBody>
          <a:bodyPr/>
          <a:lstStyle/>
          <a:p>
            <a:fld id="{D3BA6E56-7129-4A46-8E91-52BB45EEC496}" type="datetimeFigureOut">
              <a:rPr lang="en-US" smtClean="0"/>
              <a:t>3/25/2026</a:t>
            </a:fld>
            <a:endParaRPr lang="en-US"/>
          </a:p>
        </p:txBody>
      </p:sp>
      <p:sp>
        <p:nvSpPr>
          <p:cNvPr id="5" name="Footer Placeholder 4">
            <a:extLst>
              <a:ext uri="{FF2B5EF4-FFF2-40B4-BE49-F238E27FC236}">
                <a16:creationId xmlns:a16="http://schemas.microsoft.com/office/drawing/2014/main" id="{FCCFC68A-8AEE-3E13-6BD0-E60C407CB7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EACD85-D2FF-75F1-D3E2-3174F690CC90}"/>
              </a:ext>
            </a:extLst>
          </p:cNvPr>
          <p:cNvSpPr>
            <a:spLocks noGrp="1"/>
          </p:cNvSpPr>
          <p:nvPr>
            <p:ph type="sldNum" sz="quarter" idx="12"/>
          </p:nvPr>
        </p:nvSpPr>
        <p:spPr/>
        <p:txBody>
          <a:bodyPr/>
          <a:lstStyle/>
          <a:p>
            <a:fld id="{D3AF6889-333C-4F8D-A37A-629E287A052A}" type="slidenum">
              <a:rPr lang="en-US" smtClean="0"/>
              <a:t>‹#›</a:t>
            </a:fld>
            <a:endParaRPr lang="en-US"/>
          </a:p>
        </p:txBody>
      </p:sp>
    </p:spTree>
    <p:extLst>
      <p:ext uri="{BB962C8B-B14F-4D97-AF65-F5344CB8AC3E}">
        <p14:creationId xmlns:p14="http://schemas.microsoft.com/office/powerpoint/2010/main" val="107592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AB995-CBEC-4E17-EC4E-885C050740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B60F1C-04E2-BF19-48E9-817771F295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C48B06-9724-F7BD-122B-71305E197336}"/>
              </a:ext>
            </a:extLst>
          </p:cNvPr>
          <p:cNvSpPr>
            <a:spLocks noGrp="1"/>
          </p:cNvSpPr>
          <p:nvPr>
            <p:ph type="dt" sz="half" idx="10"/>
          </p:nvPr>
        </p:nvSpPr>
        <p:spPr/>
        <p:txBody>
          <a:bodyPr/>
          <a:lstStyle/>
          <a:p>
            <a:fld id="{D3BA6E56-7129-4A46-8E91-52BB45EEC496}" type="datetimeFigureOut">
              <a:rPr lang="en-US" smtClean="0"/>
              <a:t>3/25/2026</a:t>
            </a:fld>
            <a:endParaRPr lang="en-US"/>
          </a:p>
        </p:txBody>
      </p:sp>
      <p:sp>
        <p:nvSpPr>
          <p:cNvPr id="5" name="Footer Placeholder 4">
            <a:extLst>
              <a:ext uri="{FF2B5EF4-FFF2-40B4-BE49-F238E27FC236}">
                <a16:creationId xmlns:a16="http://schemas.microsoft.com/office/drawing/2014/main" id="{875A08DE-B346-30A5-4E24-E4098F3FEB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E04AEE-1D5F-0A37-4235-8F4E158CC0DD}"/>
              </a:ext>
            </a:extLst>
          </p:cNvPr>
          <p:cNvSpPr>
            <a:spLocks noGrp="1"/>
          </p:cNvSpPr>
          <p:nvPr>
            <p:ph type="sldNum" sz="quarter" idx="12"/>
          </p:nvPr>
        </p:nvSpPr>
        <p:spPr/>
        <p:txBody>
          <a:bodyPr/>
          <a:lstStyle/>
          <a:p>
            <a:fld id="{D3AF6889-333C-4F8D-A37A-629E287A052A}" type="slidenum">
              <a:rPr lang="en-US" smtClean="0"/>
              <a:t>‹#›</a:t>
            </a:fld>
            <a:endParaRPr lang="en-US"/>
          </a:p>
        </p:txBody>
      </p:sp>
    </p:spTree>
    <p:extLst>
      <p:ext uri="{BB962C8B-B14F-4D97-AF65-F5344CB8AC3E}">
        <p14:creationId xmlns:p14="http://schemas.microsoft.com/office/powerpoint/2010/main" val="367720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AF8B2-ADBA-0C48-6DC3-0083C9E3A1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A3E475C-E974-E2B7-1DC6-EC05BA226B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05DD31-288A-AF63-B7F7-1CF2131122B9}"/>
              </a:ext>
            </a:extLst>
          </p:cNvPr>
          <p:cNvSpPr>
            <a:spLocks noGrp="1"/>
          </p:cNvSpPr>
          <p:nvPr>
            <p:ph type="dt" sz="half" idx="10"/>
          </p:nvPr>
        </p:nvSpPr>
        <p:spPr/>
        <p:txBody>
          <a:bodyPr/>
          <a:lstStyle/>
          <a:p>
            <a:fld id="{D3BA6E56-7129-4A46-8E91-52BB45EEC496}" type="datetimeFigureOut">
              <a:rPr lang="en-US" smtClean="0"/>
              <a:t>3/25/2026</a:t>
            </a:fld>
            <a:endParaRPr lang="en-US"/>
          </a:p>
        </p:txBody>
      </p:sp>
      <p:sp>
        <p:nvSpPr>
          <p:cNvPr id="5" name="Footer Placeholder 4">
            <a:extLst>
              <a:ext uri="{FF2B5EF4-FFF2-40B4-BE49-F238E27FC236}">
                <a16:creationId xmlns:a16="http://schemas.microsoft.com/office/drawing/2014/main" id="{DA08A89D-A3BC-48A1-3E21-8BBFE5BD56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68C24D-C422-5979-3778-700793FA57E3}"/>
              </a:ext>
            </a:extLst>
          </p:cNvPr>
          <p:cNvSpPr>
            <a:spLocks noGrp="1"/>
          </p:cNvSpPr>
          <p:nvPr>
            <p:ph type="sldNum" sz="quarter" idx="12"/>
          </p:nvPr>
        </p:nvSpPr>
        <p:spPr/>
        <p:txBody>
          <a:bodyPr/>
          <a:lstStyle/>
          <a:p>
            <a:fld id="{D3AF6889-333C-4F8D-A37A-629E287A052A}" type="slidenum">
              <a:rPr lang="en-US" smtClean="0"/>
              <a:t>‹#›</a:t>
            </a:fld>
            <a:endParaRPr lang="en-US"/>
          </a:p>
        </p:txBody>
      </p:sp>
    </p:spTree>
    <p:extLst>
      <p:ext uri="{BB962C8B-B14F-4D97-AF65-F5344CB8AC3E}">
        <p14:creationId xmlns:p14="http://schemas.microsoft.com/office/powerpoint/2010/main" val="2446642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AD0ED-9369-6D38-2E7A-0CF23C7AC8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16E3E3-953E-D8EA-6973-49AA80FA6C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3FBBBD-B793-57D2-8857-E88EA4C001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BE9526-8C58-ED80-390B-0F9BC50902A0}"/>
              </a:ext>
            </a:extLst>
          </p:cNvPr>
          <p:cNvSpPr>
            <a:spLocks noGrp="1"/>
          </p:cNvSpPr>
          <p:nvPr>
            <p:ph type="dt" sz="half" idx="10"/>
          </p:nvPr>
        </p:nvSpPr>
        <p:spPr/>
        <p:txBody>
          <a:bodyPr/>
          <a:lstStyle/>
          <a:p>
            <a:fld id="{D3BA6E56-7129-4A46-8E91-52BB45EEC496}" type="datetimeFigureOut">
              <a:rPr lang="en-US" smtClean="0"/>
              <a:t>3/25/2026</a:t>
            </a:fld>
            <a:endParaRPr lang="en-US"/>
          </a:p>
        </p:txBody>
      </p:sp>
      <p:sp>
        <p:nvSpPr>
          <p:cNvPr id="6" name="Footer Placeholder 5">
            <a:extLst>
              <a:ext uri="{FF2B5EF4-FFF2-40B4-BE49-F238E27FC236}">
                <a16:creationId xmlns:a16="http://schemas.microsoft.com/office/drawing/2014/main" id="{34F45F9D-256D-2929-B5E1-43BABB6EE7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7A9E7-B412-3A0F-FEB0-7702F1702335}"/>
              </a:ext>
            </a:extLst>
          </p:cNvPr>
          <p:cNvSpPr>
            <a:spLocks noGrp="1"/>
          </p:cNvSpPr>
          <p:nvPr>
            <p:ph type="sldNum" sz="quarter" idx="12"/>
          </p:nvPr>
        </p:nvSpPr>
        <p:spPr/>
        <p:txBody>
          <a:bodyPr/>
          <a:lstStyle/>
          <a:p>
            <a:fld id="{D3AF6889-333C-4F8D-A37A-629E287A052A}" type="slidenum">
              <a:rPr lang="en-US" smtClean="0"/>
              <a:t>‹#›</a:t>
            </a:fld>
            <a:endParaRPr lang="en-US"/>
          </a:p>
        </p:txBody>
      </p:sp>
    </p:spTree>
    <p:extLst>
      <p:ext uri="{BB962C8B-B14F-4D97-AF65-F5344CB8AC3E}">
        <p14:creationId xmlns:p14="http://schemas.microsoft.com/office/powerpoint/2010/main" val="2720217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BB555-4395-0EFE-99CC-6E8886427E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9B2ACC-0B66-CE4B-9B1A-8D2842A45D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2E903C-2008-0ED8-40E8-4E1D28061A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0128A3-BF85-F28D-CB22-D823F93937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0F0DB2-98A1-EC10-E8CA-8D82B4AEE6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FAFA50-CAFA-51A5-A54E-8B781CBE3233}"/>
              </a:ext>
            </a:extLst>
          </p:cNvPr>
          <p:cNvSpPr>
            <a:spLocks noGrp="1"/>
          </p:cNvSpPr>
          <p:nvPr>
            <p:ph type="dt" sz="half" idx="10"/>
          </p:nvPr>
        </p:nvSpPr>
        <p:spPr/>
        <p:txBody>
          <a:bodyPr/>
          <a:lstStyle/>
          <a:p>
            <a:fld id="{D3BA6E56-7129-4A46-8E91-52BB45EEC496}" type="datetimeFigureOut">
              <a:rPr lang="en-US" smtClean="0"/>
              <a:t>3/25/2026</a:t>
            </a:fld>
            <a:endParaRPr lang="en-US"/>
          </a:p>
        </p:txBody>
      </p:sp>
      <p:sp>
        <p:nvSpPr>
          <p:cNvPr id="8" name="Footer Placeholder 7">
            <a:extLst>
              <a:ext uri="{FF2B5EF4-FFF2-40B4-BE49-F238E27FC236}">
                <a16:creationId xmlns:a16="http://schemas.microsoft.com/office/drawing/2014/main" id="{D2FB2498-CCCA-A3CD-006A-38FB90CB70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BFB551-50D1-8E6D-A424-70D52FE321E9}"/>
              </a:ext>
            </a:extLst>
          </p:cNvPr>
          <p:cNvSpPr>
            <a:spLocks noGrp="1"/>
          </p:cNvSpPr>
          <p:nvPr>
            <p:ph type="sldNum" sz="quarter" idx="12"/>
          </p:nvPr>
        </p:nvSpPr>
        <p:spPr/>
        <p:txBody>
          <a:bodyPr/>
          <a:lstStyle/>
          <a:p>
            <a:fld id="{D3AF6889-333C-4F8D-A37A-629E287A052A}" type="slidenum">
              <a:rPr lang="en-US" smtClean="0"/>
              <a:t>‹#›</a:t>
            </a:fld>
            <a:endParaRPr lang="en-US"/>
          </a:p>
        </p:txBody>
      </p:sp>
    </p:spTree>
    <p:extLst>
      <p:ext uri="{BB962C8B-B14F-4D97-AF65-F5344CB8AC3E}">
        <p14:creationId xmlns:p14="http://schemas.microsoft.com/office/powerpoint/2010/main" val="554605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D8E14-750C-ADB4-8871-46DBA66354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3AB04C-8C96-B250-6035-E549ADDB2B72}"/>
              </a:ext>
            </a:extLst>
          </p:cNvPr>
          <p:cNvSpPr>
            <a:spLocks noGrp="1"/>
          </p:cNvSpPr>
          <p:nvPr>
            <p:ph type="dt" sz="half" idx="10"/>
          </p:nvPr>
        </p:nvSpPr>
        <p:spPr/>
        <p:txBody>
          <a:bodyPr/>
          <a:lstStyle/>
          <a:p>
            <a:fld id="{D3BA6E56-7129-4A46-8E91-52BB45EEC496}" type="datetimeFigureOut">
              <a:rPr lang="en-US" smtClean="0"/>
              <a:t>3/25/2026</a:t>
            </a:fld>
            <a:endParaRPr lang="en-US"/>
          </a:p>
        </p:txBody>
      </p:sp>
      <p:sp>
        <p:nvSpPr>
          <p:cNvPr id="4" name="Footer Placeholder 3">
            <a:extLst>
              <a:ext uri="{FF2B5EF4-FFF2-40B4-BE49-F238E27FC236}">
                <a16:creationId xmlns:a16="http://schemas.microsoft.com/office/drawing/2014/main" id="{2D511911-6A49-289B-BC80-5919AEA5A2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141C7E-A3ED-5368-9259-0B4EE6E5D3E1}"/>
              </a:ext>
            </a:extLst>
          </p:cNvPr>
          <p:cNvSpPr>
            <a:spLocks noGrp="1"/>
          </p:cNvSpPr>
          <p:nvPr>
            <p:ph type="sldNum" sz="quarter" idx="12"/>
          </p:nvPr>
        </p:nvSpPr>
        <p:spPr/>
        <p:txBody>
          <a:bodyPr/>
          <a:lstStyle/>
          <a:p>
            <a:fld id="{D3AF6889-333C-4F8D-A37A-629E287A052A}" type="slidenum">
              <a:rPr lang="en-US" smtClean="0"/>
              <a:t>‹#›</a:t>
            </a:fld>
            <a:endParaRPr lang="en-US"/>
          </a:p>
        </p:txBody>
      </p:sp>
    </p:spTree>
    <p:extLst>
      <p:ext uri="{BB962C8B-B14F-4D97-AF65-F5344CB8AC3E}">
        <p14:creationId xmlns:p14="http://schemas.microsoft.com/office/powerpoint/2010/main" val="1415433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05E427-493F-0AB7-425F-49976FF37466}"/>
              </a:ext>
            </a:extLst>
          </p:cNvPr>
          <p:cNvSpPr>
            <a:spLocks noGrp="1"/>
          </p:cNvSpPr>
          <p:nvPr>
            <p:ph type="dt" sz="half" idx="10"/>
          </p:nvPr>
        </p:nvSpPr>
        <p:spPr/>
        <p:txBody>
          <a:bodyPr/>
          <a:lstStyle/>
          <a:p>
            <a:fld id="{D3BA6E56-7129-4A46-8E91-52BB45EEC496}" type="datetimeFigureOut">
              <a:rPr lang="en-US" smtClean="0"/>
              <a:t>3/25/2026</a:t>
            </a:fld>
            <a:endParaRPr lang="en-US"/>
          </a:p>
        </p:txBody>
      </p:sp>
      <p:sp>
        <p:nvSpPr>
          <p:cNvPr id="3" name="Footer Placeholder 2">
            <a:extLst>
              <a:ext uri="{FF2B5EF4-FFF2-40B4-BE49-F238E27FC236}">
                <a16:creationId xmlns:a16="http://schemas.microsoft.com/office/drawing/2014/main" id="{C57FD2F0-BFD7-6735-57B1-5DBFF2F63E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E56D72-45FB-E0C6-BCBF-4E8814DDBEAF}"/>
              </a:ext>
            </a:extLst>
          </p:cNvPr>
          <p:cNvSpPr>
            <a:spLocks noGrp="1"/>
          </p:cNvSpPr>
          <p:nvPr>
            <p:ph type="sldNum" sz="quarter" idx="12"/>
          </p:nvPr>
        </p:nvSpPr>
        <p:spPr/>
        <p:txBody>
          <a:bodyPr/>
          <a:lstStyle/>
          <a:p>
            <a:fld id="{D3AF6889-333C-4F8D-A37A-629E287A052A}" type="slidenum">
              <a:rPr lang="en-US" smtClean="0"/>
              <a:t>‹#›</a:t>
            </a:fld>
            <a:endParaRPr lang="en-US"/>
          </a:p>
        </p:txBody>
      </p:sp>
    </p:spTree>
    <p:extLst>
      <p:ext uri="{BB962C8B-B14F-4D97-AF65-F5344CB8AC3E}">
        <p14:creationId xmlns:p14="http://schemas.microsoft.com/office/powerpoint/2010/main" val="2959774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64330-1461-5626-BC83-C6F44F8687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D4123E-0C59-E6BC-94C5-76454D5568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1A42EF-891E-1B4B-5AD1-0BD158AFC8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1D7B8D-FFF3-48AC-51C9-83A492427613}"/>
              </a:ext>
            </a:extLst>
          </p:cNvPr>
          <p:cNvSpPr>
            <a:spLocks noGrp="1"/>
          </p:cNvSpPr>
          <p:nvPr>
            <p:ph type="dt" sz="half" idx="10"/>
          </p:nvPr>
        </p:nvSpPr>
        <p:spPr/>
        <p:txBody>
          <a:bodyPr/>
          <a:lstStyle/>
          <a:p>
            <a:fld id="{D3BA6E56-7129-4A46-8E91-52BB45EEC496}" type="datetimeFigureOut">
              <a:rPr lang="en-US" smtClean="0"/>
              <a:t>3/25/2026</a:t>
            </a:fld>
            <a:endParaRPr lang="en-US"/>
          </a:p>
        </p:txBody>
      </p:sp>
      <p:sp>
        <p:nvSpPr>
          <p:cNvPr id="6" name="Footer Placeholder 5">
            <a:extLst>
              <a:ext uri="{FF2B5EF4-FFF2-40B4-BE49-F238E27FC236}">
                <a16:creationId xmlns:a16="http://schemas.microsoft.com/office/drawing/2014/main" id="{7C981104-DC5A-C023-15AD-1DEB0631B8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E3E7E8-875B-7557-F51D-E7E0E773FEF6}"/>
              </a:ext>
            </a:extLst>
          </p:cNvPr>
          <p:cNvSpPr>
            <a:spLocks noGrp="1"/>
          </p:cNvSpPr>
          <p:nvPr>
            <p:ph type="sldNum" sz="quarter" idx="12"/>
          </p:nvPr>
        </p:nvSpPr>
        <p:spPr/>
        <p:txBody>
          <a:bodyPr/>
          <a:lstStyle/>
          <a:p>
            <a:fld id="{D3AF6889-333C-4F8D-A37A-629E287A052A}" type="slidenum">
              <a:rPr lang="en-US" smtClean="0"/>
              <a:t>‹#›</a:t>
            </a:fld>
            <a:endParaRPr lang="en-US"/>
          </a:p>
        </p:txBody>
      </p:sp>
    </p:spTree>
    <p:extLst>
      <p:ext uri="{BB962C8B-B14F-4D97-AF65-F5344CB8AC3E}">
        <p14:creationId xmlns:p14="http://schemas.microsoft.com/office/powerpoint/2010/main" val="3929599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FFFF5-3164-FCA5-4E90-66C8C92E0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AB5E5E2-B69B-40D3-15AA-EFB4918422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9B64BB-D8CA-3B4F-CAD2-6DACD6DA36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D3030F-3E00-2AF0-D7F6-D9587C5506EF}"/>
              </a:ext>
            </a:extLst>
          </p:cNvPr>
          <p:cNvSpPr>
            <a:spLocks noGrp="1"/>
          </p:cNvSpPr>
          <p:nvPr>
            <p:ph type="dt" sz="half" idx="10"/>
          </p:nvPr>
        </p:nvSpPr>
        <p:spPr/>
        <p:txBody>
          <a:bodyPr/>
          <a:lstStyle/>
          <a:p>
            <a:fld id="{D3BA6E56-7129-4A46-8E91-52BB45EEC496}" type="datetimeFigureOut">
              <a:rPr lang="en-US" smtClean="0"/>
              <a:t>3/25/2026</a:t>
            </a:fld>
            <a:endParaRPr lang="en-US"/>
          </a:p>
        </p:txBody>
      </p:sp>
      <p:sp>
        <p:nvSpPr>
          <p:cNvPr id="6" name="Footer Placeholder 5">
            <a:extLst>
              <a:ext uri="{FF2B5EF4-FFF2-40B4-BE49-F238E27FC236}">
                <a16:creationId xmlns:a16="http://schemas.microsoft.com/office/drawing/2014/main" id="{2A08B97F-F056-B9DA-5CEF-3EB52530E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324325-97AA-B4D0-DFE3-CF1BAC7C6840}"/>
              </a:ext>
            </a:extLst>
          </p:cNvPr>
          <p:cNvSpPr>
            <a:spLocks noGrp="1"/>
          </p:cNvSpPr>
          <p:nvPr>
            <p:ph type="sldNum" sz="quarter" idx="12"/>
          </p:nvPr>
        </p:nvSpPr>
        <p:spPr/>
        <p:txBody>
          <a:bodyPr/>
          <a:lstStyle/>
          <a:p>
            <a:fld id="{D3AF6889-333C-4F8D-A37A-629E287A052A}" type="slidenum">
              <a:rPr lang="en-US" smtClean="0"/>
              <a:t>‹#›</a:t>
            </a:fld>
            <a:endParaRPr lang="en-US"/>
          </a:p>
        </p:txBody>
      </p:sp>
    </p:spTree>
    <p:extLst>
      <p:ext uri="{BB962C8B-B14F-4D97-AF65-F5344CB8AC3E}">
        <p14:creationId xmlns:p14="http://schemas.microsoft.com/office/powerpoint/2010/main" val="3470434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1BCC8-D7C2-7A21-F8D2-5A5500B4B7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221BE0-EE05-530B-081B-8D57508D3B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007A68-744F-3B3F-4CC8-71B1632D06A8}"/>
              </a:ext>
            </a:extLst>
          </p:cNvPr>
          <p:cNvSpPr>
            <a:spLocks noGrp="1"/>
          </p:cNvSpPr>
          <p:nvPr>
            <p:ph type="dt" sz="half" idx="10"/>
          </p:nvPr>
        </p:nvSpPr>
        <p:spPr/>
        <p:txBody>
          <a:bodyPr/>
          <a:lstStyle/>
          <a:p>
            <a:fld id="{D3BA6E56-7129-4A46-8E91-52BB45EEC496}" type="datetimeFigureOut">
              <a:rPr lang="en-US" smtClean="0"/>
              <a:t>3/25/2026</a:t>
            </a:fld>
            <a:endParaRPr lang="en-US"/>
          </a:p>
        </p:txBody>
      </p:sp>
      <p:sp>
        <p:nvSpPr>
          <p:cNvPr id="5" name="Footer Placeholder 4">
            <a:extLst>
              <a:ext uri="{FF2B5EF4-FFF2-40B4-BE49-F238E27FC236}">
                <a16:creationId xmlns:a16="http://schemas.microsoft.com/office/drawing/2014/main" id="{6B63B6C7-0C9F-03AF-C89F-F0ED922269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43E3A0-0FF5-9B61-21FD-926BBCC6F4BE}"/>
              </a:ext>
            </a:extLst>
          </p:cNvPr>
          <p:cNvSpPr>
            <a:spLocks noGrp="1"/>
          </p:cNvSpPr>
          <p:nvPr>
            <p:ph type="sldNum" sz="quarter" idx="12"/>
          </p:nvPr>
        </p:nvSpPr>
        <p:spPr/>
        <p:txBody>
          <a:bodyPr/>
          <a:lstStyle/>
          <a:p>
            <a:fld id="{D3AF6889-333C-4F8D-A37A-629E287A052A}" type="slidenum">
              <a:rPr lang="en-US" smtClean="0"/>
              <a:t>‹#›</a:t>
            </a:fld>
            <a:endParaRPr lang="en-US"/>
          </a:p>
        </p:txBody>
      </p:sp>
    </p:spTree>
    <p:extLst>
      <p:ext uri="{BB962C8B-B14F-4D97-AF65-F5344CB8AC3E}">
        <p14:creationId xmlns:p14="http://schemas.microsoft.com/office/powerpoint/2010/main" val="820289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72460D-416B-D384-C197-961F52FD32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90C85D-3430-750E-5136-2D4A6CA71B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0491E7-5F62-C939-F57B-E542F0618A87}"/>
              </a:ext>
            </a:extLst>
          </p:cNvPr>
          <p:cNvSpPr>
            <a:spLocks noGrp="1"/>
          </p:cNvSpPr>
          <p:nvPr>
            <p:ph type="dt" sz="half" idx="10"/>
          </p:nvPr>
        </p:nvSpPr>
        <p:spPr/>
        <p:txBody>
          <a:bodyPr/>
          <a:lstStyle/>
          <a:p>
            <a:fld id="{D3BA6E56-7129-4A46-8E91-52BB45EEC496}" type="datetimeFigureOut">
              <a:rPr lang="en-US" smtClean="0"/>
              <a:t>3/25/2026</a:t>
            </a:fld>
            <a:endParaRPr lang="en-US"/>
          </a:p>
        </p:txBody>
      </p:sp>
      <p:sp>
        <p:nvSpPr>
          <p:cNvPr id="5" name="Footer Placeholder 4">
            <a:extLst>
              <a:ext uri="{FF2B5EF4-FFF2-40B4-BE49-F238E27FC236}">
                <a16:creationId xmlns:a16="http://schemas.microsoft.com/office/drawing/2014/main" id="{E80AD5A5-A925-A066-D036-D3549D13F9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88EFDE-E443-87EE-7A79-047CD7120495}"/>
              </a:ext>
            </a:extLst>
          </p:cNvPr>
          <p:cNvSpPr>
            <a:spLocks noGrp="1"/>
          </p:cNvSpPr>
          <p:nvPr>
            <p:ph type="sldNum" sz="quarter" idx="12"/>
          </p:nvPr>
        </p:nvSpPr>
        <p:spPr/>
        <p:txBody>
          <a:bodyPr/>
          <a:lstStyle/>
          <a:p>
            <a:fld id="{D3AF6889-333C-4F8D-A37A-629E287A052A}" type="slidenum">
              <a:rPr lang="en-US" smtClean="0"/>
              <a:t>‹#›</a:t>
            </a:fld>
            <a:endParaRPr lang="en-US"/>
          </a:p>
        </p:txBody>
      </p:sp>
    </p:spTree>
    <p:extLst>
      <p:ext uri="{BB962C8B-B14F-4D97-AF65-F5344CB8AC3E}">
        <p14:creationId xmlns:p14="http://schemas.microsoft.com/office/powerpoint/2010/main" val="2572645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2762FF-8E0F-115E-1B0D-D071C59829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DCBF41-7B1F-96F4-BAC2-B70171B460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A12B47-ED87-D8B2-485B-EE783F6AFE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BA6E56-7129-4A46-8E91-52BB45EEC496}" type="datetimeFigureOut">
              <a:rPr lang="en-US" smtClean="0"/>
              <a:t>3/25/2026</a:t>
            </a:fld>
            <a:endParaRPr lang="en-US"/>
          </a:p>
        </p:txBody>
      </p:sp>
      <p:sp>
        <p:nvSpPr>
          <p:cNvPr id="5" name="Footer Placeholder 4">
            <a:extLst>
              <a:ext uri="{FF2B5EF4-FFF2-40B4-BE49-F238E27FC236}">
                <a16:creationId xmlns:a16="http://schemas.microsoft.com/office/drawing/2014/main" id="{548FB596-A21B-408F-3E93-1DE803CD0B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71E7D43-679F-A9B3-1D76-F1F9904FA4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AF6889-333C-4F8D-A37A-629E287A052A}" type="slidenum">
              <a:rPr lang="en-US" smtClean="0"/>
              <a:t>‹#›</a:t>
            </a:fld>
            <a:endParaRPr lang="en-US"/>
          </a:p>
        </p:txBody>
      </p:sp>
    </p:spTree>
    <p:extLst>
      <p:ext uri="{BB962C8B-B14F-4D97-AF65-F5344CB8AC3E}">
        <p14:creationId xmlns:p14="http://schemas.microsoft.com/office/powerpoint/2010/main" val="27244624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ople working on ideas">
            <a:extLst>
              <a:ext uri="{FF2B5EF4-FFF2-40B4-BE49-F238E27FC236}">
                <a16:creationId xmlns:a16="http://schemas.microsoft.com/office/drawing/2014/main" id="{DD42880C-5638-8556-497A-C16DCB5870F6}"/>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8859" b="5263"/>
          <a:stretch/>
        </p:blipFill>
        <p:spPr>
          <a:xfrm>
            <a:off x="20" y="1"/>
            <a:ext cx="12191980" cy="6857999"/>
          </a:xfrm>
          <a:prstGeom prst="rect">
            <a:avLst/>
          </a:prstGeom>
        </p:spPr>
      </p:pic>
      <p:sp>
        <p:nvSpPr>
          <p:cNvPr id="2" name="Title 1">
            <a:extLst>
              <a:ext uri="{FF2B5EF4-FFF2-40B4-BE49-F238E27FC236}">
                <a16:creationId xmlns:a16="http://schemas.microsoft.com/office/drawing/2014/main" id="{5BD74E67-A249-A0A1-8381-194DE467D6C2}"/>
              </a:ext>
            </a:extLst>
          </p:cNvPr>
          <p:cNvSpPr>
            <a:spLocks noGrp="1"/>
          </p:cNvSpPr>
          <p:nvPr>
            <p:ph type="ctrTitle"/>
          </p:nvPr>
        </p:nvSpPr>
        <p:spPr>
          <a:xfrm>
            <a:off x="1524000" y="1122362"/>
            <a:ext cx="9144000" cy="2900518"/>
          </a:xfrm>
        </p:spPr>
        <p:txBody>
          <a:bodyPr>
            <a:normAutofit/>
          </a:bodyPr>
          <a:lstStyle/>
          <a:p>
            <a:r>
              <a:rPr lang="en-US">
                <a:solidFill>
                  <a:srgbClr val="FFFFFF"/>
                </a:solidFill>
              </a:rPr>
              <a:t>Endocrine Recap</a:t>
            </a:r>
          </a:p>
        </p:txBody>
      </p:sp>
    </p:spTree>
    <p:extLst>
      <p:ext uri="{BB962C8B-B14F-4D97-AF65-F5344CB8AC3E}">
        <p14:creationId xmlns:p14="http://schemas.microsoft.com/office/powerpoint/2010/main" val="255004098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Nurse examining patient">
            <a:extLst>
              <a:ext uri="{FF2B5EF4-FFF2-40B4-BE49-F238E27FC236}">
                <a16:creationId xmlns:a16="http://schemas.microsoft.com/office/drawing/2014/main" id="{5A003D20-CDB4-D278-8FF2-7CD98DC29AB5}"/>
              </a:ext>
            </a:extLst>
          </p:cNvPr>
          <p:cNvPicPr>
            <a:picLocks noChangeAspect="1"/>
          </p:cNvPicPr>
          <p:nvPr/>
        </p:nvPicPr>
        <p:blipFill>
          <a:blip r:embed="rId2">
            <a:extLst>
              <a:ext uri="{28A0092B-C50C-407E-A947-70E740481C1C}">
                <a14:useLocalDpi xmlns:a14="http://schemas.microsoft.com/office/drawing/2010/main" val="0"/>
              </a:ext>
            </a:extLst>
          </a:blip>
          <a:srcRect l="5884" r="-1" b="-1"/>
          <a:stretch/>
        </p:blipFill>
        <p:spPr>
          <a:xfrm>
            <a:off x="1" y="10"/>
            <a:ext cx="9669642" cy="6857990"/>
          </a:xfrm>
          <a:prstGeom prst="rect">
            <a:avLst/>
          </a:prstGeom>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E7542CA-271A-27FB-BDE0-43C04C76C63B}"/>
              </a:ext>
            </a:extLst>
          </p:cNvPr>
          <p:cNvSpPr>
            <a:spLocks noGrp="1"/>
          </p:cNvSpPr>
          <p:nvPr>
            <p:ph type="title"/>
          </p:nvPr>
        </p:nvSpPr>
        <p:spPr>
          <a:xfrm>
            <a:off x="7531610" y="365125"/>
            <a:ext cx="3822189" cy="959822"/>
          </a:xfrm>
        </p:spPr>
        <p:txBody>
          <a:bodyPr>
            <a:normAutofit fontScale="90000"/>
          </a:bodyPr>
          <a:lstStyle/>
          <a:p>
            <a:r>
              <a:rPr lang="en-US" sz="4000" dirty="0"/>
              <a:t>Name the Disorder…</a:t>
            </a:r>
          </a:p>
        </p:txBody>
      </p:sp>
      <p:sp>
        <p:nvSpPr>
          <p:cNvPr id="3" name="Content Placeholder 2">
            <a:extLst>
              <a:ext uri="{FF2B5EF4-FFF2-40B4-BE49-F238E27FC236}">
                <a16:creationId xmlns:a16="http://schemas.microsoft.com/office/drawing/2014/main" id="{D6AC21B8-E75B-2D9D-E247-DA6CDC877099}"/>
              </a:ext>
            </a:extLst>
          </p:cNvPr>
          <p:cNvSpPr>
            <a:spLocks noGrp="1"/>
          </p:cNvSpPr>
          <p:nvPr>
            <p:ph idx="1"/>
          </p:nvPr>
        </p:nvSpPr>
        <p:spPr>
          <a:xfrm>
            <a:off x="7531610" y="1455576"/>
            <a:ext cx="4532872" cy="5206481"/>
          </a:xfrm>
        </p:spPr>
        <p:txBody>
          <a:bodyPr>
            <a:normAutofit lnSpcReduction="10000"/>
          </a:bodyPr>
          <a:lstStyle/>
          <a:p>
            <a:pPr marL="0" marR="0" indent="0">
              <a:spcBef>
                <a:spcPts val="0"/>
              </a:spcBef>
              <a:spcAft>
                <a:spcPts val="800"/>
              </a:spcAft>
              <a:buNone/>
            </a:pPr>
            <a:r>
              <a:rPr lang="en-US" sz="1400" kern="0" dirty="0">
                <a:effectLst/>
                <a:ea typeface="Times New Roman" panose="02020603050405020304" pitchFamily="18" charset="0"/>
                <a:cs typeface="Times New Roman" panose="02020603050405020304" pitchFamily="18" charset="0"/>
              </a:rPr>
              <a:t>11-year-old Emily presents to the clinic with increased thirst, frequent urination, and unexplained weight loss over the past month. Her mother reports that Emily has seemed more tired than usual and occasionally complains of blurry vision.</a:t>
            </a:r>
            <a:endParaRPr lang="en-US" sz="1400" kern="100" dirty="0">
              <a:effectLst/>
              <a:ea typeface="Calibri" panose="020F0502020204030204" pitchFamily="34" charset="0"/>
              <a:cs typeface="Times New Roman" panose="02020603050405020304" pitchFamily="18" charset="0"/>
            </a:endParaRPr>
          </a:p>
          <a:p>
            <a:pPr marL="0" marR="0" indent="0">
              <a:spcBef>
                <a:spcPts val="0"/>
              </a:spcBef>
              <a:spcAft>
                <a:spcPts val="800"/>
              </a:spcAft>
              <a:buNone/>
            </a:pPr>
            <a:r>
              <a:rPr lang="en-US" sz="1400" b="1" kern="0" dirty="0">
                <a:effectLst/>
                <a:ea typeface="Times New Roman" panose="02020603050405020304" pitchFamily="18" charset="0"/>
                <a:cs typeface="Times New Roman" panose="02020603050405020304" pitchFamily="18" charset="0"/>
              </a:rPr>
              <a:t>Physical exam findings:</a:t>
            </a:r>
            <a:endParaRPr lang="en-US" sz="1400" kern="100" dirty="0">
              <a:effectLst/>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Polydipsia </a:t>
            </a:r>
          </a:p>
          <a:p>
            <a:pPr marL="342900" marR="0" lvl="0" indent="-342900">
              <a:spcBef>
                <a:spcPts val="0"/>
              </a:spcBef>
              <a:spcAft>
                <a:spcPts val="800"/>
              </a:spcAft>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Polyuria </a:t>
            </a:r>
            <a:endParaRPr lang="en-US" sz="1400" kern="100" dirty="0">
              <a:effectLst/>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Weight loss despite good appetite</a:t>
            </a:r>
            <a:endParaRPr lang="en-US" sz="1400" kern="100" dirty="0">
              <a:effectLst/>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Fatigue</a:t>
            </a:r>
            <a:endParaRPr lang="en-US" sz="1400" kern="100" dirty="0">
              <a:effectLst/>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Occasional blurry vision</a:t>
            </a:r>
            <a:endParaRPr lang="en-US" sz="1400" kern="100" dirty="0">
              <a:effectLst/>
              <a:ea typeface="Calibri" panose="020F0502020204030204" pitchFamily="34" charset="0"/>
              <a:cs typeface="Times New Roman" panose="02020603050405020304" pitchFamily="18" charset="0"/>
            </a:endParaRPr>
          </a:p>
          <a:p>
            <a:pPr marL="0" marR="0" indent="0">
              <a:spcBef>
                <a:spcPts val="0"/>
              </a:spcBef>
              <a:spcAft>
                <a:spcPts val="800"/>
              </a:spcAft>
              <a:buNone/>
            </a:pPr>
            <a:r>
              <a:rPr lang="en-US" sz="1400" b="1" kern="0" dirty="0">
                <a:effectLst/>
                <a:ea typeface="Times New Roman" panose="02020603050405020304" pitchFamily="18" charset="0"/>
                <a:cs typeface="Times New Roman" panose="02020603050405020304" pitchFamily="18" charset="0"/>
              </a:rPr>
              <a:t>Lab Results:</a:t>
            </a:r>
            <a:endParaRPr lang="en-US" sz="1400" kern="100" dirty="0">
              <a:effectLst/>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Serum sodium: 144 </a:t>
            </a:r>
            <a:r>
              <a:rPr lang="en-US" sz="1400" kern="0" dirty="0" err="1">
                <a:effectLst/>
                <a:ea typeface="Times New Roman" panose="02020603050405020304" pitchFamily="18" charset="0"/>
                <a:cs typeface="Times New Roman" panose="02020603050405020304" pitchFamily="18" charset="0"/>
              </a:rPr>
              <a:t>mEq</a:t>
            </a:r>
            <a:r>
              <a:rPr lang="en-US" sz="1400" kern="0" dirty="0">
                <a:effectLst/>
                <a:ea typeface="Times New Roman" panose="02020603050405020304" pitchFamily="18" charset="0"/>
                <a:cs typeface="Times New Roman" panose="02020603050405020304" pitchFamily="18" charset="0"/>
              </a:rPr>
              <a:t>/L (</a:t>
            </a:r>
            <a:r>
              <a:rPr lang="en-US" sz="1400" kern="0" dirty="0" err="1">
                <a:effectLst/>
                <a:ea typeface="Times New Roman" panose="02020603050405020304" pitchFamily="18" charset="0"/>
                <a:cs typeface="Times New Roman" panose="02020603050405020304" pitchFamily="18" charset="0"/>
              </a:rPr>
              <a:t>nl</a:t>
            </a:r>
            <a:r>
              <a:rPr lang="en-US" sz="1400" kern="0" dirty="0">
                <a:effectLst/>
                <a:ea typeface="Times New Roman" panose="02020603050405020304" pitchFamily="18" charset="0"/>
                <a:cs typeface="Times New Roman" panose="02020603050405020304" pitchFamily="18" charset="0"/>
              </a:rPr>
              <a:t>. 136-145 </a:t>
            </a:r>
            <a:r>
              <a:rPr lang="en-US" sz="1400" kern="0" dirty="0" err="1">
                <a:effectLst/>
                <a:ea typeface="Times New Roman" panose="02020603050405020304" pitchFamily="18" charset="0"/>
                <a:cs typeface="Times New Roman" panose="02020603050405020304" pitchFamily="18" charset="0"/>
              </a:rPr>
              <a:t>mEq</a:t>
            </a:r>
            <a:r>
              <a:rPr lang="en-US" sz="1400" kern="0" dirty="0">
                <a:effectLst/>
                <a:ea typeface="Times New Roman" panose="02020603050405020304" pitchFamily="18" charset="0"/>
                <a:cs typeface="Times New Roman" panose="02020603050405020304" pitchFamily="18" charset="0"/>
              </a:rPr>
              <a:t>/L)</a:t>
            </a:r>
          </a:p>
          <a:p>
            <a:pPr marL="342900" marR="0" lvl="0" indent="-342900">
              <a:spcBef>
                <a:spcPts val="0"/>
              </a:spcBef>
              <a:spcAft>
                <a:spcPts val="800"/>
              </a:spcAft>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Serum osmolality: 278 </a:t>
            </a:r>
            <a:r>
              <a:rPr lang="en-US" sz="1400" kern="0" dirty="0" err="1">
                <a:effectLst/>
                <a:ea typeface="Times New Roman" panose="02020603050405020304" pitchFamily="18" charset="0"/>
                <a:cs typeface="Times New Roman" panose="02020603050405020304" pitchFamily="18" charset="0"/>
              </a:rPr>
              <a:t>mOsm</a:t>
            </a:r>
            <a:r>
              <a:rPr lang="en-US" sz="1400" kern="0" dirty="0">
                <a:effectLst/>
                <a:ea typeface="Times New Roman" panose="02020603050405020304" pitchFamily="18" charset="0"/>
                <a:cs typeface="Times New Roman" panose="02020603050405020304" pitchFamily="18" charset="0"/>
              </a:rPr>
              <a:t>/kg (</a:t>
            </a:r>
            <a:r>
              <a:rPr lang="en-US" sz="1400" kern="0" dirty="0" err="1">
                <a:effectLst/>
                <a:ea typeface="Times New Roman" panose="02020603050405020304" pitchFamily="18" charset="0"/>
                <a:cs typeface="Times New Roman" panose="02020603050405020304" pitchFamily="18" charset="0"/>
              </a:rPr>
              <a:t>nl</a:t>
            </a:r>
            <a:r>
              <a:rPr lang="en-US" sz="1400" kern="0" dirty="0">
                <a:effectLst/>
                <a:ea typeface="Times New Roman" panose="02020603050405020304" pitchFamily="18" charset="0"/>
                <a:cs typeface="Times New Roman" panose="02020603050405020304" pitchFamily="18" charset="0"/>
              </a:rPr>
              <a:t>. 275-295 </a:t>
            </a:r>
            <a:r>
              <a:rPr lang="en-US" sz="1400" kern="0" dirty="0" err="1">
                <a:effectLst/>
                <a:ea typeface="Times New Roman" panose="02020603050405020304" pitchFamily="18" charset="0"/>
                <a:cs typeface="Times New Roman" panose="02020603050405020304" pitchFamily="18" charset="0"/>
              </a:rPr>
              <a:t>mOsm</a:t>
            </a:r>
            <a:r>
              <a:rPr lang="en-US" sz="1400" kern="0" dirty="0">
                <a:effectLst/>
                <a:ea typeface="Times New Roman" panose="02020603050405020304" pitchFamily="18" charset="0"/>
                <a:cs typeface="Times New Roman" panose="02020603050405020304" pitchFamily="18" charset="0"/>
              </a:rPr>
              <a:t>/kg)</a:t>
            </a:r>
          </a:p>
          <a:p>
            <a:pPr marL="342900" marR="0" lvl="0" indent="-342900">
              <a:spcBef>
                <a:spcPts val="0"/>
              </a:spcBef>
              <a:spcAft>
                <a:spcPts val="800"/>
              </a:spcAft>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Urine osmolality: 500 </a:t>
            </a:r>
            <a:r>
              <a:rPr lang="en-US" sz="1400" kern="0" dirty="0" err="1">
                <a:effectLst/>
                <a:ea typeface="Times New Roman" panose="02020603050405020304" pitchFamily="18" charset="0"/>
                <a:cs typeface="Times New Roman" panose="02020603050405020304" pitchFamily="18" charset="0"/>
              </a:rPr>
              <a:t>mOsm</a:t>
            </a:r>
            <a:r>
              <a:rPr lang="en-US" sz="1400" kern="0" dirty="0">
                <a:effectLst/>
                <a:ea typeface="Times New Roman" panose="02020603050405020304" pitchFamily="18" charset="0"/>
                <a:cs typeface="Times New Roman" panose="02020603050405020304" pitchFamily="18" charset="0"/>
              </a:rPr>
              <a:t>/kg (</a:t>
            </a:r>
            <a:r>
              <a:rPr lang="en-US" sz="1400" kern="0" dirty="0" err="1">
                <a:effectLst/>
                <a:ea typeface="Times New Roman" panose="02020603050405020304" pitchFamily="18" charset="0"/>
                <a:cs typeface="Times New Roman" panose="02020603050405020304" pitchFamily="18" charset="0"/>
              </a:rPr>
              <a:t>nl</a:t>
            </a:r>
            <a:r>
              <a:rPr lang="en-US" sz="1400" kern="0" dirty="0">
                <a:effectLst/>
                <a:ea typeface="Times New Roman" panose="02020603050405020304" pitchFamily="18" charset="0"/>
                <a:cs typeface="Times New Roman" panose="02020603050405020304" pitchFamily="18" charset="0"/>
              </a:rPr>
              <a:t>. </a:t>
            </a:r>
            <a:r>
              <a:rPr lang="en-US" sz="1400" kern="0" dirty="0">
                <a:ea typeface="Times New Roman" panose="02020603050405020304" pitchFamily="18" charset="0"/>
                <a:cs typeface="Times New Roman" panose="02020603050405020304" pitchFamily="18" charset="0"/>
              </a:rPr>
              <a:t>500-850 </a:t>
            </a:r>
            <a:r>
              <a:rPr lang="en-US" sz="1400" kern="0" dirty="0" err="1">
                <a:ea typeface="Times New Roman" panose="02020603050405020304" pitchFamily="18" charset="0"/>
                <a:cs typeface="Times New Roman" panose="02020603050405020304" pitchFamily="18" charset="0"/>
              </a:rPr>
              <a:t>mOsm</a:t>
            </a:r>
            <a:r>
              <a:rPr lang="en-US" sz="1400" kern="0" dirty="0">
                <a:ea typeface="Times New Roman" panose="02020603050405020304" pitchFamily="18" charset="0"/>
                <a:cs typeface="Times New Roman" panose="02020603050405020304" pitchFamily="18" charset="0"/>
              </a:rPr>
              <a:t>/kg</a:t>
            </a:r>
            <a:r>
              <a:rPr lang="en-US" sz="1400" kern="0" dirty="0">
                <a:effectLst/>
                <a:ea typeface="Times New Roman" panose="02020603050405020304" pitchFamily="18" charset="0"/>
                <a:cs typeface="Times New Roman" panose="02020603050405020304" pitchFamily="18" charset="0"/>
              </a:rPr>
              <a:t>)</a:t>
            </a:r>
          </a:p>
          <a:p>
            <a:pPr marL="342900" indent="-342900">
              <a:spcBef>
                <a:spcPts val="0"/>
              </a:spcBef>
              <a:spcAft>
                <a:spcPts val="800"/>
              </a:spcAft>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Urine specific gravity: 1.006 (</a:t>
            </a:r>
            <a:r>
              <a:rPr lang="en-US" sz="1400" kern="0" dirty="0" err="1">
                <a:effectLst/>
                <a:ea typeface="Times New Roman" panose="02020603050405020304" pitchFamily="18" charset="0"/>
                <a:cs typeface="Times New Roman" panose="02020603050405020304" pitchFamily="18" charset="0"/>
              </a:rPr>
              <a:t>nl</a:t>
            </a:r>
            <a:r>
              <a:rPr lang="en-US" sz="1400" kern="0" dirty="0">
                <a:effectLst/>
                <a:ea typeface="Times New Roman" panose="02020603050405020304" pitchFamily="18" charset="0"/>
                <a:cs typeface="Times New Roman" panose="02020603050405020304" pitchFamily="18" charset="0"/>
              </a:rPr>
              <a:t>. 1.005-1.030)</a:t>
            </a:r>
          </a:p>
          <a:p>
            <a:pPr marL="342900" marR="0" lvl="0" indent="-342900">
              <a:spcBef>
                <a:spcPts val="0"/>
              </a:spcBef>
              <a:spcAft>
                <a:spcPts val="800"/>
              </a:spcAft>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Urine glucose: Positive</a:t>
            </a:r>
          </a:p>
          <a:p>
            <a:pPr marL="342900" indent="-342900">
              <a:spcBef>
                <a:spcPts val="0"/>
              </a:spcBef>
              <a:spcAft>
                <a:spcPts val="800"/>
              </a:spcAft>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Blood glucose: 320 mg/dL (</a:t>
            </a:r>
            <a:r>
              <a:rPr lang="en-US" sz="1400" dirty="0" err="1"/>
              <a:t>nl</a:t>
            </a:r>
            <a:r>
              <a:rPr lang="en-US" sz="1400" dirty="0"/>
              <a:t>. 60-110 mg/dL</a:t>
            </a:r>
            <a:r>
              <a:rPr lang="en-US" sz="1400" kern="0" dirty="0">
                <a:effectLst/>
                <a:ea typeface="Times New Roman" panose="02020603050405020304" pitchFamily="18" charset="0"/>
                <a:cs typeface="Times New Roman" panose="02020603050405020304" pitchFamily="18" charset="0"/>
              </a:rPr>
              <a:t>)</a:t>
            </a:r>
          </a:p>
          <a:p>
            <a:pPr marL="342900" marR="0" lvl="0" indent="-342900">
              <a:spcBef>
                <a:spcPts val="0"/>
              </a:spcBef>
              <a:spcAft>
                <a:spcPts val="800"/>
              </a:spcAft>
              <a:buSzPts val="1000"/>
              <a:buFont typeface="Symbol" panose="05050102010706020507" pitchFamily="18" charset="2"/>
              <a:buChar char=""/>
              <a:tabLst>
                <a:tab pos="457200" algn="l"/>
              </a:tabLst>
            </a:pPr>
            <a:r>
              <a:rPr lang="en-US" sz="1400" kern="0" dirty="0">
                <a:effectLst/>
                <a:ea typeface="Times New Roman" panose="02020603050405020304" pitchFamily="18" charset="0"/>
                <a:cs typeface="Times New Roman" panose="02020603050405020304" pitchFamily="18" charset="0"/>
              </a:rPr>
              <a:t>HbA1c: 9.2% (</a:t>
            </a:r>
            <a:r>
              <a:rPr lang="en-US" sz="1400" kern="0" dirty="0" err="1">
                <a:effectLst/>
                <a:ea typeface="Times New Roman" panose="02020603050405020304" pitchFamily="18" charset="0"/>
                <a:cs typeface="Times New Roman" panose="02020603050405020304" pitchFamily="18" charset="0"/>
              </a:rPr>
              <a:t>nl</a:t>
            </a:r>
            <a:r>
              <a:rPr lang="en-US" sz="1400" kern="0" dirty="0">
                <a:effectLst/>
                <a:ea typeface="Times New Roman" panose="02020603050405020304" pitchFamily="18" charset="0"/>
                <a:cs typeface="Times New Roman" panose="02020603050405020304" pitchFamily="18" charset="0"/>
              </a:rPr>
              <a:t>. 4-6%)</a:t>
            </a:r>
          </a:p>
          <a:p>
            <a:pPr marL="342900" marR="0" lvl="0" indent="-342900">
              <a:spcBef>
                <a:spcPts val="0"/>
              </a:spcBef>
              <a:spcAft>
                <a:spcPts val="800"/>
              </a:spcAft>
              <a:buSzPts val="1000"/>
              <a:buFont typeface="Symbol" panose="05050102010706020507" pitchFamily="18" charset="2"/>
              <a:buChar char=""/>
              <a:tabLst>
                <a:tab pos="457200" algn="l"/>
              </a:tabLst>
            </a:pPr>
            <a:endParaRPr lang="en-US" sz="11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57005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0" name="Slide Background">
            <a:extLst>
              <a:ext uri="{FF2B5EF4-FFF2-40B4-BE49-F238E27FC236}">
                <a16:creationId xmlns:a16="http://schemas.microsoft.com/office/drawing/2014/main" id="{649C91A9-84E7-4BF0-9026-62F01380D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987872A7-E4DE-8B52-CDAD-200B2D2DF671}"/>
              </a:ext>
            </a:extLst>
          </p:cNvPr>
          <p:cNvSpPr>
            <a:spLocks noGrp="1"/>
          </p:cNvSpPr>
          <p:nvPr>
            <p:ph type="title"/>
          </p:nvPr>
        </p:nvSpPr>
        <p:spPr>
          <a:xfrm>
            <a:off x="761802" y="762001"/>
            <a:ext cx="4080362" cy="1708242"/>
          </a:xfrm>
        </p:spPr>
        <p:txBody>
          <a:bodyPr anchor="ctr">
            <a:normAutofit/>
          </a:bodyPr>
          <a:lstStyle/>
          <a:p>
            <a:r>
              <a:rPr lang="en-US" sz="4000"/>
              <a:t>Diabetes mellitus type 1</a:t>
            </a:r>
          </a:p>
        </p:txBody>
      </p:sp>
      <p:sp>
        <p:nvSpPr>
          <p:cNvPr id="3" name="Content Placeholder 2">
            <a:extLst>
              <a:ext uri="{FF2B5EF4-FFF2-40B4-BE49-F238E27FC236}">
                <a16:creationId xmlns:a16="http://schemas.microsoft.com/office/drawing/2014/main" id="{CD5C8312-CD4E-D8D1-8E57-BE4109443534}"/>
              </a:ext>
            </a:extLst>
          </p:cNvPr>
          <p:cNvSpPr>
            <a:spLocks noGrp="1"/>
          </p:cNvSpPr>
          <p:nvPr>
            <p:ph idx="1"/>
          </p:nvPr>
        </p:nvSpPr>
        <p:spPr>
          <a:xfrm>
            <a:off x="761803" y="2470244"/>
            <a:ext cx="4080361" cy="3769834"/>
          </a:xfrm>
        </p:spPr>
        <p:txBody>
          <a:bodyPr anchor="ctr">
            <a:normAutofit/>
          </a:bodyPr>
          <a:lstStyle/>
          <a:p>
            <a:r>
              <a:rPr lang="en-US" sz="2000" dirty="0"/>
              <a:t>What are the hallmark signs of T1DM in children?</a:t>
            </a:r>
          </a:p>
          <a:p>
            <a:r>
              <a:rPr lang="en-US" sz="2000" dirty="0"/>
              <a:t>How would you explain insulin therapy and blood sugar monitoring to the patient and family?</a:t>
            </a:r>
          </a:p>
          <a:p>
            <a:r>
              <a:rPr lang="en-US" sz="2000" dirty="0"/>
              <a:t>What signs of hypoglycemia should the family watch for, and how should they treat it?</a:t>
            </a:r>
          </a:p>
        </p:txBody>
      </p:sp>
      <p:sp>
        <p:nvSpPr>
          <p:cNvPr id="1042" name="Rectangle 1041">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200" y="0"/>
            <a:ext cx="6781799" cy="6858000"/>
          </a:xfrm>
          <a:prstGeom prst="rect">
            <a:avLst/>
          </a:prstGeom>
          <a:solidFill>
            <a:srgbClr val="FFFFFF"/>
          </a:solidFill>
          <a:ln>
            <a:noFill/>
          </a:ln>
          <a:effectLst>
            <a:outerShdw blurRad="177800" dist="215900" dir="8520000" sx="94000" sy="94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6" descr="Type 1 diabetes may be two conditions ...">
            <a:extLst>
              <a:ext uri="{FF2B5EF4-FFF2-40B4-BE49-F238E27FC236}">
                <a16:creationId xmlns:a16="http://schemas.microsoft.com/office/drawing/2014/main" id="{4EAD1E1D-D9A3-09B6-ED60-6CE8B4D0FED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6000" y="1654168"/>
            <a:ext cx="5334197" cy="3549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853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57" name="Rectangle 2056">
            <a:extLst>
              <a:ext uri="{FF2B5EF4-FFF2-40B4-BE49-F238E27FC236}">
                <a16:creationId xmlns:a16="http://schemas.microsoft.com/office/drawing/2014/main" id="{E3ADCBE7-9330-1CDA-00EB-CDD12DB72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77EF9F-613A-15F2-D840-A12D54C097AF}"/>
              </a:ext>
            </a:extLst>
          </p:cNvPr>
          <p:cNvSpPr>
            <a:spLocks noGrp="1"/>
          </p:cNvSpPr>
          <p:nvPr>
            <p:ph type="title"/>
          </p:nvPr>
        </p:nvSpPr>
        <p:spPr>
          <a:xfrm>
            <a:off x="761802" y="240241"/>
            <a:ext cx="10760054" cy="1228299"/>
          </a:xfrm>
        </p:spPr>
        <p:txBody>
          <a:bodyPr>
            <a:normAutofit/>
          </a:bodyPr>
          <a:lstStyle/>
          <a:p>
            <a:r>
              <a:rPr lang="en-US" sz="4000"/>
              <a:t>Name the disorder</a:t>
            </a:r>
          </a:p>
        </p:txBody>
      </p:sp>
      <p:sp>
        <p:nvSpPr>
          <p:cNvPr id="3" name="Content Placeholder 2">
            <a:extLst>
              <a:ext uri="{FF2B5EF4-FFF2-40B4-BE49-F238E27FC236}">
                <a16:creationId xmlns:a16="http://schemas.microsoft.com/office/drawing/2014/main" id="{14DBE241-2EE9-16E1-ED03-15CE14A211E0}"/>
              </a:ext>
            </a:extLst>
          </p:cNvPr>
          <p:cNvSpPr>
            <a:spLocks noGrp="1"/>
          </p:cNvSpPr>
          <p:nvPr>
            <p:ph idx="1"/>
          </p:nvPr>
        </p:nvSpPr>
        <p:spPr>
          <a:xfrm>
            <a:off x="761802" y="2321476"/>
            <a:ext cx="4864875" cy="3850724"/>
          </a:xfrm>
        </p:spPr>
        <p:txBody>
          <a:bodyPr anchor="ctr">
            <a:normAutofit/>
          </a:bodyPr>
          <a:lstStyle/>
          <a:p>
            <a:r>
              <a:rPr lang="en-US" sz="2000" dirty="0"/>
              <a:t>A 3-week-old infant is brought to the clinic for lethargy, difficulty feeding, constipation, and prolonged jaundice. Mom states that she had a healthy pregnancy and took a prescription of propylthiouracil.</a:t>
            </a:r>
          </a:p>
        </p:txBody>
      </p:sp>
      <p:pic>
        <p:nvPicPr>
          <p:cNvPr id="2050" name="Picture 2" descr="Congenital hypothyroidism (CHT ...">
            <a:extLst>
              <a:ext uri="{FF2B5EF4-FFF2-40B4-BE49-F238E27FC236}">
                <a16:creationId xmlns:a16="http://schemas.microsoft.com/office/drawing/2014/main" id="{ED7C8FE1-2CA2-1D22-AC16-29906A104C3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43650" y="2930630"/>
            <a:ext cx="5178206" cy="2589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1621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Congenital Hypothyroidism – Thyroid UK">
            <a:extLst>
              <a:ext uri="{FF2B5EF4-FFF2-40B4-BE49-F238E27FC236}">
                <a16:creationId xmlns:a16="http://schemas.microsoft.com/office/drawing/2014/main" id="{00FEFCE2-CB9D-7E3D-08F4-35862F474A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9695" r="12032" b="-2"/>
          <a:stretch/>
        </p:blipFill>
        <p:spPr bwMode="auto">
          <a:xfrm>
            <a:off x="20" y="1666568"/>
            <a:ext cx="6106195" cy="5191432"/>
          </a:xfrm>
          <a:prstGeom prst="rect">
            <a:avLst/>
          </a:prstGeom>
          <a:noFill/>
          <a:extLst>
            <a:ext uri="{909E8E84-426E-40DD-AFC4-6F175D3DCCD1}">
              <a14:hiddenFill xmlns:a14="http://schemas.microsoft.com/office/drawing/2010/main">
                <a:solidFill>
                  <a:srgbClr val="FFFFFF"/>
                </a:solidFill>
              </a14:hiddenFill>
            </a:ext>
          </a:extLst>
        </p:spPr>
      </p:pic>
      <p:sp useBgFill="1">
        <p:nvSpPr>
          <p:cNvPr id="3081" name="Rectangle 3080">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8CED37-2A53-D809-32B0-524434CD6FD9}"/>
              </a:ext>
            </a:extLst>
          </p:cNvPr>
          <p:cNvSpPr>
            <a:spLocks noGrp="1"/>
          </p:cNvSpPr>
          <p:nvPr>
            <p:ph type="title"/>
          </p:nvPr>
        </p:nvSpPr>
        <p:spPr>
          <a:xfrm>
            <a:off x="761801" y="352766"/>
            <a:ext cx="10591999" cy="1023584"/>
          </a:xfrm>
        </p:spPr>
        <p:txBody>
          <a:bodyPr>
            <a:normAutofit/>
          </a:bodyPr>
          <a:lstStyle/>
          <a:p>
            <a:r>
              <a:rPr lang="en-US" sz="4000"/>
              <a:t>Congenital hypothyroidism</a:t>
            </a:r>
          </a:p>
        </p:txBody>
      </p:sp>
      <p:sp>
        <p:nvSpPr>
          <p:cNvPr id="3" name="Content Placeholder 2">
            <a:extLst>
              <a:ext uri="{FF2B5EF4-FFF2-40B4-BE49-F238E27FC236}">
                <a16:creationId xmlns:a16="http://schemas.microsoft.com/office/drawing/2014/main" id="{5EFCB01C-5BF7-DBE9-D76C-FD9E105EE9E7}"/>
              </a:ext>
            </a:extLst>
          </p:cNvPr>
          <p:cNvSpPr>
            <a:spLocks noGrp="1"/>
          </p:cNvSpPr>
          <p:nvPr>
            <p:ph idx="1"/>
          </p:nvPr>
        </p:nvSpPr>
        <p:spPr>
          <a:xfrm>
            <a:off x="6803408" y="2249766"/>
            <a:ext cx="4550391" cy="4070303"/>
          </a:xfrm>
        </p:spPr>
        <p:txBody>
          <a:bodyPr anchor="ctr">
            <a:normAutofit/>
          </a:bodyPr>
          <a:lstStyle/>
          <a:p>
            <a:r>
              <a:rPr lang="en-US" sz="2000"/>
              <a:t>What labs would you expect to be drawn and what results would confirm diagnosis?</a:t>
            </a:r>
          </a:p>
          <a:p>
            <a:r>
              <a:rPr lang="en-US" sz="2000"/>
              <a:t>Why is early diagnosis crucial for congenital hypothyroidism?</a:t>
            </a:r>
          </a:p>
          <a:p>
            <a:r>
              <a:rPr lang="en-US" sz="2000"/>
              <a:t>What nursing interventions are necessary to support treatment with levothyroxine?</a:t>
            </a:r>
          </a:p>
          <a:p>
            <a:r>
              <a:rPr lang="en-US" sz="2000"/>
              <a:t>How would you counsel the family on long-term management, including monitoring growth and development?</a:t>
            </a:r>
          </a:p>
        </p:txBody>
      </p:sp>
    </p:spTree>
    <p:extLst>
      <p:ext uri="{BB962C8B-B14F-4D97-AF65-F5344CB8AC3E}">
        <p14:creationId xmlns:p14="http://schemas.microsoft.com/office/powerpoint/2010/main" val="105348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F6AA4E6A-BC52-7FC4-BDFA-EF7480A7513A}"/>
              </a:ext>
            </a:extLst>
          </p:cNvPr>
          <p:cNvSpPr/>
          <p:nvPr/>
        </p:nvSpPr>
        <p:spPr>
          <a:xfrm>
            <a:off x="420027" y="588038"/>
            <a:ext cx="3206209" cy="5782378"/>
          </a:xfrm>
          <a:prstGeom prst="flowChartProcess">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ea typeface="Calibri"/>
              <a:cs typeface="Calibri"/>
            </a:endParaRPr>
          </a:p>
        </p:txBody>
      </p:sp>
      <p:sp>
        <p:nvSpPr>
          <p:cNvPr id="6" name="TextBox 5">
            <a:extLst>
              <a:ext uri="{FF2B5EF4-FFF2-40B4-BE49-F238E27FC236}">
                <a16:creationId xmlns:a16="http://schemas.microsoft.com/office/drawing/2014/main" id="{173D152F-B2E9-5DFE-CDC1-E3740727EB3F}"/>
              </a:ext>
            </a:extLst>
          </p:cNvPr>
          <p:cNvSpPr txBox="1"/>
          <p:nvPr/>
        </p:nvSpPr>
        <p:spPr>
          <a:xfrm>
            <a:off x="1380355" y="199574"/>
            <a:ext cx="1281563" cy="37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Too Much!!</a:t>
            </a:r>
            <a:endParaRPr lang="en-US" dirty="0"/>
          </a:p>
        </p:txBody>
      </p:sp>
      <p:sp>
        <p:nvSpPr>
          <p:cNvPr id="7" name="Rectangle 6">
            <a:extLst>
              <a:ext uri="{FF2B5EF4-FFF2-40B4-BE49-F238E27FC236}">
                <a16:creationId xmlns:a16="http://schemas.microsoft.com/office/drawing/2014/main" id="{F6D7E1E4-FE5D-3B5F-7C4D-A66E37C02728}"/>
              </a:ext>
            </a:extLst>
          </p:cNvPr>
          <p:cNvSpPr/>
          <p:nvPr/>
        </p:nvSpPr>
        <p:spPr>
          <a:xfrm>
            <a:off x="8862579" y="3066200"/>
            <a:ext cx="3094202" cy="320620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931CF28-49E8-14DC-6E04-2A365F7D47E2}"/>
              </a:ext>
            </a:extLst>
          </p:cNvPr>
          <p:cNvSpPr txBox="1"/>
          <p:nvPr/>
        </p:nvSpPr>
        <p:spPr>
          <a:xfrm>
            <a:off x="9762354" y="2683902"/>
            <a:ext cx="1281563" cy="37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Too Little!!</a:t>
            </a:r>
            <a:endParaRPr lang="en-US" dirty="0"/>
          </a:p>
        </p:txBody>
      </p:sp>
      <p:sp>
        <p:nvSpPr>
          <p:cNvPr id="10" name="Rectangle 9">
            <a:extLst>
              <a:ext uri="{FF2B5EF4-FFF2-40B4-BE49-F238E27FC236}">
                <a16:creationId xmlns:a16="http://schemas.microsoft.com/office/drawing/2014/main" id="{14EBC13C-8867-61BA-432A-D88B48107D1E}"/>
              </a:ext>
            </a:extLst>
          </p:cNvPr>
          <p:cNvSpPr/>
          <p:nvPr/>
        </p:nvSpPr>
        <p:spPr>
          <a:xfrm>
            <a:off x="4298281" y="1708111"/>
            <a:ext cx="3920256" cy="4648303"/>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0B72A40-56A0-0C5C-FC50-463CAD654E71}"/>
              </a:ext>
            </a:extLst>
          </p:cNvPr>
          <p:cNvSpPr txBox="1"/>
          <p:nvPr/>
        </p:nvSpPr>
        <p:spPr>
          <a:xfrm>
            <a:off x="5618327" y="1201655"/>
            <a:ext cx="1281563" cy="37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Just Right!!</a:t>
            </a:r>
            <a:endParaRPr lang="en-US" dirty="0"/>
          </a:p>
        </p:txBody>
      </p:sp>
      <p:pic>
        <p:nvPicPr>
          <p:cNvPr id="14" name="Picture 13" descr="Goldilocks and the Three Bears | Stories for Kids">
            <a:extLst>
              <a:ext uri="{FF2B5EF4-FFF2-40B4-BE49-F238E27FC236}">
                <a16:creationId xmlns:a16="http://schemas.microsoft.com/office/drawing/2014/main" id="{DDAF3204-BB55-90D5-D83D-2FBD70F69B96}"/>
              </a:ext>
            </a:extLst>
          </p:cNvPr>
          <p:cNvPicPr>
            <a:picLocks noChangeAspect="1"/>
          </p:cNvPicPr>
          <p:nvPr/>
        </p:nvPicPr>
        <p:blipFill>
          <a:blip r:embed="rId2"/>
          <a:stretch>
            <a:fillRect/>
          </a:stretch>
        </p:blipFill>
        <p:spPr>
          <a:xfrm>
            <a:off x="9035441" y="41646"/>
            <a:ext cx="2743199" cy="2327969"/>
          </a:xfrm>
          <a:prstGeom prst="rect">
            <a:avLst/>
          </a:prstGeom>
        </p:spPr>
      </p:pic>
    </p:spTree>
    <p:extLst>
      <p:ext uri="{BB962C8B-B14F-4D97-AF65-F5344CB8AC3E}">
        <p14:creationId xmlns:p14="http://schemas.microsoft.com/office/powerpoint/2010/main" val="2240380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Growth Hormone Deficiency | Endocrine Society">
            <a:extLst>
              <a:ext uri="{FF2B5EF4-FFF2-40B4-BE49-F238E27FC236}">
                <a16:creationId xmlns:a16="http://schemas.microsoft.com/office/drawing/2014/main" id="{B8E1C0AE-76F2-6E60-B270-23FC9B9887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860" r="18389"/>
          <a:stretch/>
        </p:blipFill>
        <p:spPr bwMode="auto">
          <a:xfrm>
            <a:off x="20" y="1666568"/>
            <a:ext cx="6106195" cy="5191432"/>
          </a:xfrm>
          <a:prstGeom prst="rect">
            <a:avLst/>
          </a:prstGeom>
          <a:noFill/>
          <a:extLst>
            <a:ext uri="{909E8E84-426E-40DD-AFC4-6F175D3DCCD1}">
              <a14:hiddenFill xmlns:a14="http://schemas.microsoft.com/office/drawing/2010/main">
                <a:solidFill>
                  <a:srgbClr val="FFFFFF"/>
                </a:solidFill>
              </a14:hiddenFill>
            </a:ext>
          </a:extLst>
        </p:spPr>
      </p:pic>
      <p:sp useBgFill="1">
        <p:nvSpPr>
          <p:cNvPr id="4105" name="Rectangle 4104">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7E6D5D-81EA-7AEF-1C42-2E345468B6AF}"/>
              </a:ext>
            </a:extLst>
          </p:cNvPr>
          <p:cNvSpPr>
            <a:spLocks noGrp="1"/>
          </p:cNvSpPr>
          <p:nvPr>
            <p:ph type="title"/>
          </p:nvPr>
        </p:nvSpPr>
        <p:spPr>
          <a:xfrm>
            <a:off x="761801" y="352766"/>
            <a:ext cx="10591999" cy="1023584"/>
          </a:xfrm>
        </p:spPr>
        <p:txBody>
          <a:bodyPr>
            <a:normAutofit/>
          </a:bodyPr>
          <a:lstStyle/>
          <a:p>
            <a:r>
              <a:rPr lang="en-US" sz="4000"/>
              <a:t>Name the disorder</a:t>
            </a:r>
          </a:p>
        </p:txBody>
      </p:sp>
      <p:sp>
        <p:nvSpPr>
          <p:cNvPr id="3" name="Content Placeholder 2">
            <a:extLst>
              <a:ext uri="{FF2B5EF4-FFF2-40B4-BE49-F238E27FC236}">
                <a16:creationId xmlns:a16="http://schemas.microsoft.com/office/drawing/2014/main" id="{6ABA7975-73A1-190B-2670-A25809BD8407}"/>
              </a:ext>
            </a:extLst>
          </p:cNvPr>
          <p:cNvSpPr>
            <a:spLocks noGrp="1"/>
          </p:cNvSpPr>
          <p:nvPr>
            <p:ph idx="1"/>
          </p:nvPr>
        </p:nvSpPr>
        <p:spPr>
          <a:xfrm>
            <a:off x="6803408" y="2249766"/>
            <a:ext cx="4550391" cy="4070303"/>
          </a:xfrm>
        </p:spPr>
        <p:txBody>
          <a:bodyPr anchor="ctr">
            <a:normAutofit/>
          </a:bodyPr>
          <a:lstStyle/>
          <a:p>
            <a:r>
              <a:rPr lang="en-US" sz="2000" dirty="0"/>
              <a:t>9-year-old Carlos is brought to the clinic because his parents are concerned about his short stature compared to his classmates. His parents report that he’s smaller than most children his age, though he has a healthy appetite and no other symptoms. The mother and father are taller than the average height and expected him to also be tall. </a:t>
            </a:r>
          </a:p>
        </p:txBody>
      </p:sp>
      <p:sp>
        <p:nvSpPr>
          <p:cNvPr id="6" name="Rectangle 5">
            <a:extLst>
              <a:ext uri="{FF2B5EF4-FFF2-40B4-BE49-F238E27FC236}">
                <a16:creationId xmlns:a16="http://schemas.microsoft.com/office/drawing/2014/main" id="{F2C4D3F7-FE98-2CD5-8A71-16EBF95FC42B}"/>
              </a:ext>
            </a:extLst>
          </p:cNvPr>
          <p:cNvSpPr/>
          <p:nvPr/>
        </p:nvSpPr>
        <p:spPr>
          <a:xfrm>
            <a:off x="3553422" y="2921450"/>
            <a:ext cx="410547" cy="223935"/>
          </a:xfrm>
          <a:prstGeom prst="rect">
            <a:avLst/>
          </a:prstGeom>
          <a:solidFill>
            <a:srgbClr val="4371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3368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5129" name="Rectangle 5128">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A3C1EC-6490-1AB7-6AEA-DA33149E1CAB}"/>
              </a:ext>
            </a:extLst>
          </p:cNvPr>
          <p:cNvSpPr>
            <a:spLocks noGrp="1"/>
          </p:cNvSpPr>
          <p:nvPr>
            <p:ph type="title"/>
          </p:nvPr>
        </p:nvSpPr>
        <p:spPr>
          <a:xfrm>
            <a:off x="761995" y="307447"/>
            <a:ext cx="10693884" cy="1109932"/>
          </a:xfrm>
        </p:spPr>
        <p:txBody>
          <a:bodyPr>
            <a:normAutofit/>
          </a:bodyPr>
          <a:lstStyle/>
          <a:p>
            <a:r>
              <a:rPr lang="en-US" sz="4000"/>
              <a:t>Growth Hormone Deficiency</a:t>
            </a:r>
          </a:p>
        </p:txBody>
      </p:sp>
      <p:pic>
        <p:nvPicPr>
          <p:cNvPr id="5122" name="Picture 2" descr="When does the growth plate close? | Vinmec">
            <a:extLst>
              <a:ext uri="{FF2B5EF4-FFF2-40B4-BE49-F238E27FC236}">
                <a16:creationId xmlns:a16="http://schemas.microsoft.com/office/drawing/2014/main" id="{82FDD095-1C75-0CD0-B755-910BCA887D8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6122" y="2518661"/>
            <a:ext cx="5804955" cy="345394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A9BD5978-531D-86E2-1F16-C2201C8CAB43}"/>
              </a:ext>
            </a:extLst>
          </p:cNvPr>
          <p:cNvSpPr>
            <a:spLocks noGrp="1"/>
          </p:cNvSpPr>
          <p:nvPr>
            <p:ph idx="1"/>
          </p:nvPr>
        </p:nvSpPr>
        <p:spPr>
          <a:xfrm>
            <a:off x="7190509" y="2357888"/>
            <a:ext cx="4265370" cy="3902635"/>
          </a:xfrm>
        </p:spPr>
        <p:txBody>
          <a:bodyPr anchor="ctr">
            <a:normAutofit/>
          </a:bodyPr>
          <a:lstStyle/>
          <a:p>
            <a:r>
              <a:rPr lang="en-US" sz="2000" dirty="0"/>
              <a:t>How would you assess and diagnose growth hormone deficiency in children?</a:t>
            </a:r>
          </a:p>
          <a:p>
            <a:r>
              <a:rPr lang="en-US" sz="2000" dirty="0"/>
              <a:t>What are common side effects and challenges of growth hormone therapy, and how should these be communicated to the family?</a:t>
            </a:r>
          </a:p>
          <a:p>
            <a:r>
              <a:rPr lang="en-US" sz="2000" dirty="0"/>
              <a:t>What strategies can help the family ensure adherence to treatment?</a:t>
            </a:r>
          </a:p>
        </p:txBody>
      </p:sp>
    </p:spTree>
    <p:extLst>
      <p:ext uri="{BB962C8B-B14F-4D97-AF65-F5344CB8AC3E}">
        <p14:creationId xmlns:p14="http://schemas.microsoft.com/office/powerpoint/2010/main" val="2922323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649C91A9-84E7-4BF0-9026-62F01380D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B4570C85-8F44-33BF-4D62-3F3F25DCFFD5}"/>
              </a:ext>
            </a:extLst>
          </p:cNvPr>
          <p:cNvSpPr>
            <a:spLocks noGrp="1"/>
          </p:cNvSpPr>
          <p:nvPr>
            <p:ph type="title"/>
          </p:nvPr>
        </p:nvSpPr>
        <p:spPr>
          <a:xfrm>
            <a:off x="761803" y="300235"/>
            <a:ext cx="4080362" cy="836445"/>
          </a:xfrm>
        </p:spPr>
        <p:txBody>
          <a:bodyPr anchor="ctr">
            <a:normAutofit fontScale="90000"/>
          </a:bodyPr>
          <a:lstStyle/>
          <a:p>
            <a:r>
              <a:rPr lang="en-US" sz="4000" dirty="0"/>
              <a:t>Name the disorder…</a:t>
            </a:r>
          </a:p>
        </p:txBody>
      </p:sp>
      <p:sp>
        <p:nvSpPr>
          <p:cNvPr id="3" name="Content Placeholder 2">
            <a:extLst>
              <a:ext uri="{FF2B5EF4-FFF2-40B4-BE49-F238E27FC236}">
                <a16:creationId xmlns:a16="http://schemas.microsoft.com/office/drawing/2014/main" id="{FB893B9D-793B-1430-75EC-77CE7A67F3F2}"/>
              </a:ext>
            </a:extLst>
          </p:cNvPr>
          <p:cNvSpPr>
            <a:spLocks noGrp="1"/>
          </p:cNvSpPr>
          <p:nvPr>
            <p:ph idx="1"/>
          </p:nvPr>
        </p:nvSpPr>
        <p:spPr>
          <a:xfrm>
            <a:off x="612742" y="1136680"/>
            <a:ext cx="4440025" cy="5103398"/>
          </a:xfrm>
        </p:spPr>
        <p:txBody>
          <a:bodyPr anchor="ctr">
            <a:normAutofit/>
          </a:bodyPr>
          <a:lstStyle/>
          <a:p>
            <a:pPr marL="0" indent="0">
              <a:buNone/>
            </a:pPr>
            <a:r>
              <a:rPr lang="en-US" sz="1400" dirty="0"/>
              <a:t>8-year-old boy presented to the emergency department with complaints of extreme thirst and frequent urination over the past few days. His mother reports that he has been drinking water constantly and waking up several times at night to go to the bathroom. He has also started bed-wetting, which is unusual for him.</a:t>
            </a:r>
          </a:p>
          <a:p>
            <a:r>
              <a:rPr lang="en-US" sz="1400" b="1" dirty="0"/>
              <a:t>Physical Examination Findings:</a:t>
            </a:r>
            <a:endParaRPr lang="en-US" sz="1400" dirty="0"/>
          </a:p>
          <a:p>
            <a:pPr lvl="1"/>
            <a:r>
              <a:rPr lang="en-US" sz="1400" dirty="0"/>
              <a:t>Blood pressure: 90/60 mmHg </a:t>
            </a:r>
          </a:p>
          <a:p>
            <a:pPr lvl="1"/>
            <a:r>
              <a:rPr lang="en-US" sz="1400" dirty="0"/>
              <a:t>Heart rate: 110 bpm </a:t>
            </a:r>
          </a:p>
          <a:p>
            <a:pPr lvl="1"/>
            <a:r>
              <a:rPr lang="en-US" sz="1400" dirty="0"/>
              <a:t>Weight: No significant change since his last check-up a month ago</a:t>
            </a:r>
          </a:p>
          <a:p>
            <a:r>
              <a:rPr lang="en-US" sz="1400" b="1" dirty="0"/>
              <a:t>Lab Results:</a:t>
            </a:r>
            <a:endParaRPr lang="en-US" sz="1400" dirty="0"/>
          </a:p>
          <a:p>
            <a:pPr lvl="1"/>
            <a:r>
              <a:rPr lang="en-US" sz="1400" dirty="0"/>
              <a:t>Serum sodium: 148 </a:t>
            </a:r>
            <a:r>
              <a:rPr lang="en-US" sz="1400" dirty="0" err="1"/>
              <a:t>mEq</a:t>
            </a:r>
            <a:r>
              <a:rPr lang="en-US" sz="1400" dirty="0"/>
              <a:t>/L (</a:t>
            </a:r>
            <a:r>
              <a:rPr lang="en-US" sz="1400" dirty="0" err="1"/>
              <a:t>nl</a:t>
            </a:r>
            <a:r>
              <a:rPr lang="en-US" sz="1400" dirty="0"/>
              <a:t>. 136-145 </a:t>
            </a:r>
            <a:r>
              <a:rPr lang="en-US" sz="1400" dirty="0" err="1"/>
              <a:t>mEq</a:t>
            </a:r>
            <a:r>
              <a:rPr lang="en-US" sz="1400" dirty="0"/>
              <a:t>/L)</a:t>
            </a:r>
          </a:p>
          <a:p>
            <a:pPr lvl="1"/>
            <a:r>
              <a:rPr lang="en-US" sz="1400" dirty="0"/>
              <a:t>Urine specific gravity: 1.002 (</a:t>
            </a:r>
            <a:r>
              <a:rPr lang="en-US" sz="1400" dirty="0" err="1"/>
              <a:t>nl</a:t>
            </a:r>
            <a:r>
              <a:rPr lang="en-US" sz="1400" dirty="0"/>
              <a:t>. 1.005-1.030)</a:t>
            </a:r>
          </a:p>
          <a:p>
            <a:pPr lvl="1"/>
            <a:r>
              <a:rPr lang="en-US" sz="1400" dirty="0"/>
              <a:t>Serum osmolality: 300 </a:t>
            </a:r>
            <a:r>
              <a:rPr lang="en-US" sz="1400" dirty="0" err="1"/>
              <a:t>mOsm</a:t>
            </a:r>
            <a:r>
              <a:rPr lang="en-US" sz="1400" dirty="0"/>
              <a:t>/kg (high-normal)</a:t>
            </a:r>
          </a:p>
          <a:p>
            <a:pPr lvl="1"/>
            <a:r>
              <a:rPr lang="en-US" sz="1400" dirty="0"/>
              <a:t>Urine osmolality: 100 </a:t>
            </a:r>
            <a:r>
              <a:rPr lang="en-US" sz="1400" dirty="0" err="1"/>
              <a:t>mOsm</a:t>
            </a:r>
            <a:r>
              <a:rPr lang="en-US" sz="1400" dirty="0"/>
              <a:t>/kg (very low)</a:t>
            </a:r>
          </a:p>
          <a:p>
            <a:pPr lvl="1"/>
            <a:r>
              <a:rPr lang="en-US" sz="1400" dirty="0"/>
              <a:t>Blood glucose: 98 mg/dL (</a:t>
            </a:r>
            <a:r>
              <a:rPr lang="en-US" sz="1400" dirty="0" err="1"/>
              <a:t>nl</a:t>
            </a:r>
            <a:r>
              <a:rPr lang="en-US" sz="1400" dirty="0"/>
              <a:t>. 60-110 mg/dL)</a:t>
            </a:r>
          </a:p>
          <a:p>
            <a:pPr lvl="1"/>
            <a:r>
              <a:rPr lang="en-US" sz="1400" dirty="0"/>
              <a:t>Urine glucose: negative</a:t>
            </a:r>
          </a:p>
          <a:p>
            <a:endParaRPr lang="en-US" sz="1400" dirty="0"/>
          </a:p>
        </p:txBody>
      </p:sp>
      <p:sp>
        <p:nvSpPr>
          <p:cNvPr id="11" name="Rectangle 10">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200" y="0"/>
            <a:ext cx="6781799" cy="6858000"/>
          </a:xfrm>
          <a:prstGeom prst="rect">
            <a:avLst/>
          </a:prstGeom>
          <a:solidFill>
            <a:srgbClr val="FFFFFF"/>
          </a:solidFill>
          <a:ln>
            <a:noFill/>
          </a:ln>
          <a:effectLst>
            <a:outerShdw blurRad="177800" dist="215900" dir="8520000" sx="94000" sy="94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D3DB5BA-1161-3F0B-B0AF-4B7E8602F21A}"/>
              </a:ext>
            </a:extLst>
          </p:cNvPr>
          <p:cNvPicPr>
            <a:picLocks noChangeAspect="1"/>
          </p:cNvPicPr>
          <p:nvPr/>
        </p:nvPicPr>
        <p:blipFill>
          <a:blip r:embed="rId2"/>
          <a:stretch>
            <a:fillRect/>
          </a:stretch>
        </p:blipFill>
        <p:spPr>
          <a:xfrm>
            <a:off x="6096000" y="1598446"/>
            <a:ext cx="5334197" cy="3661109"/>
          </a:xfrm>
          <a:prstGeom prst="rect">
            <a:avLst/>
          </a:prstGeom>
        </p:spPr>
      </p:pic>
    </p:spTree>
    <p:extLst>
      <p:ext uri="{BB962C8B-B14F-4D97-AF65-F5344CB8AC3E}">
        <p14:creationId xmlns:p14="http://schemas.microsoft.com/office/powerpoint/2010/main" val="270553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6151" name="Slide Background">
            <a:extLst>
              <a:ext uri="{FF2B5EF4-FFF2-40B4-BE49-F238E27FC236}">
                <a16:creationId xmlns:a16="http://schemas.microsoft.com/office/drawing/2014/main" id="{649C91A9-84E7-4BF0-9026-62F01380D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947E871C-BD12-5678-F20D-8DEE60A9D350}"/>
              </a:ext>
            </a:extLst>
          </p:cNvPr>
          <p:cNvSpPr>
            <a:spLocks noGrp="1"/>
          </p:cNvSpPr>
          <p:nvPr>
            <p:ph type="title"/>
          </p:nvPr>
        </p:nvSpPr>
        <p:spPr>
          <a:xfrm>
            <a:off x="761802" y="295471"/>
            <a:ext cx="4080362" cy="1020146"/>
          </a:xfrm>
        </p:spPr>
        <p:txBody>
          <a:bodyPr anchor="ctr">
            <a:normAutofit/>
          </a:bodyPr>
          <a:lstStyle/>
          <a:p>
            <a:r>
              <a:rPr lang="en-US" sz="4000" dirty="0"/>
              <a:t>Diabetes insipidus</a:t>
            </a:r>
          </a:p>
        </p:txBody>
      </p:sp>
      <p:sp>
        <p:nvSpPr>
          <p:cNvPr id="4" name="Rectangle 1">
            <a:extLst>
              <a:ext uri="{FF2B5EF4-FFF2-40B4-BE49-F238E27FC236}">
                <a16:creationId xmlns:a16="http://schemas.microsoft.com/office/drawing/2014/main" id="{7D426EE0-DBDF-BF54-3E9C-61B15246BAC4}"/>
              </a:ext>
            </a:extLst>
          </p:cNvPr>
          <p:cNvSpPr>
            <a:spLocks noGrp="1" noChangeArrowheads="1"/>
          </p:cNvSpPr>
          <p:nvPr>
            <p:ph idx="1"/>
          </p:nvPr>
        </p:nvSpPr>
        <p:spPr bwMode="auto">
          <a:xfrm>
            <a:off x="363895" y="1726163"/>
            <a:ext cx="4730620" cy="451391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800" i="0" u="none" strike="noStrike" cap="none" normalizeH="0" baseline="0" dirty="0">
                <a:ln>
                  <a:noFill/>
                </a:ln>
                <a:effectLst/>
                <a:cs typeface="Arial" panose="020B0604020202020204" pitchFamily="34" charset="0"/>
              </a:rPr>
              <a:t>What signs and symptoms presented by the child are indicative of diabetes insipidus?</a:t>
            </a:r>
          </a:p>
          <a:p>
            <a:pPr marL="0" marR="0" lvl="0" indent="0" defTabSz="914400" rtl="0" eaLnBrk="0" fontAlgn="base" latinLnBrk="0" hangingPunct="0">
              <a:spcBef>
                <a:spcPct val="0"/>
              </a:spcBef>
              <a:spcAft>
                <a:spcPts val="600"/>
              </a:spcAft>
              <a:buClrTx/>
              <a:buSzTx/>
              <a:buFontTx/>
              <a:buChar char="•"/>
              <a:tabLst/>
            </a:pPr>
            <a:r>
              <a:rPr kumimoji="0" lang="en-US" altLang="en-US" sz="1800" i="0" u="none" strike="noStrike" cap="none" normalizeH="0" baseline="0" dirty="0">
                <a:ln>
                  <a:noFill/>
                </a:ln>
                <a:effectLst/>
                <a:cs typeface="Arial" panose="020B0604020202020204" pitchFamily="34" charset="0"/>
              </a:rPr>
              <a:t>What are some potential differential diagnoses that could explain these symptoms?</a:t>
            </a:r>
          </a:p>
          <a:p>
            <a:pPr marL="0" marR="0" lvl="0" indent="0" defTabSz="914400" rtl="0" eaLnBrk="0" fontAlgn="base" latinLnBrk="0" hangingPunct="0">
              <a:spcBef>
                <a:spcPct val="0"/>
              </a:spcBef>
              <a:spcAft>
                <a:spcPts val="600"/>
              </a:spcAft>
              <a:buClrTx/>
              <a:buSzTx/>
              <a:buFontTx/>
              <a:buChar char="•"/>
              <a:tabLst/>
            </a:pPr>
            <a:r>
              <a:rPr kumimoji="0" lang="en-US" altLang="en-US" sz="1800" i="0" u="none" strike="noStrike" cap="none" normalizeH="0" baseline="0" dirty="0">
                <a:ln>
                  <a:noFill/>
                </a:ln>
                <a:effectLst/>
                <a:cs typeface="Arial" panose="020B0604020202020204" pitchFamily="34" charset="0"/>
              </a:rPr>
              <a:t>Based on lab results, what specific findings support a diagnosis of diabetes insipidus?</a:t>
            </a:r>
          </a:p>
          <a:p>
            <a:pPr marL="0" marR="0" lvl="0" indent="0" defTabSz="914400" rtl="0" eaLnBrk="0" fontAlgn="base" latinLnBrk="0" hangingPunct="0">
              <a:spcBef>
                <a:spcPct val="0"/>
              </a:spcBef>
              <a:spcAft>
                <a:spcPts val="600"/>
              </a:spcAft>
              <a:buClrTx/>
              <a:buSzTx/>
              <a:buFontTx/>
              <a:buChar char="•"/>
              <a:tabLst/>
            </a:pPr>
            <a:r>
              <a:rPr lang="en-US" sz="1800" dirty="0">
                <a:cs typeface="Arial" panose="020B0604020202020204" pitchFamily="34" charset="0"/>
              </a:rPr>
              <a:t>What are the key nursing interventions and assessments necessary for Noah’s care in the hospital?</a:t>
            </a:r>
          </a:p>
          <a:p>
            <a:pPr marL="0" marR="0" lvl="0" indent="0" defTabSz="914400" rtl="0" eaLnBrk="0" fontAlgn="base" latinLnBrk="0" hangingPunct="0">
              <a:spcBef>
                <a:spcPct val="0"/>
              </a:spcBef>
              <a:spcAft>
                <a:spcPts val="600"/>
              </a:spcAft>
              <a:buClrTx/>
              <a:buSzTx/>
              <a:buFontTx/>
              <a:buChar char="•"/>
              <a:tabLst/>
            </a:pPr>
            <a:r>
              <a:rPr lang="en-US" sz="1800" dirty="0">
                <a:cs typeface="Arial" panose="020B0604020202020204" pitchFamily="34" charset="0"/>
              </a:rPr>
              <a:t>How would you explain the purpose and correct administration of desmopressin to Noah’s mother?</a:t>
            </a:r>
            <a:endParaRPr kumimoji="0" lang="en-US" altLang="en-US" sz="1800" i="0" u="none" strike="noStrike" cap="none" normalizeH="0" baseline="0" dirty="0">
              <a:ln>
                <a:noFill/>
              </a:ln>
              <a:effectLst/>
              <a:cs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endParaRPr kumimoji="0" lang="en-US" altLang="en-US" sz="1600" i="0" u="none" strike="noStrike" cap="none" normalizeH="0" baseline="0" dirty="0">
              <a:ln>
                <a:noFill/>
              </a:ln>
              <a:effectLst/>
              <a:latin typeface="Arial" panose="020B0604020202020204" pitchFamily="34" charset="0"/>
              <a:cs typeface="Arial" panose="020B0604020202020204" pitchFamily="34" charset="0"/>
            </a:endParaRPr>
          </a:p>
        </p:txBody>
      </p:sp>
      <p:sp>
        <p:nvSpPr>
          <p:cNvPr id="6153" name="Rectangle 6152">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200" y="0"/>
            <a:ext cx="6781799" cy="6858000"/>
          </a:xfrm>
          <a:prstGeom prst="rect">
            <a:avLst/>
          </a:prstGeom>
          <a:solidFill>
            <a:srgbClr val="FFFFFF"/>
          </a:solidFill>
          <a:ln>
            <a:noFill/>
          </a:ln>
          <a:effectLst>
            <a:outerShdw blurRad="177800" dist="215900" dir="8520000" sx="94000" sy="94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SIADH vs. DI">
            <a:extLst>
              <a:ext uri="{FF2B5EF4-FFF2-40B4-BE49-F238E27FC236}">
                <a16:creationId xmlns:a16="http://schemas.microsoft.com/office/drawing/2014/main" id="{94515CFC-1C07-2662-8309-E6DAB61DD1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23"/>
          <a:stretch/>
        </p:blipFill>
        <p:spPr bwMode="auto">
          <a:xfrm>
            <a:off x="6467963" y="737488"/>
            <a:ext cx="4590270" cy="538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0567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Teensavers | Treating Teen Anxiety">
            <a:extLst>
              <a:ext uri="{FF2B5EF4-FFF2-40B4-BE49-F238E27FC236}">
                <a16:creationId xmlns:a16="http://schemas.microsoft.com/office/drawing/2014/main" id="{4A2D4554-CD3E-69D2-658A-F754FBB5F2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1729" r="-2" b="-2"/>
          <a:stretch/>
        </p:blipFill>
        <p:spPr bwMode="auto">
          <a:xfrm>
            <a:off x="20" y="1666568"/>
            <a:ext cx="6106195" cy="5191432"/>
          </a:xfrm>
          <a:prstGeom prst="rect">
            <a:avLst/>
          </a:prstGeom>
          <a:noFill/>
          <a:extLst>
            <a:ext uri="{909E8E84-426E-40DD-AFC4-6F175D3DCCD1}">
              <a14:hiddenFill xmlns:a14="http://schemas.microsoft.com/office/drawing/2010/main">
                <a:solidFill>
                  <a:srgbClr val="FFFFFF"/>
                </a:solidFill>
              </a14:hiddenFill>
            </a:ext>
          </a:extLst>
        </p:spPr>
      </p:pic>
      <p:sp useBgFill="1">
        <p:nvSpPr>
          <p:cNvPr id="7177" name="Rectangle 7176">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539177-0EB4-2B11-64FA-116C856A62EB}"/>
              </a:ext>
            </a:extLst>
          </p:cNvPr>
          <p:cNvSpPr>
            <a:spLocks noGrp="1"/>
          </p:cNvSpPr>
          <p:nvPr>
            <p:ph type="title"/>
          </p:nvPr>
        </p:nvSpPr>
        <p:spPr>
          <a:xfrm>
            <a:off x="761801" y="352766"/>
            <a:ext cx="10591999" cy="1023584"/>
          </a:xfrm>
        </p:spPr>
        <p:txBody>
          <a:bodyPr>
            <a:normAutofit/>
          </a:bodyPr>
          <a:lstStyle/>
          <a:p>
            <a:r>
              <a:rPr lang="en-US" sz="4000"/>
              <a:t>Name the disorder…</a:t>
            </a:r>
          </a:p>
        </p:txBody>
      </p:sp>
      <p:sp>
        <p:nvSpPr>
          <p:cNvPr id="3" name="Content Placeholder 2">
            <a:extLst>
              <a:ext uri="{FF2B5EF4-FFF2-40B4-BE49-F238E27FC236}">
                <a16:creationId xmlns:a16="http://schemas.microsoft.com/office/drawing/2014/main" id="{4AF0F51C-5E28-A353-BD7F-DE043C793004}"/>
              </a:ext>
            </a:extLst>
          </p:cNvPr>
          <p:cNvSpPr>
            <a:spLocks noGrp="1"/>
          </p:cNvSpPr>
          <p:nvPr>
            <p:ph idx="1"/>
          </p:nvPr>
        </p:nvSpPr>
        <p:spPr>
          <a:xfrm>
            <a:off x="6803408" y="2249766"/>
            <a:ext cx="4550391" cy="4070303"/>
          </a:xfrm>
        </p:spPr>
        <p:txBody>
          <a:bodyPr anchor="ctr">
            <a:normAutofit/>
          </a:bodyPr>
          <a:lstStyle/>
          <a:p>
            <a:r>
              <a:rPr lang="en-US" sz="2000" kern="0" dirty="0">
                <a:effectLst/>
                <a:ea typeface="Times New Roman" panose="02020603050405020304" pitchFamily="18" charset="0"/>
              </a:rPr>
              <a:t>15-year-old Liam presents with complaints of a racing heart, difficulty sleeping, and irritability. His mother reports he has been more anxious than usual and has occasional tremors. She states that he eats all the time but seems to be “withering away”</a:t>
            </a:r>
            <a:endParaRPr lang="en-US" sz="2000" dirty="0"/>
          </a:p>
        </p:txBody>
      </p:sp>
    </p:spTree>
    <p:extLst>
      <p:ext uri="{BB962C8B-B14F-4D97-AF65-F5344CB8AC3E}">
        <p14:creationId xmlns:p14="http://schemas.microsoft.com/office/powerpoint/2010/main" val="2555582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53A8BFA-C17B-344A-8691-75763F413924}"/>
              </a:ext>
            </a:extLst>
          </p:cNvPr>
          <p:cNvPicPr>
            <a:picLocks noChangeAspect="1"/>
          </p:cNvPicPr>
          <p:nvPr/>
        </p:nvPicPr>
        <p:blipFill>
          <a:blip r:embed="rId2"/>
          <a:srcRect l="1893"/>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BFB6E2-DF5C-D9BD-1645-75BFAE59C417}"/>
              </a:ext>
            </a:extLst>
          </p:cNvPr>
          <p:cNvSpPr>
            <a:spLocks noGrp="1"/>
          </p:cNvSpPr>
          <p:nvPr>
            <p:ph type="title"/>
          </p:nvPr>
        </p:nvSpPr>
        <p:spPr>
          <a:xfrm>
            <a:off x="761801" y="328512"/>
            <a:ext cx="4778387" cy="1628970"/>
          </a:xfrm>
        </p:spPr>
        <p:txBody>
          <a:bodyPr anchor="ctr">
            <a:normAutofit/>
          </a:bodyPr>
          <a:lstStyle/>
          <a:p>
            <a:r>
              <a:rPr lang="en-US" sz="4000"/>
              <a:t>Hyperthyroidism</a:t>
            </a:r>
          </a:p>
        </p:txBody>
      </p:sp>
      <p:sp>
        <p:nvSpPr>
          <p:cNvPr id="3" name="Content Placeholder 2">
            <a:extLst>
              <a:ext uri="{FF2B5EF4-FFF2-40B4-BE49-F238E27FC236}">
                <a16:creationId xmlns:a16="http://schemas.microsoft.com/office/drawing/2014/main" id="{4911B866-9326-3D59-7D3A-FB0518080910}"/>
              </a:ext>
            </a:extLst>
          </p:cNvPr>
          <p:cNvSpPr>
            <a:spLocks noGrp="1"/>
          </p:cNvSpPr>
          <p:nvPr>
            <p:ph idx="1"/>
          </p:nvPr>
        </p:nvSpPr>
        <p:spPr>
          <a:xfrm>
            <a:off x="761801" y="2884929"/>
            <a:ext cx="4659756" cy="3374137"/>
          </a:xfrm>
        </p:spPr>
        <p:txBody>
          <a:bodyPr anchor="ctr">
            <a:normAutofit/>
          </a:bodyPr>
          <a:lstStyle/>
          <a:p>
            <a:r>
              <a:rPr lang="en-US" sz="2000" dirty="0"/>
              <a:t>What are the hallmark symptoms of hyperthyroidism, and how do they differ from hypothyroidism?</a:t>
            </a:r>
          </a:p>
          <a:p>
            <a:r>
              <a:rPr lang="en-US" sz="2000" dirty="0"/>
              <a:t>What treatment options would you expect for hyperthyroidism in a pediatric patient like Liam?</a:t>
            </a:r>
          </a:p>
          <a:p>
            <a:r>
              <a:rPr lang="en-US" sz="2000" dirty="0"/>
              <a:t>What client and family education should the nurse provide regarding medication adherence and potential side effects?</a:t>
            </a:r>
          </a:p>
          <a:p>
            <a:endParaRPr lang="en-US" sz="2000" dirty="0"/>
          </a:p>
        </p:txBody>
      </p:sp>
    </p:spTree>
    <p:extLst>
      <p:ext uri="{BB962C8B-B14F-4D97-AF65-F5344CB8AC3E}">
        <p14:creationId xmlns:p14="http://schemas.microsoft.com/office/powerpoint/2010/main" val="1125761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a:extLst>
              <a:ext uri="{FF2B5EF4-FFF2-40B4-BE49-F238E27FC236}">
                <a16:creationId xmlns:a16="http://schemas.microsoft.com/office/drawing/2014/main" id="{F6AA4E6A-BC52-7FC4-BDFA-EF7480A7513A}"/>
              </a:ext>
            </a:extLst>
          </p:cNvPr>
          <p:cNvSpPr/>
          <p:nvPr/>
        </p:nvSpPr>
        <p:spPr>
          <a:xfrm>
            <a:off x="420027" y="588038"/>
            <a:ext cx="3206209" cy="5782378"/>
          </a:xfrm>
          <a:prstGeom prst="flowChartProcess">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ea typeface="Calibri"/>
              <a:cs typeface="Calibri"/>
            </a:endParaRPr>
          </a:p>
        </p:txBody>
      </p:sp>
      <p:sp>
        <p:nvSpPr>
          <p:cNvPr id="6" name="TextBox 5">
            <a:extLst>
              <a:ext uri="{FF2B5EF4-FFF2-40B4-BE49-F238E27FC236}">
                <a16:creationId xmlns:a16="http://schemas.microsoft.com/office/drawing/2014/main" id="{173D152F-B2E9-5DFE-CDC1-E3740727EB3F}"/>
              </a:ext>
            </a:extLst>
          </p:cNvPr>
          <p:cNvSpPr txBox="1"/>
          <p:nvPr/>
        </p:nvSpPr>
        <p:spPr>
          <a:xfrm>
            <a:off x="1380355" y="199574"/>
            <a:ext cx="1281563" cy="37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Too Much!!</a:t>
            </a:r>
            <a:endParaRPr lang="en-US" dirty="0"/>
          </a:p>
        </p:txBody>
      </p:sp>
      <p:sp>
        <p:nvSpPr>
          <p:cNvPr id="7" name="Rectangle 6">
            <a:extLst>
              <a:ext uri="{FF2B5EF4-FFF2-40B4-BE49-F238E27FC236}">
                <a16:creationId xmlns:a16="http://schemas.microsoft.com/office/drawing/2014/main" id="{F6D7E1E4-FE5D-3B5F-7C4D-A66E37C02728}"/>
              </a:ext>
            </a:extLst>
          </p:cNvPr>
          <p:cNvSpPr/>
          <p:nvPr/>
        </p:nvSpPr>
        <p:spPr>
          <a:xfrm>
            <a:off x="8862579" y="3066200"/>
            <a:ext cx="3094202" cy="320620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931CF28-49E8-14DC-6E04-2A365F7D47E2}"/>
              </a:ext>
            </a:extLst>
          </p:cNvPr>
          <p:cNvSpPr txBox="1"/>
          <p:nvPr/>
        </p:nvSpPr>
        <p:spPr>
          <a:xfrm>
            <a:off x="9762354" y="2683902"/>
            <a:ext cx="1281563" cy="37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Too Little!!</a:t>
            </a:r>
            <a:endParaRPr lang="en-US" dirty="0"/>
          </a:p>
        </p:txBody>
      </p:sp>
      <p:sp>
        <p:nvSpPr>
          <p:cNvPr id="10" name="Rectangle 9">
            <a:extLst>
              <a:ext uri="{FF2B5EF4-FFF2-40B4-BE49-F238E27FC236}">
                <a16:creationId xmlns:a16="http://schemas.microsoft.com/office/drawing/2014/main" id="{14EBC13C-8867-61BA-432A-D88B48107D1E}"/>
              </a:ext>
            </a:extLst>
          </p:cNvPr>
          <p:cNvSpPr/>
          <p:nvPr/>
        </p:nvSpPr>
        <p:spPr>
          <a:xfrm>
            <a:off x="4298281" y="1708111"/>
            <a:ext cx="3920256" cy="4648303"/>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0B72A40-56A0-0C5C-FC50-463CAD654E71}"/>
              </a:ext>
            </a:extLst>
          </p:cNvPr>
          <p:cNvSpPr txBox="1"/>
          <p:nvPr/>
        </p:nvSpPr>
        <p:spPr>
          <a:xfrm>
            <a:off x="5618327" y="1201655"/>
            <a:ext cx="1281563" cy="37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Just Right!!</a:t>
            </a:r>
            <a:endParaRPr lang="en-US" dirty="0"/>
          </a:p>
        </p:txBody>
      </p:sp>
      <p:pic>
        <p:nvPicPr>
          <p:cNvPr id="14" name="Picture 13" descr="Goldilocks and the Three Bears | Stories for Kids">
            <a:extLst>
              <a:ext uri="{FF2B5EF4-FFF2-40B4-BE49-F238E27FC236}">
                <a16:creationId xmlns:a16="http://schemas.microsoft.com/office/drawing/2014/main" id="{DDAF3204-BB55-90D5-D83D-2FBD70F69B96}"/>
              </a:ext>
            </a:extLst>
          </p:cNvPr>
          <p:cNvPicPr>
            <a:picLocks noChangeAspect="1"/>
          </p:cNvPicPr>
          <p:nvPr/>
        </p:nvPicPr>
        <p:blipFill>
          <a:blip r:embed="rId2"/>
          <a:stretch>
            <a:fillRect/>
          </a:stretch>
        </p:blipFill>
        <p:spPr>
          <a:xfrm>
            <a:off x="9035441" y="41646"/>
            <a:ext cx="2743199" cy="2327969"/>
          </a:xfrm>
          <a:prstGeom prst="rect">
            <a:avLst/>
          </a:prstGeom>
        </p:spPr>
      </p:pic>
    </p:spTree>
    <p:extLst>
      <p:ext uri="{BB962C8B-B14F-4D97-AF65-F5344CB8AC3E}">
        <p14:creationId xmlns:p14="http://schemas.microsoft.com/office/powerpoint/2010/main" val="2731787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TotalTime>
  <Words>744</Words>
  <Application>Microsoft Office PowerPoint</Application>
  <PresentationFormat>Widescreen</PresentationFormat>
  <Paragraphs>65</Paragraphs>
  <Slides>13</Slides>
  <Notes>0</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Symbol</vt:lpstr>
      <vt:lpstr>Times New Roman</vt:lpstr>
      <vt:lpstr>Office Theme</vt:lpstr>
      <vt:lpstr>Endocrine Recap</vt:lpstr>
      <vt:lpstr>Name the Disorder…</vt:lpstr>
      <vt:lpstr>Diabetes mellitus type 1</vt:lpstr>
      <vt:lpstr>Name the disorder</vt:lpstr>
      <vt:lpstr>Congenital hypothyroidism</vt:lpstr>
      <vt:lpstr>PowerPoint Presentation</vt:lpstr>
      <vt:lpstr>Name the disorder</vt:lpstr>
      <vt:lpstr>Growth Hormone Deficiency</vt:lpstr>
      <vt:lpstr>Name the disorder…</vt:lpstr>
      <vt:lpstr>Diabetes insipidus</vt:lpstr>
      <vt:lpstr>Name the disorder…</vt:lpstr>
      <vt:lpstr>Hyperthyroidism</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Endocrine Recap</dc:title>
  <dc:creator>Jessica DeVore</dc:creator>
  <cp:lastModifiedBy>Ellie Fuller</cp:lastModifiedBy>
  <cp:revision>31</cp:revision>
  <dcterms:created xsi:type="dcterms:W3CDTF">2024-11-04T20:49:11Z</dcterms:created>
  <dcterms:modified xsi:type="dcterms:W3CDTF">2026-03-26T01:42:31Z</dcterms:modified>
</cp:coreProperties>
</file>