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1" r:id="rId3"/>
    <p:sldId id="262" r:id="rId4"/>
    <p:sldId id="259" r:id="rId5"/>
    <p:sldId id="260" r:id="rId6"/>
    <p:sldId id="264" r:id="rId7"/>
    <p:sldId id="263" r:id="rId8"/>
    <p:sldId id="265" r:id="rId9"/>
    <p:sldId id="258"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4" d="100"/>
          <a:sy n="64" d="100"/>
        </p:scale>
        <p:origin x="7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ie Fuller" userId="e034bfba-bc31-4476-bf06-cfa524cc5850" providerId="ADAL" clId="{365A209F-0445-4961-8B93-F7FD7F1DD349}"/>
    <pc:docChg chg="modSld">
      <pc:chgData name="Ellie Fuller" userId="e034bfba-bc31-4476-bf06-cfa524cc5850" providerId="ADAL" clId="{365A209F-0445-4961-8B93-F7FD7F1DD349}" dt="2026-03-04T19:41:03" v="0" actId="729"/>
      <pc:docMkLst>
        <pc:docMk/>
      </pc:docMkLst>
      <pc:sldChg chg="mod modShow">
        <pc:chgData name="Ellie Fuller" userId="e034bfba-bc31-4476-bf06-cfa524cc5850" providerId="ADAL" clId="{365A209F-0445-4961-8B93-F7FD7F1DD349}" dt="2026-03-04T19:41:03" v="0" actId="729"/>
        <pc:sldMkLst>
          <pc:docMk/>
          <pc:sldMk cId="2886320447" sldId="26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63DC2-8D45-0431-34FB-6678EBE21E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32A527-F62F-8766-F994-92F898D1E3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2C13654-01FA-88A0-161B-09A529E99785}"/>
              </a:ext>
            </a:extLst>
          </p:cNvPr>
          <p:cNvSpPr>
            <a:spLocks noGrp="1"/>
          </p:cNvSpPr>
          <p:nvPr>
            <p:ph type="dt" sz="half" idx="10"/>
          </p:nvPr>
        </p:nvSpPr>
        <p:spPr/>
        <p:txBody>
          <a:bodyPr/>
          <a:lstStyle/>
          <a:p>
            <a:fld id="{8CC28761-8570-4B85-A423-BF1E9FF6FC9C}" type="datetimeFigureOut">
              <a:rPr lang="en-US" smtClean="0"/>
              <a:t>3/4/2026</a:t>
            </a:fld>
            <a:endParaRPr lang="en-US"/>
          </a:p>
        </p:txBody>
      </p:sp>
      <p:sp>
        <p:nvSpPr>
          <p:cNvPr id="5" name="Footer Placeholder 4">
            <a:extLst>
              <a:ext uri="{FF2B5EF4-FFF2-40B4-BE49-F238E27FC236}">
                <a16:creationId xmlns:a16="http://schemas.microsoft.com/office/drawing/2014/main" id="{B60DCF4E-2B94-1BCC-CC03-9F63788CE5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B1E1A7-6E1E-5EAC-04ED-3B4073ECD732}"/>
              </a:ext>
            </a:extLst>
          </p:cNvPr>
          <p:cNvSpPr>
            <a:spLocks noGrp="1"/>
          </p:cNvSpPr>
          <p:nvPr>
            <p:ph type="sldNum" sz="quarter" idx="12"/>
          </p:nvPr>
        </p:nvSpPr>
        <p:spPr/>
        <p:txBody>
          <a:bodyPr/>
          <a:lstStyle/>
          <a:p>
            <a:fld id="{DB09F8DE-58BC-41E8-BA31-118F8BFCF22B}" type="slidenum">
              <a:rPr lang="en-US" smtClean="0"/>
              <a:t>‹#›</a:t>
            </a:fld>
            <a:endParaRPr lang="en-US"/>
          </a:p>
        </p:txBody>
      </p:sp>
    </p:spTree>
    <p:extLst>
      <p:ext uri="{BB962C8B-B14F-4D97-AF65-F5344CB8AC3E}">
        <p14:creationId xmlns:p14="http://schemas.microsoft.com/office/powerpoint/2010/main" val="2606778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512F0-D8BA-89A7-66DF-6F7DA2EB2B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1965E-FBCA-2BA2-29F7-482506F32B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25A2F6-9002-058E-6967-FE3E05B021B9}"/>
              </a:ext>
            </a:extLst>
          </p:cNvPr>
          <p:cNvSpPr>
            <a:spLocks noGrp="1"/>
          </p:cNvSpPr>
          <p:nvPr>
            <p:ph type="dt" sz="half" idx="10"/>
          </p:nvPr>
        </p:nvSpPr>
        <p:spPr/>
        <p:txBody>
          <a:bodyPr/>
          <a:lstStyle/>
          <a:p>
            <a:fld id="{8CC28761-8570-4B85-A423-BF1E9FF6FC9C}" type="datetimeFigureOut">
              <a:rPr lang="en-US" smtClean="0"/>
              <a:t>3/4/2026</a:t>
            </a:fld>
            <a:endParaRPr lang="en-US"/>
          </a:p>
        </p:txBody>
      </p:sp>
      <p:sp>
        <p:nvSpPr>
          <p:cNvPr id="5" name="Footer Placeholder 4">
            <a:extLst>
              <a:ext uri="{FF2B5EF4-FFF2-40B4-BE49-F238E27FC236}">
                <a16:creationId xmlns:a16="http://schemas.microsoft.com/office/drawing/2014/main" id="{48D77955-9E90-DF73-F7E6-D1AD321003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BB9961-9575-F203-F338-0CDBEC628009}"/>
              </a:ext>
            </a:extLst>
          </p:cNvPr>
          <p:cNvSpPr>
            <a:spLocks noGrp="1"/>
          </p:cNvSpPr>
          <p:nvPr>
            <p:ph type="sldNum" sz="quarter" idx="12"/>
          </p:nvPr>
        </p:nvSpPr>
        <p:spPr/>
        <p:txBody>
          <a:bodyPr/>
          <a:lstStyle/>
          <a:p>
            <a:fld id="{DB09F8DE-58BC-41E8-BA31-118F8BFCF22B}" type="slidenum">
              <a:rPr lang="en-US" smtClean="0"/>
              <a:t>‹#›</a:t>
            </a:fld>
            <a:endParaRPr lang="en-US"/>
          </a:p>
        </p:txBody>
      </p:sp>
    </p:spTree>
    <p:extLst>
      <p:ext uri="{BB962C8B-B14F-4D97-AF65-F5344CB8AC3E}">
        <p14:creationId xmlns:p14="http://schemas.microsoft.com/office/powerpoint/2010/main" val="2420227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62E53-103C-7C0A-AA3C-F3631C673B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62D8FF-06D7-63D5-1668-E2978D2A88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1A49D3-54F2-5CF5-9E52-21A479BB5A60}"/>
              </a:ext>
            </a:extLst>
          </p:cNvPr>
          <p:cNvSpPr>
            <a:spLocks noGrp="1"/>
          </p:cNvSpPr>
          <p:nvPr>
            <p:ph type="dt" sz="half" idx="10"/>
          </p:nvPr>
        </p:nvSpPr>
        <p:spPr/>
        <p:txBody>
          <a:bodyPr/>
          <a:lstStyle/>
          <a:p>
            <a:fld id="{8CC28761-8570-4B85-A423-BF1E9FF6FC9C}" type="datetimeFigureOut">
              <a:rPr lang="en-US" smtClean="0"/>
              <a:t>3/4/2026</a:t>
            </a:fld>
            <a:endParaRPr lang="en-US"/>
          </a:p>
        </p:txBody>
      </p:sp>
      <p:sp>
        <p:nvSpPr>
          <p:cNvPr id="5" name="Footer Placeholder 4">
            <a:extLst>
              <a:ext uri="{FF2B5EF4-FFF2-40B4-BE49-F238E27FC236}">
                <a16:creationId xmlns:a16="http://schemas.microsoft.com/office/drawing/2014/main" id="{D52CFC95-94AB-541E-4F54-C34CADBAC1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CD046B-B864-B4AF-0D42-AEDC1A2FC660}"/>
              </a:ext>
            </a:extLst>
          </p:cNvPr>
          <p:cNvSpPr>
            <a:spLocks noGrp="1"/>
          </p:cNvSpPr>
          <p:nvPr>
            <p:ph type="sldNum" sz="quarter" idx="12"/>
          </p:nvPr>
        </p:nvSpPr>
        <p:spPr/>
        <p:txBody>
          <a:bodyPr/>
          <a:lstStyle/>
          <a:p>
            <a:fld id="{DB09F8DE-58BC-41E8-BA31-118F8BFCF22B}" type="slidenum">
              <a:rPr lang="en-US" smtClean="0"/>
              <a:t>‹#›</a:t>
            </a:fld>
            <a:endParaRPr lang="en-US"/>
          </a:p>
        </p:txBody>
      </p:sp>
    </p:spTree>
    <p:extLst>
      <p:ext uri="{BB962C8B-B14F-4D97-AF65-F5344CB8AC3E}">
        <p14:creationId xmlns:p14="http://schemas.microsoft.com/office/powerpoint/2010/main" val="525123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2E8EC-6CDB-CEA9-9831-A059ADA701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F3DD54-BD5E-E45F-4A52-0BB7318ED6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12EFD9-6915-4AA1-CD78-5D07C4D7FA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B23097-B9DD-ADAD-D562-A764BE41421E}"/>
              </a:ext>
            </a:extLst>
          </p:cNvPr>
          <p:cNvSpPr>
            <a:spLocks noGrp="1"/>
          </p:cNvSpPr>
          <p:nvPr>
            <p:ph type="dt" sz="half" idx="10"/>
          </p:nvPr>
        </p:nvSpPr>
        <p:spPr/>
        <p:txBody>
          <a:bodyPr/>
          <a:lstStyle/>
          <a:p>
            <a:fld id="{8CC28761-8570-4B85-A423-BF1E9FF6FC9C}" type="datetimeFigureOut">
              <a:rPr lang="en-US" smtClean="0"/>
              <a:t>3/4/2026</a:t>
            </a:fld>
            <a:endParaRPr lang="en-US"/>
          </a:p>
        </p:txBody>
      </p:sp>
      <p:sp>
        <p:nvSpPr>
          <p:cNvPr id="6" name="Footer Placeholder 5">
            <a:extLst>
              <a:ext uri="{FF2B5EF4-FFF2-40B4-BE49-F238E27FC236}">
                <a16:creationId xmlns:a16="http://schemas.microsoft.com/office/drawing/2014/main" id="{98C8766D-16DB-1D0C-84F2-156FCFA2EE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160E12-FF60-CC8E-EE9B-956F2AC10B5B}"/>
              </a:ext>
            </a:extLst>
          </p:cNvPr>
          <p:cNvSpPr>
            <a:spLocks noGrp="1"/>
          </p:cNvSpPr>
          <p:nvPr>
            <p:ph type="sldNum" sz="quarter" idx="12"/>
          </p:nvPr>
        </p:nvSpPr>
        <p:spPr/>
        <p:txBody>
          <a:bodyPr/>
          <a:lstStyle/>
          <a:p>
            <a:fld id="{DB09F8DE-58BC-41E8-BA31-118F8BFCF22B}" type="slidenum">
              <a:rPr lang="en-US" smtClean="0"/>
              <a:t>‹#›</a:t>
            </a:fld>
            <a:endParaRPr lang="en-US"/>
          </a:p>
        </p:txBody>
      </p:sp>
    </p:spTree>
    <p:extLst>
      <p:ext uri="{BB962C8B-B14F-4D97-AF65-F5344CB8AC3E}">
        <p14:creationId xmlns:p14="http://schemas.microsoft.com/office/powerpoint/2010/main" val="3845451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0DD21-FE67-FEC0-7472-C166FE04CC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39F415-51D3-9E04-73C3-ACE357CE71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658DD8-892F-C910-F9C7-4EDA48B0AF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009DAA-D5D1-46C9-78D5-67B73017EF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5F0B91-124B-1C7E-4877-CA05020488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9527B8-7D21-6958-2B24-69A8960E9DE2}"/>
              </a:ext>
            </a:extLst>
          </p:cNvPr>
          <p:cNvSpPr>
            <a:spLocks noGrp="1"/>
          </p:cNvSpPr>
          <p:nvPr>
            <p:ph type="dt" sz="half" idx="10"/>
          </p:nvPr>
        </p:nvSpPr>
        <p:spPr/>
        <p:txBody>
          <a:bodyPr/>
          <a:lstStyle/>
          <a:p>
            <a:fld id="{8CC28761-8570-4B85-A423-BF1E9FF6FC9C}" type="datetimeFigureOut">
              <a:rPr lang="en-US" smtClean="0"/>
              <a:t>3/4/2026</a:t>
            </a:fld>
            <a:endParaRPr lang="en-US"/>
          </a:p>
        </p:txBody>
      </p:sp>
      <p:sp>
        <p:nvSpPr>
          <p:cNvPr id="8" name="Footer Placeholder 7">
            <a:extLst>
              <a:ext uri="{FF2B5EF4-FFF2-40B4-BE49-F238E27FC236}">
                <a16:creationId xmlns:a16="http://schemas.microsoft.com/office/drawing/2014/main" id="{064FF9EB-DAE5-5F8B-7787-445BD1953D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9CE483-0575-C3CE-F2C0-92245EC4D333}"/>
              </a:ext>
            </a:extLst>
          </p:cNvPr>
          <p:cNvSpPr>
            <a:spLocks noGrp="1"/>
          </p:cNvSpPr>
          <p:nvPr>
            <p:ph type="sldNum" sz="quarter" idx="12"/>
          </p:nvPr>
        </p:nvSpPr>
        <p:spPr/>
        <p:txBody>
          <a:bodyPr/>
          <a:lstStyle/>
          <a:p>
            <a:fld id="{DB09F8DE-58BC-41E8-BA31-118F8BFCF22B}" type="slidenum">
              <a:rPr lang="en-US" smtClean="0"/>
              <a:t>‹#›</a:t>
            </a:fld>
            <a:endParaRPr lang="en-US"/>
          </a:p>
        </p:txBody>
      </p:sp>
    </p:spTree>
    <p:extLst>
      <p:ext uri="{BB962C8B-B14F-4D97-AF65-F5344CB8AC3E}">
        <p14:creationId xmlns:p14="http://schemas.microsoft.com/office/powerpoint/2010/main" val="793355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43F42-7327-3C68-8828-D1F299A930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28231FE-53A1-7AA9-14FD-B5CDBBB51D2D}"/>
              </a:ext>
            </a:extLst>
          </p:cNvPr>
          <p:cNvSpPr>
            <a:spLocks noGrp="1"/>
          </p:cNvSpPr>
          <p:nvPr>
            <p:ph type="dt" sz="half" idx="10"/>
          </p:nvPr>
        </p:nvSpPr>
        <p:spPr/>
        <p:txBody>
          <a:bodyPr/>
          <a:lstStyle/>
          <a:p>
            <a:fld id="{8CC28761-8570-4B85-A423-BF1E9FF6FC9C}" type="datetimeFigureOut">
              <a:rPr lang="en-US" smtClean="0"/>
              <a:t>3/4/2026</a:t>
            </a:fld>
            <a:endParaRPr lang="en-US"/>
          </a:p>
        </p:txBody>
      </p:sp>
      <p:sp>
        <p:nvSpPr>
          <p:cNvPr id="4" name="Footer Placeholder 3">
            <a:extLst>
              <a:ext uri="{FF2B5EF4-FFF2-40B4-BE49-F238E27FC236}">
                <a16:creationId xmlns:a16="http://schemas.microsoft.com/office/drawing/2014/main" id="{3B795C98-A202-7AE1-6FB4-81C49F9DDF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543185-EFB2-E3AE-CDF5-CFECE79875CC}"/>
              </a:ext>
            </a:extLst>
          </p:cNvPr>
          <p:cNvSpPr>
            <a:spLocks noGrp="1"/>
          </p:cNvSpPr>
          <p:nvPr>
            <p:ph type="sldNum" sz="quarter" idx="12"/>
          </p:nvPr>
        </p:nvSpPr>
        <p:spPr/>
        <p:txBody>
          <a:bodyPr/>
          <a:lstStyle/>
          <a:p>
            <a:fld id="{DB09F8DE-58BC-41E8-BA31-118F8BFCF22B}" type="slidenum">
              <a:rPr lang="en-US" smtClean="0"/>
              <a:t>‹#›</a:t>
            </a:fld>
            <a:endParaRPr lang="en-US"/>
          </a:p>
        </p:txBody>
      </p:sp>
    </p:spTree>
    <p:extLst>
      <p:ext uri="{BB962C8B-B14F-4D97-AF65-F5344CB8AC3E}">
        <p14:creationId xmlns:p14="http://schemas.microsoft.com/office/powerpoint/2010/main" val="3301565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A016DA-43C4-48EE-B8D7-E52D1BAC1357}"/>
              </a:ext>
            </a:extLst>
          </p:cNvPr>
          <p:cNvSpPr>
            <a:spLocks noGrp="1"/>
          </p:cNvSpPr>
          <p:nvPr>
            <p:ph type="dt" sz="half" idx="10"/>
          </p:nvPr>
        </p:nvSpPr>
        <p:spPr/>
        <p:txBody>
          <a:bodyPr/>
          <a:lstStyle/>
          <a:p>
            <a:fld id="{8CC28761-8570-4B85-A423-BF1E9FF6FC9C}" type="datetimeFigureOut">
              <a:rPr lang="en-US" smtClean="0"/>
              <a:t>3/4/2026</a:t>
            </a:fld>
            <a:endParaRPr lang="en-US"/>
          </a:p>
        </p:txBody>
      </p:sp>
      <p:sp>
        <p:nvSpPr>
          <p:cNvPr id="3" name="Footer Placeholder 2">
            <a:extLst>
              <a:ext uri="{FF2B5EF4-FFF2-40B4-BE49-F238E27FC236}">
                <a16:creationId xmlns:a16="http://schemas.microsoft.com/office/drawing/2014/main" id="{206F82F5-E5AC-ED63-6E65-9D56A0A116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E8E886-8DFA-9380-A44D-927A1CF44D08}"/>
              </a:ext>
            </a:extLst>
          </p:cNvPr>
          <p:cNvSpPr>
            <a:spLocks noGrp="1"/>
          </p:cNvSpPr>
          <p:nvPr>
            <p:ph type="sldNum" sz="quarter" idx="12"/>
          </p:nvPr>
        </p:nvSpPr>
        <p:spPr/>
        <p:txBody>
          <a:bodyPr/>
          <a:lstStyle/>
          <a:p>
            <a:fld id="{DB09F8DE-58BC-41E8-BA31-118F8BFCF22B}" type="slidenum">
              <a:rPr lang="en-US" smtClean="0"/>
              <a:t>‹#›</a:t>
            </a:fld>
            <a:endParaRPr lang="en-US"/>
          </a:p>
        </p:txBody>
      </p:sp>
    </p:spTree>
    <p:extLst>
      <p:ext uri="{BB962C8B-B14F-4D97-AF65-F5344CB8AC3E}">
        <p14:creationId xmlns:p14="http://schemas.microsoft.com/office/powerpoint/2010/main" val="324909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24E15-6454-1685-6F20-646CA6ED7A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63428B-675A-8174-FAA5-E9F853D431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36774D-F373-8A2D-F133-826DBBE69F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E69498-EF08-3534-99DC-32CF7589E4AF}"/>
              </a:ext>
            </a:extLst>
          </p:cNvPr>
          <p:cNvSpPr>
            <a:spLocks noGrp="1"/>
          </p:cNvSpPr>
          <p:nvPr>
            <p:ph type="dt" sz="half" idx="10"/>
          </p:nvPr>
        </p:nvSpPr>
        <p:spPr/>
        <p:txBody>
          <a:bodyPr/>
          <a:lstStyle/>
          <a:p>
            <a:fld id="{8CC28761-8570-4B85-A423-BF1E9FF6FC9C}" type="datetimeFigureOut">
              <a:rPr lang="en-US" smtClean="0"/>
              <a:t>3/4/2026</a:t>
            </a:fld>
            <a:endParaRPr lang="en-US"/>
          </a:p>
        </p:txBody>
      </p:sp>
      <p:sp>
        <p:nvSpPr>
          <p:cNvPr id="6" name="Footer Placeholder 5">
            <a:extLst>
              <a:ext uri="{FF2B5EF4-FFF2-40B4-BE49-F238E27FC236}">
                <a16:creationId xmlns:a16="http://schemas.microsoft.com/office/drawing/2014/main" id="{FCFCD17A-6852-D9BA-6C63-D8703049A3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E3A979-6D63-C868-A490-4576EE39F33D}"/>
              </a:ext>
            </a:extLst>
          </p:cNvPr>
          <p:cNvSpPr>
            <a:spLocks noGrp="1"/>
          </p:cNvSpPr>
          <p:nvPr>
            <p:ph type="sldNum" sz="quarter" idx="12"/>
          </p:nvPr>
        </p:nvSpPr>
        <p:spPr/>
        <p:txBody>
          <a:bodyPr/>
          <a:lstStyle/>
          <a:p>
            <a:fld id="{DB09F8DE-58BC-41E8-BA31-118F8BFCF22B}" type="slidenum">
              <a:rPr lang="en-US" smtClean="0"/>
              <a:t>‹#›</a:t>
            </a:fld>
            <a:endParaRPr lang="en-US"/>
          </a:p>
        </p:txBody>
      </p:sp>
    </p:spTree>
    <p:extLst>
      <p:ext uri="{BB962C8B-B14F-4D97-AF65-F5344CB8AC3E}">
        <p14:creationId xmlns:p14="http://schemas.microsoft.com/office/powerpoint/2010/main" val="4144558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02C22-D009-9948-E74E-B4C3F54CE0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16F0B4-226B-AC67-BC29-CB89AD50B8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1D61857-9C51-C321-02AB-106B8CB3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F117FA-CA1F-4C0D-B3BB-062ED069CEF3}"/>
              </a:ext>
            </a:extLst>
          </p:cNvPr>
          <p:cNvSpPr>
            <a:spLocks noGrp="1"/>
          </p:cNvSpPr>
          <p:nvPr>
            <p:ph type="dt" sz="half" idx="10"/>
          </p:nvPr>
        </p:nvSpPr>
        <p:spPr/>
        <p:txBody>
          <a:bodyPr/>
          <a:lstStyle/>
          <a:p>
            <a:fld id="{8CC28761-8570-4B85-A423-BF1E9FF6FC9C}" type="datetimeFigureOut">
              <a:rPr lang="en-US" smtClean="0"/>
              <a:t>3/4/2026</a:t>
            </a:fld>
            <a:endParaRPr lang="en-US"/>
          </a:p>
        </p:txBody>
      </p:sp>
      <p:sp>
        <p:nvSpPr>
          <p:cNvPr id="6" name="Footer Placeholder 5">
            <a:extLst>
              <a:ext uri="{FF2B5EF4-FFF2-40B4-BE49-F238E27FC236}">
                <a16:creationId xmlns:a16="http://schemas.microsoft.com/office/drawing/2014/main" id="{792F1285-493E-3EAC-D1C8-B13152970C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1EF098-A665-165B-286C-4F62E20A0AEA}"/>
              </a:ext>
            </a:extLst>
          </p:cNvPr>
          <p:cNvSpPr>
            <a:spLocks noGrp="1"/>
          </p:cNvSpPr>
          <p:nvPr>
            <p:ph type="sldNum" sz="quarter" idx="12"/>
          </p:nvPr>
        </p:nvSpPr>
        <p:spPr/>
        <p:txBody>
          <a:bodyPr/>
          <a:lstStyle/>
          <a:p>
            <a:fld id="{DB09F8DE-58BC-41E8-BA31-118F8BFCF22B}" type="slidenum">
              <a:rPr lang="en-US" smtClean="0"/>
              <a:t>‹#›</a:t>
            </a:fld>
            <a:endParaRPr lang="en-US"/>
          </a:p>
        </p:txBody>
      </p:sp>
    </p:spTree>
    <p:extLst>
      <p:ext uri="{BB962C8B-B14F-4D97-AF65-F5344CB8AC3E}">
        <p14:creationId xmlns:p14="http://schemas.microsoft.com/office/powerpoint/2010/main" val="1204050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AFDAE-82FB-8300-E02D-B1FD28B49B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E2FF97-DA5B-4F89-E28B-4A4A598BAF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7E2BA9-7D67-BDC2-8D86-63EFC39FC289}"/>
              </a:ext>
            </a:extLst>
          </p:cNvPr>
          <p:cNvSpPr>
            <a:spLocks noGrp="1"/>
          </p:cNvSpPr>
          <p:nvPr>
            <p:ph type="dt" sz="half" idx="10"/>
          </p:nvPr>
        </p:nvSpPr>
        <p:spPr/>
        <p:txBody>
          <a:bodyPr/>
          <a:lstStyle/>
          <a:p>
            <a:fld id="{8CC28761-8570-4B85-A423-BF1E9FF6FC9C}" type="datetimeFigureOut">
              <a:rPr lang="en-US" smtClean="0"/>
              <a:t>3/4/2026</a:t>
            </a:fld>
            <a:endParaRPr lang="en-US"/>
          </a:p>
        </p:txBody>
      </p:sp>
      <p:sp>
        <p:nvSpPr>
          <p:cNvPr id="5" name="Footer Placeholder 4">
            <a:extLst>
              <a:ext uri="{FF2B5EF4-FFF2-40B4-BE49-F238E27FC236}">
                <a16:creationId xmlns:a16="http://schemas.microsoft.com/office/drawing/2014/main" id="{C358A8C3-4716-8C3A-95AB-6949E30FE4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3E2143-C81A-E013-CF1D-E5AD06464D2C}"/>
              </a:ext>
            </a:extLst>
          </p:cNvPr>
          <p:cNvSpPr>
            <a:spLocks noGrp="1"/>
          </p:cNvSpPr>
          <p:nvPr>
            <p:ph type="sldNum" sz="quarter" idx="12"/>
          </p:nvPr>
        </p:nvSpPr>
        <p:spPr/>
        <p:txBody>
          <a:bodyPr/>
          <a:lstStyle/>
          <a:p>
            <a:fld id="{DB09F8DE-58BC-41E8-BA31-118F8BFCF22B}" type="slidenum">
              <a:rPr lang="en-US" smtClean="0"/>
              <a:t>‹#›</a:t>
            </a:fld>
            <a:endParaRPr lang="en-US"/>
          </a:p>
        </p:txBody>
      </p:sp>
    </p:spTree>
    <p:extLst>
      <p:ext uri="{BB962C8B-B14F-4D97-AF65-F5344CB8AC3E}">
        <p14:creationId xmlns:p14="http://schemas.microsoft.com/office/powerpoint/2010/main" val="1374088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7D7994-A6A8-21EC-F3C3-63BFF69417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813CCC-3BE3-763A-0D9D-3AF6577E54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EA29CD-9A6F-1716-E103-12B4390FE580}"/>
              </a:ext>
            </a:extLst>
          </p:cNvPr>
          <p:cNvSpPr>
            <a:spLocks noGrp="1"/>
          </p:cNvSpPr>
          <p:nvPr>
            <p:ph type="dt" sz="half" idx="10"/>
          </p:nvPr>
        </p:nvSpPr>
        <p:spPr/>
        <p:txBody>
          <a:bodyPr/>
          <a:lstStyle/>
          <a:p>
            <a:fld id="{8CC28761-8570-4B85-A423-BF1E9FF6FC9C}" type="datetimeFigureOut">
              <a:rPr lang="en-US" smtClean="0"/>
              <a:t>3/4/2026</a:t>
            </a:fld>
            <a:endParaRPr lang="en-US"/>
          </a:p>
        </p:txBody>
      </p:sp>
      <p:sp>
        <p:nvSpPr>
          <p:cNvPr id="5" name="Footer Placeholder 4">
            <a:extLst>
              <a:ext uri="{FF2B5EF4-FFF2-40B4-BE49-F238E27FC236}">
                <a16:creationId xmlns:a16="http://schemas.microsoft.com/office/drawing/2014/main" id="{72061806-E4D3-08CC-29BA-AAEC86B5A2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2E06DF-A66C-4890-752A-1C70CB8FF9CF}"/>
              </a:ext>
            </a:extLst>
          </p:cNvPr>
          <p:cNvSpPr>
            <a:spLocks noGrp="1"/>
          </p:cNvSpPr>
          <p:nvPr>
            <p:ph type="sldNum" sz="quarter" idx="12"/>
          </p:nvPr>
        </p:nvSpPr>
        <p:spPr/>
        <p:txBody>
          <a:bodyPr/>
          <a:lstStyle/>
          <a:p>
            <a:fld id="{DB09F8DE-58BC-41E8-BA31-118F8BFCF22B}" type="slidenum">
              <a:rPr lang="en-US" smtClean="0"/>
              <a:t>‹#›</a:t>
            </a:fld>
            <a:endParaRPr lang="en-US"/>
          </a:p>
        </p:txBody>
      </p:sp>
    </p:spTree>
    <p:extLst>
      <p:ext uri="{BB962C8B-B14F-4D97-AF65-F5344CB8AC3E}">
        <p14:creationId xmlns:p14="http://schemas.microsoft.com/office/powerpoint/2010/main" val="839105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F5EB40-467B-6676-C316-24B08EB632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BC8E78-3A61-BA98-7F9E-6B87E18ADD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366C96-C1CF-D1E5-F2B0-98E4BCAA1A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C28761-8570-4B85-A423-BF1E9FF6FC9C}" type="datetimeFigureOut">
              <a:rPr lang="en-US" smtClean="0"/>
              <a:t>3/4/2026</a:t>
            </a:fld>
            <a:endParaRPr lang="en-US"/>
          </a:p>
        </p:txBody>
      </p:sp>
      <p:sp>
        <p:nvSpPr>
          <p:cNvPr id="5" name="Footer Placeholder 4">
            <a:extLst>
              <a:ext uri="{FF2B5EF4-FFF2-40B4-BE49-F238E27FC236}">
                <a16:creationId xmlns:a16="http://schemas.microsoft.com/office/drawing/2014/main" id="{B74BEDBF-5B3D-FBCB-2F3D-C8E74BAD1F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34ED56B-5A70-225A-4E28-181FE449F4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09F8DE-58BC-41E8-BA31-118F8BFCF22B}" type="slidenum">
              <a:rPr lang="en-US" smtClean="0"/>
              <a:t>‹#›</a:t>
            </a:fld>
            <a:endParaRPr lang="en-US"/>
          </a:p>
        </p:txBody>
      </p:sp>
    </p:spTree>
    <p:extLst>
      <p:ext uri="{BB962C8B-B14F-4D97-AF65-F5344CB8AC3E}">
        <p14:creationId xmlns:p14="http://schemas.microsoft.com/office/powerpoint/2010/main" val="7709264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494737A6-4E1B-1C00-5FC7-EE1176F86997}"/>
              </a:ext>
            </a:extLst>
          </p:cNvPr>
          <p:cNvSpPr>
            <a:spLocks noGrp="1"/>
          </p:cNvSpPr>
          <p:nvPr>
            <p:ph type="ctrTitle"/>
          </p:nvPr>
        </p:nvSpPr>
        <p:spPr>
          <a:xfrm>
            <a:off x="3502731" y="1542402"/>
            <a:ext cx="5186842" cy="2387918"/>
          </a:xfrm>
        </p:spPr>
        <p:txBody>
          <a:bodyPr anchor="b">
            <a:normAutofit/>
          </a:bodyPr>
          <a:lstStyle/>
          <a:p>
            <a:r>
              <a:rPr lang="en-US" sz="5200">
                <a:solidFill>
                  <a:schemeClr val="tx2"/>
                </a:solidFill>
              </a:rPr>
              <a:t>Respiratory</a:t>
            </a:r>
          </a:p>
        </p:txBody>
      </p:sp>
      <p:sp>
        <p:nvSpPr>
          <p:cNvPr id="3" name="Subtitle 2">
            <a:extLst>
              <a:ext uri="{FF2B5EF4-FFF2-40B4-BE49-F238E27FC236}">
                <a16:creationId xmlns:a16="http://schemas.microsoft.com/office/drawing/2014/main" id="{60C8C7D8-E7D6-37CE-AB73-DFC58F932535}"/>
              </a:ext>
            </a:extLst>
          </p:cNvPr>
          <p:cNvSpPr>
            <a:spLocks noGrp="1"/>
          </p:cNvSpPr>
          <p:nvPr>
            <p:ph type="subTitle" idx="1"/>
          </p:nvPr>
        </p:nvSpPr>
        <p:spPr>
          <a:xfrm>
            <a:off x="3502135" y="4001587"/>
            <a:ext cx="5188034" cy="682079"/>
          </a:xfrm>
        </p:spPr>
        <p:txBody>
          <a:bodyPr>
            <a:normAutofit/>
          </a:bodyPr>
          <a:lstStyle/>
          <a:p>
            <a:endParaRPr lang="en-US">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206091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A6B4647D-E562-1585-DA61-647B34FAF8FC}"/>
              </a:ext>
            </a:extLst>
          </p:cNvPr>
          <p:cNvSpPr>
            <a:spLocks noGrp="1"/>
          </p:cNvSpPr>
          <p:nvPr>
            <p:ph type="title"/>
          </p:nvPr>
        </p:nvSpPr>
        <p:spPr>
          <a:xfrm>
            <a:off x="640080" y="1243013"/>
            <a:ext cx="3855720" cy="4371974"/>
          </a:xfrm>
        </p:spPr>
        <p:txBody>
          <a:bodyPr>
            <a:normAutofit/>
          </a:bodyPr>
          <a:lstStyle/>
          <a:p>
            <a:r>
              <a:rPr lang="en-US" sz="2000">
                <a:solidFill>
                  <a:schemeClr val="tx2"/>
                </a:solidFill>
              </a:rPr>
              <a:t>Answer: b</a:t>
            </a:r>
            <a:br>
              <a:rPr lang="en-US" sz="2000">
                <a:solidFill>
                  <a:schemeClr val="tx2"/>
                </a:solidFill>
              </a:rPr>
            </a:br>
            <a:r>
              <a:rPr lang="en-US" sz="2000">
                <a:solidFill>
                  <a:schemeClr val="tx2"/>
                </a:solidFill>
              </a:rPr>
              <a:t>Nasopharyngitis, commonly known as the common cold, is typically viral and self-limiting, meaning it will resolve on its own over time. Treatment focuses on relieving symptoms such as congestion, fever, and sore throat using supportive measures, such as hydration, rest, and fever-reducing medications. Antibiotics are not effective for viral infections, and cough suppressants should be used cautiously in young children. Aspirin is contraindicated in children</a:t>
            </a:r>
          </a:p>
        </p:txBody>
      </p:sp>
      <p:sp>
        <p:nvSpPr>
          <p:cNvPr id="3" name="Content Placeholder 2">
            <a:extLst>
              <a:ext uri="{FF2B5EF4-FFF2-40B4-BE49-F238E27FC236}">
                <a16:creationId xmlns:a16="http://schemas.microsoft.com/office/drawing/2014/main" id="{0B9DFD63-AEE6-79A3-B08C-555196070877}"/>
              </a:ext>
            </a:extLst>
          </p:cNvPr>
          <p:cNvSpPr>
            <a:spLocks noGrp="1"/>
          </p:cNvSpPr>
          <p:nvPr>
            <p:ph idx="1"/>
          </p:nvPr>
        </p:nvSpPr>
        <p:spPr>
          <a:xfrm>
            <a:off x="6172200" y="804672"/>
            <a:ext cx="5221224" cy="5230368"/>
          </a:xfrm>
        </p:spPr>
        <p:txBody>
          <a:bodyPr anchor="ctr">
            <a:normAutofit/>
          </a:bodyPr>
          <a:lstStyle/>
          <a:p>
            <a:pPr marL="0" indent="0">
              <a:buNone/>
            </a:pPr>
            <a:r>
              <a:rPr lang="en-US" sz="1800">
                <a:solidFill>
                  <a:schemeClr val="tx2"/>
                </a:solidFill>
              </a:rPr>
              <a:t>A 3-year-old child is diagnosed with nasopharyngitis. The parents are concerned about their child's symptoms and ask the nurse what the best treatment is for this condition. Which of the following responses by the nurse is appropriate?</a:t>
            </a:r>
          </a:p>
          <a:p>
            <a:pPr marL="514350" indent="-514350">
              <a:buAutoNum type="alphaLcPeriod"/>
            </a:pPr>
            <a:r>
              <a:rPr lang="en-US" sz="1800">
                <a:solidFill>
                  <a:schemeClr val="tx2"/>
                </a:solidFill>
              </a:rPr>
              <a:t>“An over-the-counter cough suppressant will help them sleep and heal.“</a:t>
            </a:r>
          </a:p>
          <a:p>
            <a:pPr marL="514350" indent="-514350">
              <a:buAutoNum type="alphaLcPeriod"/>
            </a:pPr>
            <a:r>
              <a:rPr lang="en-US" sz="1800">
                <a:solidFill>
                  <a:schemeClr val="tx2"/>
                </a:solidFill>
              </a:rPr>
              <a:t>"Nasopharyngitis is usually self-limiting, and treatment focuses on relieving symptoms.“</a:t>
            </a:r>
          </a:p>
          <a:p>
            <a:pPr marL="514350" indent="-514350">
              <a:buAutoNum type="alphaLcPeriod"/>
            </a:pPr>
            <a:r>
              <a:rPr lang="en-US" sz="1800">
                <a:solidFill>
                  <a:schemeClr val="tx2"/>
                </a:solidFill>
              </a:rPr>
              <a:t>"Antibiotics will help clear the infection faster, so I will request a prescription.“</a:t>
            </a:r>
          </a:p>
          <a:p>
            <a:pPr marL="514350" indent="-514350">
              <a:buAutoNum type="alphaLcPeriod"/>
            </a:pPr>
            <a:r>
              <a:rPr lang="en-US" sz="1800">
                <a:solidFill>
                  <a:schemeClr val="tx2"/>
                </a:solidFill>
              </a:rPr>
              <a:t>“Aspirin can be used as a fever reducer for this illness."</a:t>
            </a:r>
          </a:p>
          <a:p>
            <a:endParaRPr lang="en-US" sz="1800">
              <a:solidFill>
                <a:schemeClr val="tx2"/>
              </a:solidFill>
            </a:endParaRPr>
          </a:p>
        </p:txBody>
      </p:sp>
    </p:spTree>
    <p:extLst>
      <p:ext uri="{BB962C8B-B14F-4D97-AF65-F5344CB8AC3E}">
        <p14:creationId xmlns:p14="http://schemas.microsoft.com/office/powerpoint/2010/main" val="2427948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CCF29161-F560-F066-F65D-4E7E190E301F}"/>
              </a:ext>
            </a:extLst>
          </p:cNvPr>
          <p:cNvSpPr>
            <a:spLocks noGrp="1"/>
          </p:cNvSpPr>
          <p:nvPr>
            <p:ph idx="1"/>
          </p:nvPr>
        </p:nvSpPr>
        <p:spPr>
          <a:xfrm>
            <a:off x="1614196" y="765110"/>
            <a:ext cx="7145937" cy="4645090"/>
          </a:xfrm>
        </p:spPr>
        <p:txBody>
          <a:bodyPr anchor="t">
            <a:normAutofit/>
          </a:bodyPr>
          <a:lstStyle/>
          <a:p>
            <a:pPr marL="0" indent="0">
              <a:buNone/>
            </a:pPr>
            <a:r>
              <a:rPr lang="en-US" sz="2400" b="0" i="0" dirty="0">
                <a:solidFill>
                  <a:schemeClr val="tx2"/>
                </a:solidFill>
                <a:effectLst/>
                <a:latin typeface="open sans" panose="020B0606030504020204" pitchFamily="34" charset="0"/>
              </a:rPr>
              <a:t>A nurse is caring for a child on a clear liquid diet following a tonsillectomy. </a:t>
            </a:r>
            <a:r>
              <a:rPr lang="en-US" sz="2400" dirty="0">
                <a:solidFill>
                  <a:schemeClr val="tx2"/>
                </a:solidFill>
                <a:latin typeface="open sans" panose="020B0606030504020204" pitchFamily="34" charset="0"/>
              </a:rPr>
              <a:t>T</a:t>
            </a:r>
            <a:r>
              <a:rPr lang="en-US" sz="2400" b="0" i="0" dirty="0">
                <a:solidFill>
                  <a:schemeClr val="tx2"/>
                </a:solidFill>
                <a:effectLst/>
                <a:latin typeface="open sans" panose="020B0606030504020204" pitchFamily="34" charset="0"/>
              </a:rPr>
              <a:t>he child consumed ½ cup of juice, 3 oz gelatin, and 1 oz of an ice pop. How many mL should the nurse record as the child's fluid intake?</a:t>
            </a:r>
          </a:p>
          <a:p>
            <a:pPr marL="0" indent="0">
              <a:buNone/>
            </a:pPr>
            <a:endParaRPr lang="en-US" sz="2400" dirty="0">
              <a:solidFill>
                <a:schemeClr val="tx2"/>
              </a:solidFill>
              <a:latin typeface="open sans" panose="020B0606030504020204" pitchFamily="34" charset="0"/>
            </a:endParaRPr>
          </a:p>
          <a:p>
            <a:pPr marL="0" indent="0">
              <a:buNone/>
            </a:pPr>
            <a:r>
              <a:rPr lang="en-US" sz="2400" dirty="0">
                <a:solidFill>
                  <a:schemeClr val="tx2"/>
                </a:solidFill>
                <a:latin typeface="open sans" panose="020B0606030504020204" pitchFamily="34" charset="0"/>
              </a:rPr>
              <a:t>Answer: 240 mL</a:t>
            </a:r>
          </a:p>
          <a:p>
            <a:pPr marL="0" indent="0">
              <a:buNone/>
            </a:pPr>
            <a:r>
              <a:rPr lang="en-US" sz="2400" dirty="0">
                <a:solidFill>
                  <a:schemeClr val="tx2"/>
                </a:solidFill>
                <a:latin typeface="open sans" panose="020B0606030504020204" pitchFamily="34" charset="0"/>
              </a:rPr>
              <a:t>0.5 cup x 8 oz/1cup x 30 mL/1 oz = 120 mL</a:t>
            </a:r>
          </a:p>
          <a:p>
            <a:pPr marL="0" indent="0">
              <a:buNone/>
            </a:pPr>
            <a:r>
              <a:rPr lang="en-US" sz="2400" dirty="0">
                <a:solidFill>
                  <a:schemeClr val="tx2"/>
                </a:solidFill>
                <a:latin typeface="open sans" panose="020B0606030504020204" pitchFamily="34" charset="0"/>
              </a:rPr>
              <a:t>4 oz x 30 mL/1oz = 120 mL</a:t>
            </a:r>
          </a:p>
          <a:p>
            <a:pPr marL="0" indent="0">
              <a:buNone/>
            </a:pPr>
            <a:r>
              <a:rPr lang="en-US" sz="2400" dirty="0">
                <a:solidFill>
                  <a:schemeClr val="tx2"/>
                </a:solidFill>
                <a:latin typeface="open sans" panose="020B0606030504020204" pitchFamily="34" charset="0"/>
              </a:rPr>
              <a:t>120 mL + 120 mL = 240 mL</a:t>
            </a:r>
            <a:endParaRPr lang="en-US" sz="2400" dirty="0">
              <a:solidFill>
                <a:schemeClr val="tx2"/>
              </a:solidFill>
            </a:endParaRPr>
          </a:p>
        </p:txBody>
      </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886320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8D1BA28D-FAA9-786B-A334-17DD82EBB112}"/>
              </a:ext>
            </a:extLst>
          </p:cNvPr>
          <p:cNvSpPr>
            <a:spLocks noGrp="1"/>
          </p:cNvSpPr>
          <p:nvPr>
            <p:ph type="title"/>
          </p:nvPr>
        </p:nvSpPr>
        <p:spPr>
          <a:xfrm>
            <a:off x="640080" y="1243013"/>
            <a:ext cx="3855720" cy="4371974"/>
          </a:xfrm>
        </p:spPr>
        <p:txBody>
          <a:bodyPr>
            <a:normAutofit/>
          </a:bodyPr>
          <a:lstStyle/>
          <a:p>
            <a:r>
              <a:rPr lang="en-US" sz="3300">
                <a:solidFill>
                  <a:schemeClr val="tx2"/>
                </a:solidFill>
              </a:rPr>
              <a:t>Answer: b</a:t>
            </a:r>
            <a:br>
              <a:rPr lang="en-US" sz="3300">
                <a:solidFill>
                  <a:schemeClr val="tx2"/>
                </a:solidFill>
              </a:rPr>
            </a:br>
            <a:r>
              <a:rPr lang="en-US" sz="3300">
                <a:solidFill>
                  <a:schemeClr val="tx2"/>
                </a:solidFill>
              </a:rPr>
              <a:t>Using a bulb syringe to clear the infant’s nasal passages before feeding can help relieve nasal congestion and make it easier for the infant to feed. </a:t>
            </a:r>
          </a:p>
        </p:txBody>
      </p:sp>
      <p:sp>
        <p:nvSpPr>
          <p:cNvPr id="3" name="Content Placeholder 2">
            <a:extLst>
              <a:ext uri="{FF2B5EF4-FFF2-40B4-BE49-F238E27FC236}">
                <a16:creationId xmlns:a16="http://schemas.microsoft.com/office/drawing/2014/main" id="{57EC6222-BE77-7B4E-E6FE-0FE58257DB2A}"/>
              </a:ext>
            </a:extLst>
          </p:cNvPr>
          <p:cNvSpPr>
            <a:spLocks noGrp="1"/>
          </p:cNvSpPr>
          <p:nvPr>
            <p:ph idx="1"/>
          </p:nvPr>
        </p:nvSpPr>
        <p:spPr>
          <a:xfrm>
            <a:off x="6172200" y="804672"/>
            <a:ext cx="5221224" cy="5230368"/>
          </a:xfrm>
        </p:spPr>
        <p:txBody>
          <a:bodyPr anchor="ctr">
            <a:normAutofit/>
          </a:bodyPr>
          <a:lstStyle/>
          <a:p>
            <a:pPr marL="0" indent="0">
              <a:buNone/>
            </a:pPr>
            <a:r>
              <a:rPr lang="en-US" sz="1800">
                <a:solidFill>
                  <a:schemeClr val="tx2"/>
                </a:solidFill>
              </a:rPr>
              <a:t>A 4-month-old infant with RSV is being treated in the pediatric unit. The parents are concerned about the child’s difficulty feeding due to nasal congestion. Which of the following actions should the nurse recommend to the parents to help with feeding?</a:t>
            </a:r>
          </a:p>
          <a:p>
            <a:pPr marL="514350" indent="-514350">
              <a:buAutoNum type="alphaLcPeriod"/>
            </a:pPr>
            <a:r>
              <a:rPr lang="en-US" sz="1800">
                <a:solidFill>
                  <a:schemeClr val="tx2"/>
                </a:solidFill>
              </a:rPr>
              <a:t>Insert a nasogastric tube for all feedings</a:t>
            </a:r>
          </a:p>
          <a:p>
            <a:pPr marL="514350" indent="-514350">
              <a:buAutoNum type="alphaLcPeriod"/>
            </a:pPr>
            <a:r>
              <a:rPr lang="en-US" sz="1800">
                <a:solidFill>
                  <a:schemeClr val="tx2"/>
                </a:solidFill>
              </a:rPr>
              <a:t>Use a bulb syringe to clear the infant’s nose before feedings</a:t>
            </a:r>
          </a:p>
          <a:p>
            <a:pPr marL="514350" indent="-514350">
              <a:buAutoNum type="alphaLcPeriod"/>
            </a:pPr>
            <a:r>
              <a:rPr lang="en-US" sz="1800">
                <a:solidFill>
                  <a:schemeClr val="tx2"/>
                </a:solidFill>
              </a:rPr>
              <a:t>Administer a dose of acetaminophen before each feeding</a:t>
            </a:r>
          </a:p>
          <a:p>
            <a:pPr marL="514350" indent="-514350">
              <a:buAutoNum type="alphaLcPeriod"/>
            </a:pPr>
            <a:r>
              <a:rPr lang="en-US" sz="1800">
                <a:solidFill>
                  <a:schemeClr val="tx2"/>
                </a:solidFill>
              </a:rPr>
              <a:t>Feed the infant in a reclining position to make swallowing easier</a:t>
            </a:r>
          </a:p>
          <a:p>
            <a:endParaRPr lang="en-US" sz="1800">
              <a:solidFill>
                <a:schemeClr val="tx2"/>
              </a:solidFill>
            </a:endParaRPr>
          </a:p>
        </p:txBody>
      </p:sp>
    </p:spTree>
    <p:extLst>
      <p:ext uri="{BB962C8B-B14F-4D97-AF65-F5344CB8AC3E}">
        <p14:creationId xmlns:p14="http://schemas.microsoft.com/office/powerpoint/2010/main" val="2799164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09D599A9-6540-2B23-6E41-006B736F5AE6}"/>
              </a:ext>
            </a:extLst>
          </p:cNvPr>
          <p:cNvSpPr>
            <a:spLocks noGrp="1"/>
          </p:cNvSpPr>
          <p:nvPr>
            <p:ph type="title"/>
          </p:nvPr>
        </p:nvSpPr>
        <p:spPr>
          <a:xfrm>
            <a:off x="1179226" y="1280679"/>
            <a:ext cx="9833548" cy="1325563"/>
          </a:xfrm>
        </p:spPr>
        <p:txBody>
          <a:bodyPr anchor="b">
            <a:normAutofit/>
          </a:bodyPr>
          <a:lstStyle/>
          <a:p>
            <a:pPr algn="ctr"/>
            <a:r>
              <a:rPr lang="en-US" sz="1400" dirty="0">
                <a:solidFill>
                  <a:schemeClr val="tx2"/>
                </a:solidFill>
              </a:rPr>
              <a:t>Answer: b</a:t>
            </a:r>
            <a:br>
              <a:rPr lang="en-US" sz="1400" dirty="0"/>
            </a:br>
            <a:r>
              <a:rPr lang="en-US" sz="1400" dirty="0">
                <a:solidFill>
                  <a:schemeClr val="tx2"/>
                </a:solidFill>
              </a:rPr>
              <a:t>Cool mist can help moisten the airway and ease of breathing. OTC cough suppressants are not indicated in infants and young children. Water is not recommended for hydration </a:t>
            </a:r>
            <a:r>
              <a:rPr lang="en-US" sz="1400">
                <a:solidFill>
                  <a:schemeClr val="tx2"/>
                </a:solidFill>
              </a:rPr>
              <a:t>in young</a:t>
            </a:r>
            <a:r>
              <a:rPr lang="en-US" sz="1400" dirty="0">
                <a:solidFill>
                  <a:schemeClr val="tx2"/>
                </a:solidFill>
              </a:rPr>
              <a:t> infants. Parents should seek medical attention if the child exhibits signs of distress or worsening symptoms, such as difficulty breathing, lethargy, or poor feeding, even if the breathing is not yet rapid. Delaying care can lead to complications, so early intervention is crucial.</a:t>
            </a:r>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72F340B-819C-9675-5565-27D4AB263731}"/>
              </a:ext>
            </a:extLst>
          </p:cNvPr>
          <p:cNvSpPr>
            <a:spLocks noGrp="1"/>
          </p:cNvSpPr>
          <p:nvPr>
            <p:ph idx="1"/>
          </p:nvPr>
        </p:nvSpPr>
        <p:spPr>
          <a:xfrm>
            <a:off x="1179226" y="2890979"/>
            <a:ext cx="9833548" cy="2693976"/>
          </a:xfrm>
        </p:spPr>
        <p:txBody>
          <a:bodyPr>
            <a:normAutofit/>
          </a:bodyPr>
          <a:lstStyle/>
          <a:p>
            <a:pPr marL="0" indent="0">
              <a:buNone/>
            </a:pPr>
            <a:r>
              <a:rPr lang="en-US" sz="1800">
                <a:solidFill>
                  <a:schemeClr val="tx2"/>
                </a:solidFill>
              </a:rPr>
              <a:t>A 3-month-old infant is diagnosed with RSV. The nurse is teaching the parents about managing the infection at home. Which statement by the parents indicates a need for further teaching?</a:t>
            </a:r>
          </a:p>
          <a:p>
            <a:pPr marL="514350" indent="-514350">
              <a:buAutoNum type="alphaLcPeriod"/>
            </a:pPr>
            <a:r>
              <a:rPr lang="en-US" sz="1800">
                <a:solidFill>
                  <a:schemeClr val="tx2"/>
                </a:solidFill>
              </a:rPr>
              <a:t>"We will use a cool-mist humidifier in the baby’s room.“</a:t>
            </a:r>
          </a:p>
          <a:p>
            <a:pPr marL="514350" indent="-514350">
              <a:buAutoNum type="alphaLcPeriod"/>
            </a:pPr>
            <a:r>
              <a:rPr lang="en-US" sz="1800">
                <a:solidFill>
                  <a:schemeClr val="tx2"/>
                </a:solidFill>
              </a:rPr>
              <a:t>"We will keep the baby well-hydrated with water.“</a:t>
            </a:r>
          </a:p>
          <a:p>
            <a:pPr marL="514350" indent="-514350">
              <a:buAutoNum type="alphaLcPeriod"/>
            </a:pPr>
            <a:r>
              <a:rPr lang="en-US" sz="1800">
                <a:solidFill>
                  <a:schemeClr val="tx2"/>
                </a:solidFill>
              </a:rPr>
              <a:t>"We should avoid giving the baby any over-the-counter cough medications.“</a:t>
            </a:r>
          </a:p>
          <a:p>
            <a:pPr marL="514350" indent="-514350">
              <a:buAutoNum type="alphaLcPeriod"/>
            </a:pPr>
            <a:r>
              <a:rPr lang="en-US" sz="1800">
                <a:solidFill>
                  <a:schemeClr val="tx2"/>
                </a:solidFill>
              </a:rPr>
              <a:t>"We should call the provider if their breathing becomes rapid."</a:t>
            </a:r>
          </a:p>
          <a:p>
            <a:endParaRPr lang="en-US" sz="180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6000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D4989AE-03B1-6A7C-03E1-00B8113CBC14}"/>
              </a:ext>
            </a:extLst>
          </p:cNvPr>
          <p:cNvSpPr>
            <a:spLocks noGrp="1"/>
          </p:cNvSpPr>
          <p:nvPr>
            <p:ph type="title"/>
          </p:nvPr>
        </p:nvSpPr>
        <p:spPr>
          <a:xfrm>
            <a:off x="640080" y="1243013"/>
            <a:ext cx="3855720" cy="4371974"/>
          </a:xfrm>
        </p:spPr>
        <p:txBody>
          <a:bodyPr>
            <a:normAutofit/>
          </a:bodyPr>
          <a:lstStyle/>
          <a:p>
            <a:r>
              <a:rPr lang="en-US" sz="2000">
                <a:solidFill>
                  <a:schemeClr val="tx2"/>
                </a:solidFill>
              </a:rPr>
              <a:t>Answer: a</a:t>
            </a:r>
            <a:br>
              <a:rPr lang="en-US" sz="2000">
                <a:solidFill>
                  <a:schemeClr val="tx2"/>
                </a:solidFill>
              </a:rPr>
            </a:br>
            <a:r>
              <a:rPr lang="en-US" sz="2000">
                <a:solidFill>
                  <a:schemeClr val="tx2"/>
                </a:solidFill>
              </a:rPr>
              <a:t>Stridor at rest and increasing agitation indicate worsening respiratory distress in a child with croup. The priority intervention is to administer racemic epinephrine, which can provide rapid relief by reducing airway edema and improving airflow. Although monitoring oxygen saturation and providing emotional support are important, addressing the respiratory distress with epinephrine is the immediate priority.</a:t>
            </a:r>
          </a:p>
        </p:txBody>
      </p:sp>
      <p:sp>
        <p:nvSpPr>
          <p:cNvPr id="3" name="Content Placeholder 2">
            <a:extLst>
              <a:ext uri="{FF2B5EF4-FFF2-40B4-BE49-F238E27FC236}">
                <a16:creationId xmlns:a16="http://schemas.microsoft.com/office/drawing/2014/main" id="{372D9DB6-BD5D-73B0-DB68-0FE847942557}"/>
              </a:ext>
            </a:extLst>
          </p:cNvPr>
          <p:cNvSpPr>
            <a:spLocks noGrp="1"/>
          </p:cNvSpPr>
          <p:nvPr>
            <p:ph idx="1"/>
          </p:nvPr>
        </p:nvSpPr>
        <p:spPr>
          <a:xfrm>
            <a:off x="6172200" y="804672"/>
            <a:ext cx="5221224" cy="5230368"/>
          </a:xfrm>
        </p:spPr>
        <p:txBody>
          <a:bodyPr anchor="ctr">
            <a:normAutofit/>
          </a:bodyPr>
          <a:lstStyle/>
          <a:p>
            <a:pPr marL="0" indent="0">
              <a:buNone/>
            </a:pPr>
            <a:r>
              <a:rPr lang="en-US" sz="1800">
                <a:solidFill>
                  <a:schemeClr val="tx2"/>
                </a:solidFill>
              </a:rPr>
              <a:t>A 4-year-old child with croup is being monitored in the emergency department. The nurse notes that the child is increasingly agitated and experiencing stridor at rest. The child’s oxygen saturation is 92%. Which of the following actions should the nurse take first?</a:t>
            </a:r>
          </a:p>
          <a:p>
            <a:pPr marL="514350" indent="-514350">
              <a:buAutoNum type="alphaLcPeriod"/>
            </a:pPr>
            <a:r>
              <a:rPr lang="en-US" sz="1800">
                <a:solidFill>
                  <a:schemeClr val="tx2"/>
                </a:solidFill>
              </a:rPr>
              <a:t>Administer nebulized racemic epinephrine as prescribed</a:t>
            </a:r>
          </a:p>
          <a:p>
            <a:pPr marL="514350" indent="-514350">
              <a:buAutoNum type="alphaLcPeriod"/>
            </a:pPr>
            <a:r>
              <a:rPr lang="en-US" sz="1800">
                <a:solidFill>
                  <a:schemeClr val="tx2"/>
                </a:solidFill>
              </a:rPr>
              <a:t>Offer the child a popsicle to soothe the throat</a:t>
            </a:r>
          </a:p>
          <a:p>
            <a:pPr marL="514350" indent="-514350">
              <a:buAutoNum type="alphaLcPeriod"/>
            </a:pPr>
            <a:r>
              <a:rPr lang="en-US" sz="1800">
                <a:solidFill>
                  <a:schemeClr val="tx2"/>
                </a:solidFill>
              </a:rPr>
              <a:t>Encourage the parents to stay with the child and calm them</a:t>
            </a:r>
          </a:p>
          <a:p>
            <a:pPr marL="514350" indent="-514350">
              <a:buAutoNum type="alphaLcPeriod"/>
            </a:pPr>
            <a:r>
              <a:rPr lang="en-US" sz="1800">
                <a:solidFill>
                  <a:schemeClr val="tx2"/>
                </a:solidFill>
              </a:rPr>
              <a:t>Initiate continuous pulse oximetry and monitor for changes</a:t>
            </a:r>
          </a:p>
          <a:p>
            <a:endParaRPr lang="en-US" sz="1800">
              <a:solidFill>
                <a:schemeClr val="tx2"/>
              </a:solidFill>
            </a:endParaRPr>
          </a:p>
        </p:txBody>
      </p:sp>
    </p:spTree>
    <p:extLst>
      <p:ext uri="{BB962C8B-B14F-4D97-AF65-F5344CB8AC3E}">
        <p14:creationId xmlns:p14="http://schemas.microsoft.com/office/powerpoint/2010/main" val="2318641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EB91FEDC-44A9-2FFC-5728-3D81BA3008C8}"/>
              </a:ext>
            </a:extLst>
          </p:cNvPr>
          <p:cNvSpPr>
            <a:spLocks noGrp="1"/>
          </p:cNvSpPr>
          <p:nvPr>
            <p:ph idx="1"/>
          </p:nvPr>
        </p:nvSpPr>
        <p:spPr>
          <a:xfrm>
            <a:off x="2127380" y="849086"/>
            <a:ext cx="6632753" cy="4561114"/>
          </a:xfrm>
        </p:spPr>
        <p:txBody>
          <a:bodyPr anchor="t">
            <a:normAutofit/>
          </a:bodyPr>
          <a:lstStyle/>
          <a:p>
            <a:pPr marL="0" indent="0">
              <a:buNone/>
            </a:pPr>
            <a:r>
              <a:rPr lang="en-US" sz="1800" b="0" i="0" dirty="0">
                <a:solidFill>
                  <a:schemeClr val="tx2"/>
                </a:solidFill>
                <a:effectLst/>
                <a:latin typeface="open sans" panose="020B0606030504020204" pitchFamily="34" charset="0"/>
              </a:rPr>
              <a:t>A nurse is preparing to administer acetaminophen 10 mg/kg/dose to a child who weighs 32 lb. The amount available is acetaminophen 120 mg/5 </a:t>
            </a:r>
            <a:r>
              <a:rPr lang="en-US" sz="1800" b="0" i="0" dirty="0" err="1">
                <a:solidFill>
                  <a:schemeClr val="tx2"/>
                </a:solidFill>
                <a:effectLst/>
                <a:latin typeface="open sans" panose="020B0606030504020204" pitchFamily="34" charset="0"/>
              </a:rPr>
              <a:t>mL.</a:t>
            </a:r>
            <a:r>
              <a:rPr lang="en-US" sz="1800" b="0" i="0" dirty="0">
                <a:solidFill>
                  <a:schemeClr val="tx2"/>
                </a:solidFill>
                <a:effectLst/>
                <a:latin typeface="open sans" panose="020B0606030504020204" pitchFamily="34" charset="0"/>
              </a:rPr>
              <a:t> How many mL should the nurse administer? (Round the answer to the nearest tenth. Use a leading zero if it applies. Do not use a trailing zero.)</a:t>
            </a:r>
          </a:p>
          <a:p>
            <a:pPr marL="0" indent="0">
              <a:buNone/>
            </a:pPr>
            <a:endParaRPr lang="en-US" sz="1800" dirty="0">
              <a:solidFill>
                <a:schemeClr val="tx2"/>
              </a:solidFill>
              <a:latin typeface="open sans" panose="020B0606030504020204" pitchFamily="34" charset="0"/>
            </a:endParaRPr>
          </a:p>
          <a:p>
            <a:pPr marL="0" indent="0">
              <a:buNone/>
            </a:pPr>
            <a:r>
              <a:rPr lang="en-US" sz="1800" dirty="0">
                <a:solidFill>
                  <a:schemeClr val="tx2"/>
                </a:solidFill>
                <a:latin typeface="open sans" panose="020B0606030504020204" pitchFamily="34" charset="0"/>
              </a:rPr>
              <a:t>Answer: 6.1 mL</a:t>
            </a:r>
          </a:p>
          <a:p>
            <a:pPr marL="0" indent="0">
              <a:buNone/>
            </a:pPr>
            <a:r>
              <a:rPr lang="en-US" sz="1800" dirty="0">
                <a:solidFill>
                  <a:schemeClr val="tx2"/>
                </a:solidFill>
                <a:latin typeface="open sans" panose="020B0606030504020204" pitchFamily="34" charset="0"/>
              </a:rPr>
              <a:t>32 </a:t>
            </a:r>
            <a:r>
              <a:rPr lang="en-US" sz="1800" dirty="0" err="1">
                <a:solidFill>
                  <a:schemeClr val="tx2"/>
                </a:solidFill>
                <a:latin typeface="open sans" panose="020B0606030504020204" pitchFamily="34" charset="0"/>
              </a:rPr>
              <a:t>lb</a:t>
            </a:r>
            <a:r>
              <a:rPr lang="en-US" sz="1800" dirty="0">
                <a:solidFill>
                  <a:schemeClr val="tx2"/>
                </a:solidFill>
                <a:latin typeface="open sans" panose="020B0606030504020204" pitchFamily="34" charset="0"/>
              </a:rPr>
              <a:t> x 1kg/2.2 </a:t>
            </a:r>
            <a:r>
              <a:rPr lang="en-US" sz="1800" dirty="0" err="1">
                <a:solidFill>
                  <a:schemeClr val="tx2"/>
                </a:solidFill>
                <a:latin typeface="open sans" panose="020B0606030504020204" pitchFamily="34" charset="0"/>
              </a:rPr>
              <a:t>lb</a:t>
            </a:r>
            <a:r>
              <a:rPr lang="en-US" sz="1800" dirty="0">
                <a:solidFill>
                  <a:schemeClr val="tx2"/>
                </a:solidFill>
                <a:latin typeface="open sans" panose="020B0606030504020204" pitchFamily="34" charset="0"/>
              </a:rPr>
              <a:t>= 14.54545 kg</a:t>
            </a:r>
          </a:p>
          <a:p>
            <a:pPr marL="0" indent="0">
              <a:buNone/>
            </a:pPr>
            <a:r>
              <a:rPr lang="en-US" sz="1800" dirty="0">
                <a:solidFill>
                  <a:schemeClr val="tx2"/>
                </a:solidFill>
                <a:latin typeface="open sans" panose="020B0606030504020204" pitchFamily="34" charset="0"/>
              </a:rPr>
              <a:t>14.54545 kg x 10 mg/kg/dose = 145.4545 mg/dose</a:t>
            </a:r>
          </a:p>
          <a:p>
            <a:pPr marL="0" indent="0">
              <a:buNone/>
            </a:pPr>
            <a:r>
              <a:rPr lang="en-US" sz="1800" dirty="0">
                <a:solidFill>
                  <a:schemeClr val="tx2"/>
                </a:solidFill>
                <a:latin typeface="open sans" panose="020B0606030504020204" pitchFamily="34" charset="0"/>
              </a:rPr>
              <a:t>145.4545 mg/dose x 5 mL/120 mg = 6.0606 mL/dose = 6.1 mL</a:t>
            </a:r>
            <a:endParaRPr lang="en-US" sz="1800" dirty="0">
              <a:solidFill>
                <a:schemeClr val="tx2"/>
              </a:solidFill>
            </a:endParaRPr>
          </a:p>
        </p:txBody>
      </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124781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0DF066B-7D83-314B-0E40-715990105E12}"/>
              </a:ext>
            </a:extLst>
          </p:cNvPr>
          <p:cNvSpPr>
            <a:spLocks noGrp="1"/>
          </p:cNvSpPr>
          <p:nvPr>
            <p:ph type="title"/>
          </p:nvPr>
        </p:nvSpPr>
        <p:spPr>
          <a:xfrm>
            <a:off x="640080" y="1243013"/>
            <a:ext cx="3855720" cy="4371974"/>
          </a:xfrm>
        </p:spPr>
        <p:txBody>
          <a:bodyPr>
            <a:normAutofit/>
          </a:bodyPr>
          <a:lstStyle/>
          <a:p>
            <a:r>
              <a:rPr lang="en-US" sz="2500">
                <a:solidFill>
                  <a:schemeClr val="tx2"/>
                </a:solidFill>
              </a:rPr>
              <a:t>Answer: a</a:t>
            </a:r>
            <a:br>
              <a:rPr lang="en-US" sz="2500">
                <a:solidFill>
                  <a:schemeClr val="tx2"/>
                </a:solidFill>
              </a:rPr>
            </a:br>
            <a:r>
              <a:rPr lang="en-US" sz="2500">
                <a:solidFill>
                  <a:schemeClr val="tx2"/>
                </a:solidFill>
              </a:rPr>
              <a:t>The priority intervention is to administer a bronchodilator to relieve bronchospasm and improve airflow, which is critical in acute asthma exacerbations. Oxygen can be provided if needed, but the immediate focus is on relieving airway obstruction with the bronchodilator.</a:t>
            </a:r>
          </a:p>
        </p:txBody>
      </p:sp>
      <p:sp>
        <p:nvSpPr>
          <p:cNvPr id="3" name="Content Placeholder 2">
            <a:extLst>
              <a:ext uri="{FF2B5EF4-FFF2-40B4-BE49-F238E27FC236}">
                <a16:creationId xmlns:a16="http://schemas.microsoft.com/office/drawing/2014/main" id="{7C503A58-5827-F31C-1850-4E175C3C4F7B}"/>
              </a:ext>
            </a:extLst>
          </p:cNvPr>
          <p:cNvSpPr>
            <a:spLocks noGrp="1"/>
          </p:cNvSpPr>
          <p:nvPr>
            <p:ph idx="1"/>
          </p:nvPr>
        </p:nvSpPr>
        <p:spPr>
          <a:xfrm>
            <a:off x="6172200" y="804672"/>
            <a:ext cx="5221224" cy="5230368"/>
          </a:xfrm>
        </p:spPr>
        <p:txBody>
          <a:bodyPr anchor="ctr">
            <a:normAutofit/>
          </a:bodyPr>
          <a:lstStyle/>
          <a:p>
            <a:pPr marL="0" indent="0">
              <a:buNone/>
            </a:pPr>
            <a:r>
              <a:rPr lang="en-US" sz="1800">
                <a:solidFill>
                  <a:schemeClr val="tx2"/>
                </a:solidFill>
              </a:rPr>
              <a:t>A 7-year-old child with asthma is admitted to the emergency department in acute respiratory distress. The child is using accessory muscles to breathe, has a wheezing sound, and a respiratory rate of 32 breaths per minute. Which of the following interventions should the nurse perform first?</a:t>
            </a:r>
          </a:p>
          <a:p>
            <a:pPr marL="514350" indent="-514350">
              <a:buAutoNum type="alphaLcPeriod"/>
            </a:pPr>
            <a:r>
              <a:rPr lang="en-US" sz="1800">
                <a:solidFill>
                  <a:schemeClr val="tx2"/>
                </a:solidFill>
              </a:rPr>
              <a:t>Administer a nebulized bronchodilator as prescribed</a:t>
            </a:r>
          </a:p>
          <a:p>
            <a:pPr marL="514350" indent="-514350">
              <a:buAutoNum type="alphaLcPeriod"/>
            </a:pPr>
            <a:r>
              <a:rPr lang="en-US" sz="1800">
                <a:solidFill>
                  <a:schemeClr val="tx2"/>
                </a:solidFill>
              </a:rPr>
              <a:t>Obtains a chest x-ray to assess for pneumonia</a:t>
            </a:r>
          </a:p>
          <a:p>
            <a:pPr marL="514350" indent="-514350">
              <a:buAutoNum type="alphaLcPeriod"/>
            </a:pPr>
            <a:r>
              <a:rPr lang="en-US" sz="1800">
                <a:solidFill>
                  <a:schemeClr val="tx2"/>
                </a:solidFill>
              </a:rPr>
              <a:t>Provide supplemental oxygen to maintain SpO2 above 95%</a:t>
            </a:r>
          </a:p>
          <a:p>
            <a:pPr marL="514350" indent="-514350">
              <a:buAutoNum type="alphaLcPeriod"/>
            </a:pPr>
            <a:r>
              <a:rPr lang="en-US" sz="1800">
                <a:solidFill>
                  <a:schemeClr val="tx2"/>
                </a:solidFill>
              </a:rPr>
              <a:t>Assess for a history of recent upper respiratory infections</a:t>
            </a:r>
          </a:p>
          <a:p>
            <a:endParaRPr lang="en-US" sz="1800">
              <a:solidFill>
                <a:schemeClr val="tx2"/>
              </a:solidFill>
            </a:endParaRPr>
          </a:p>
        </p:txBody>
      </p:sp>
    </p:spTree>
    <p:extLst>
      <p:ext uri="{BB962C8B-B14F-4D97-AF65-F5344CB8AC3E}">
        <p14:creationId xmlns:p14="http://schemas.microsoft.com/office/powerpoint/2010/main" val="3179541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0CFF6EBF-1C02-A2E7-CD45-CE32EF5DAB59}"/>
              </a:ext>
            </a:extLst>
          </p:cNvPr>
          <p:cNvSpPr>
            <a:spLocks noGrp="1"/>
          </p:cNvSpPr>
          <p:nvPr>
            <p:ph type="title"/>
          </p:nvPr>
        </p:nvSpPr>
        <p:spPr>
          <a:xfrm>
            <a:off x="640080" y="1243013"/>
            <a:ext cx="3855720" cy="4371974"/>
          </a:xfrm>
        </p:spPr>
        <p:txBody>
          <a:bodyPr>
            <a:normAutofit/>
          </a:bodyPr>
          <a:lstStyle/>
          <a:p>
            <a:r>
              <a:rPr lang="en-US" sz="2500">
                <a:solidFill>
                  <a:schemeClr val="tx2"/>
                </a:solidFill>
              </a:rPr>
              <a:t>Answer: b</a:t>
            </a:r>
            <a:br>
              <a:rPr lang="en-US" sz="2500">
                <a:solidFill>
                  <a:schemeClr val="tx2"/>
                </a:solidFill>
              </a:rPr>
            </a:br>
            <a:r>
              <a:rPr lang="en-US" sz="2500">
                <a:solidFill>
                  <a:schemeClr val="tx2"/>
                </a:solidFill>
              </a:rPr>
              <a:t>Asthma exacerbations typically present with sudden worsening of symptoms such as wheezing, coughing, and difficulty breathing, especially after exposure to triggers like allergens or infections. This is a sign of an asthma attack requiring immediate intervention.</a:t>
            </a:r>
          </a:p>
        </p:txBody>
      </p:sp>
      <p:sp>
        <p:nvSpPr>
          <p:cNvPr id="3" name="Content Placeholder 2">
            <a:extLst>
              <a:ext uri="{FF2B5EF4-FFF2-40B4-BE49-F238E27FC236}">
                <a16:creationId xmlns:a16="http://schemas.microsoft.com/office/drawing/2014/main" id="{62B41E56-907E-C051-1F4C-D3B0092AE1D5}"/>
              </a:ext>
            </a:extLst>
          </p:cNvPr>
          <p:cNvSpPr>
            <a:spLocks noGrp="1"/>
          </p:cNvSpPr>
          <p:nvPr>
            <p:ph idx="1"/>
          </p:nvPr>
        </p:nvSpPr>
        <p:spPr>
          <a:xfrm>
            <a:off x="6172200" y="804672"/>
            <a:ext cx="5221224" cy="5230368"/>
          </a:xfrm>
        </p:spPr>
        <p:txBody>
          <a:bodyPr anchor="ctr">
            <a:normAutofit/>
          </a:bodyPr>
          <a:lstStyle/>
          <a:p>
            <a:pPr marL="0" indent="0">
              <a:buNone/>
            </a:pPr>
            <a:r>
              <a:rPr lang="en-US" sz="1800">
                <a:solidFill>
                  <a:schemeClr val="tx2"/>
                </a:solidFill>
              </a:rPr>
              <a:t>The nurse is assessing a 4-year-old child with asthma. Which of the following clinical manifestations would most likely indicate an asthma exacerbation?</a:t>
            </a:r>
          </a:p>
          <a:p>
            <a:pPr marL="514350" indent="-514350">
              <a:buAutoNum type="alphaLcPeriod"/>
            </a:pPr>
            <a:r>
              <a:rPr lang="en-US" sz="1800">
                <a:solidFill>
                  <a:schemeClr val="tx2"/>
                </a:solidFill>
              </a:rPr>
              <a:t>Mild coughing and shortness of breath during exercise</a:t>
            </a:r>
          </a:p>
          <a:p>
            <a:pPr marL="514350" indent="-514350">
              <a:buAutoNum type="alphaLcPeriod"/>
            </a:pPr>
            <a:r>
              <a:rPr lang="en-US" sz="1800">
                <a:solidFill>
                  <a:schemeClr val="tx2"/>
                </a:solidFill>
              </a:rPr>
              <a:t>Sudden onset of increased wheezing and difficulty breathing</a:t>
            </a:r>
          </a:p>
          <a:p>
            <a:pPr marL="514350" indent="-514350">
              <a:buAutoNum type="alphaLcPeriod"/>
            </a:pPr>
            <a:r>
              <a:rPr lang="en-US" sz="1800">
                <a:solidFill>
                  <a:schemeClr val="tx2"/>
                </a:solidFill>
              </a:rPr>
              <a:t>A decrease in wheezing after taking a bronchodilator</a:t>
            </a:r>
          </a:p>
          <a:p>
            <a:pPr marL="514350" indent="-514350">
              <a:buAutoNum type="alphaLcPeriod"/>
            </a:pPr>
            <a:r>
              <a:rPr lang="en-US" sz="1800">
                <a:solidFill>
                  <a:schemeClr val="tx2"/>
                </a:solidFill>
              </a:rPr>
              <a:t>A persistent low-grade fever and increased cough</a:t>
            </a:r>
          </a:p>
          <a:p>
            <a:endParaRPr lang="en-US" sz="1800">
              <a:solidFill>
                <a:schemeClr val="tx2"/>
              </a:solidFill>
            </a:endParaRPr>
          </a:p>
        </p:txBody>
      </p:sp>
    </p:spTree>
    <p:extLst>
      <p:ext uri="{BB962C8B-B14F-4D97-AF65-F5344CB8AC3E}">
        <p14:creationId xmlns:p14="http://schemas.microsoft.com/office/powerpoint/2010/main" val="1955765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450A0C-D870-E9BC-9E6D-9907C7DF2348}"/>
              </a:ext>
            </a:extLst>
          </p:cNvPr>
          <p:cNvSpPr>
            <a:spLocks noGrp="1"/>
          </p:cNvSpPr>
          <p:nvPr>
            <p:ph idx="1"/>
          </p:nvPr>
        </p:nvSpPr>
        <p:spPr>
          <a:xfrm>
            <a:off x="838200" y="600638"/>
            <a:ext cx="10515600" cy="5576325"/>
          </a:xfrm>
        </p:spPr>
        <p:txBody>
          <a:bodyPr vert="horz" lIns="91440" tIns="45720" rIns="91440" bIns="45720" rtlCol="0" anchor="t">
            <a:normAutofit fontScale="85000" lnSpcReduction="20000"/>
          </a:bodyPr>
          <a:lstStyle/>
          <a:p>
            <a:pPr marL="0" indent="0">
              <a:buNone/>
            </a:pPr>
            <a:r>
              <a:rPr lang="en-US" dirty="0">
                <a:ea typeface="+mn-lt"/>
                <a:cs typeface="+mn-lt"/>
              </a:rPr>
              <a:t>A nurse is teaching a child who has asthma how to use a peak flow meter. Which of the following information should the nurse include in the teaching?</a:t>
            </a:r>
          </a:p>
          <a:p>
            <a:pPr marL="514350" indent="-514350">
              <a:buAutoNum type="alphaLcPeriod"/>
            </a:pPr>
            <a:endParaRPr lang="en-US" dirty="0">
              <a:ea typeface="Calibri"/>
              <a:cs typeface="Calibri"/>
            </a:endParaRPr>
          </a:p>
          <a:p>
            <a:pPr marL="514350" indent="-514350">
              <a:buAutoNum type="alphaLcPeriod"/>
            </a:pPr>
            <a:r>
              <a:rPr lang="en-US" dirty="0">
                <a:ea typeface="Calibri"/>
                <a:cs typeface="Calibri"/>
              </a:rPr>
              <a:t>Record the average number of attempts</a:t>
            </a:r>
            <a:endParaRPr lang="en-US" dirty="0"/>
          </a:p>
          <a:p>
            <a:pPr marL="514350" indent="-514350">
              <a:buAutoNum type="alphaLcPeriod"/>
            </a:pPr>
            <a:r>
              <a:rPr lang="en-US" dirty="0">
                <a:ea typeface="Calibri"/>
                <a:cs typeface="Calibri"/>
              </a:rPr>
              <a:t>Perform three attempts</a:t>
            </a:r>
          </a:p>
          <a:p>
            <a:pPr marL="514350" indent="-514350">
              <a:buAutoNum type="alphaLcPeriod"/>
            </a:pPr>
            <a:r>
              <a:rPr lang="en-US" dirty="0">
                <a:ea typeface="Calibri"/>
                <a:cs typeface="Calibri"/>
              </a:rPr>
              <a:t>Deliver a long, slow breath into the meter</a:t>
            </a:r>
          </a:p>
          <a:p>
            <a:pPr marL="514350" indent="-514350">
              <a:buAutoNum type="alphaLcPeriod"/>
            </a:pPr>
            <a:r>
              <a:rPr lang="en-US" dirty="0">
                <a:ea typeface="Calibri"/>
                <a:cs typeface="Calibri"/>
              </a:rPr>
              <a:t>Sit in a chair with feet on the floor</a:t>
            </a:r>
          </a:p>
          <a:p>
            <a:pPr marL="514350" indent="-514350">
              <a:buAutoNum type="alphaLcPeriod"/>
            </a:pPr>
            <a:endParaRPr lang="en-US" dirty="0">
              <a:ea typeface="Calibri"/>
              <a:cs typeface="Calibri"/>
            </a:endParaRPr>
          </a:p>
          <a:p>
            <a:pPr marL="0" indent="0">
              <a:buNone/>
            </a:pPr>
            <a:r>
              <a:rPr lang="en-US" dirty="0">
                <a:ea typeface="Calibri"/>
                <a:cs typeface="Calibri"/>
              </a:rPr>
              <a:t>Answer: b</a:t>
            </a:r>
          </a:p>
          <a:p>
            <a:pPr marL="0" indent="0">
              <a:buNone/>
            </a:pPr>
            <a:r>
              <a:rPr lang="en-US" dirty="0">
                <a:ea typeface="Calibri"/>
                <a:cs typeface="Calibri"/>
              </a:rPr>
              <a:t>Rationale: </a:t>
            </a:r>
            <a:r>
              <a:rPr lang="en-US" dirty="0">
                <a:ea typeface="+mn-lt"/>
                <a:cs typeface="+mn-lt"/>
              </a:rPr>
              <a:t>When teaching a child with asthma to use a peak flow meter, the nurse should instruct the child to perform </a:t>
            </a:r>
            <a:r>
              <a:rPr lang="en-US" b="1" dirty="0">
                <a:ea typeface="+mn-lt"/>
                <a:cs typeface="+mn-lt"/>
              </a:rPr>
              <a:t>three attempts</a:t>
            </a:r>
            <a:r>
              <a:rPr lang="en-US" dirty="0">
                <a:ea typeface="+mn-lt"/>
                <a:cs typeface="+mn-lt"/>
              </a:rPr>
              <a:t> and record the </a:t>
            </a:r>
            <a:r>
              <a:rPr lang="en-US" b="1" dirty="0">
                <a:ea typeface="+mn-lt"/>
                <a:cs typeface="+mn-lt"/>
              </a:rPr>
              <a:t>highest</a:t>
            </a:r>
            <a:r>
              <a:rPr lang="en-US" dirty="0">
                <a:ea typeface="+mn-lt"/>
                <a:cs typeface="+mn-lt"/>
              </a:rPr>
              <a:t> of the three readings—not the average. This ensures the most accurate measurement of peak expiratory flow, which helps monitor asthma control. The child should stand (if possible), take a deep breath in, place the mouthpiece in the mouth, and then </a:t>
            </a:r>
            <a:r>
              <a:rPr lang="en-US" b="1" dirty="0">
                <a:ea typeface="+mn-lt"/>
                <a:cs typeface="+mn-lt"/>
              </a:rPr>
              <a:t>blow out as hard and fast as possible</a:t>
            </a:r>
            <a:r>
              <a:rPr lang="en-US" dirty="0">
                <a:ea typeface="+mn-lt"/>
                <a:cs typeface="+mn-lt"/>
              </a:rPr>
              <a:t>—not a long, slow breath, which would be incorrect for this device. Sitting in a chair is acceptable if standing is not possible, but it is not the preferred or required method unless specified.</a:t>
            </a:r>
            <a:endParaRPr lang="en-US" dirty="0">
              <a:ea typeface="Calibri"/>
              <a:cs typeface="Calibri"/>
            </a:endParaRPr>
          </a:p>
        </p:txBody>
      </p:sp>
    </p:spTree>
    <p:extLst>
      <p:ext uri="{BB962C8B-B14F-4D97-AF65-F5344CB8AC3E}">
        <p14:creationId xmlns:p14="http://schemas.microsoft.com/office/powerpoint/2010/main" val="2116939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576558-D232-1DAC-4537-37AF241FF245}"/>
              </a:ext>
            </a:extLst>
          </p:cNvPr>
          <p:cNvSpPr>
            <a:spLocks noGrp="1"/>
          </p:cNvSpPr>
          <p:nvPr>
            <p:ph idx="1"/>
          </p:nvPr>
        </p:nvSpPr>
        <p:spPr>
          <a:xfrm>
            <a:off x="838200" y="523474"/>
            <a:ext cx="10515600" cy="5653489"/>
          </a:xfrm>
        </p:spPr>
        <p:txBody>
          <a:bodyPr vert="horz" lIns="91440" tIns="45720" rIns="91440" bIns="45720" rtlCol="0" anchor="t">
            <a:normAutofit fontScale="62500" lnSpcReduction="20000"/>
          </a:bodyPr>
          <a:lstStyle/>
          <a:p>
            <a:pPr marL="0" indent="0">
              <a:buNone/>
            </a:pPr>
            <a:r>
              <a:rPr lang="en-US" dirty="0">
                <a:ea typeface="Calibri" panose="020F0502020204030204"/>
                <a:cs typeface="Calibri" panose="020F0502020204030204"/>
              </a:rPr>
              <a:t>A nurse is providing discharge teaching for a child who has cystic fibrosis. Which of the following should the nurse include? </a:t>
            </a:r>
          </a:p>
          <a:p>
            <a:pPr marL="0" indent="0">
              <a:buNone/>
            </a:pPr>
            <a:endParaRPr lang="en-US" dirty="0">
              <a:ea typeface="Calibri" panose="020F0502020204030204"/>
              <a:cs typeface="Calibri" panose="020F0502020204030204"/>
            </a:endParaRPr>
          </a:p>
          <a:p>
            <a:pPr marL="514350" indent="-514350">
              <a:buAutoNum type="alphaLcPeriod"/>
            </a:pPr>
            <a:r>
              <a:rPr lang="en-US" dirty="0">
                <a:ea typeface="Calibri" panose="020F0502020204030204"/>
                <a:cs typeface="Calibri" panose="020F0502020204030204"/>
              </a:rPr>
              <a:t>Administer pancreatic enzymes with meals and snacks.</a:t>
            </a:r>
          </a:p>
          <a:p>
            <a:pPr marL="514350" indent="-514350">
              <a:buAutoNum type="alphaLcPeriod"/>
            </a:pPr>
            <a:r>
              <a:rPr lang="en-US" dirty="0">
                <a:ea typeface="Calibri" panose="020F0502020204030204"/>
                <a:cs typeface="Calibri" panose="020F0502020204030204"/>
              </a:rPr>
              <a:t>Implement a fluid restriction during times of infection.</a:t>
            </a:r>
          </a:p>
          <a:p>
            <a:pPr marL="514350" indent="-514350">
              <a:buAutoNum type="alphaLcPeriod"/>
            </a:pPr>
            <a:r>
              <a:rPr lang="en-US" dirty="0">
                <a:ea typeface="Calibri" panose="020F0502020204030204"/>
                <a:cs typeface="Calibri" panose="020F0502020204030204"/>
              </a:rPr>
              <a:t>Restrict physical activity.</a:t>
            </a:r>
          </a:p>
          <a:p>
            <a:pPr marL="514350" indent="-514350">
              <a:buAutoNum type="alphaLcPeriod"/>
            </a:pPr>
            <a:r>
              <a:rPr lang="en-US" dirty="0">
                <a:ea typeface="Calibri" panose="020F0502020204030204"/>
                <a:cs typeface="Calibri" panose="020F0502020204030204"/>
              </a:rPr>
              <a:t>Provide a low-calorie, low protein diet. </a:t>
            </a:r>
          </a:p>
          <a:p>
            <a:pPr marL="514350" indent="-514350">
              <a:buAutoNum type="alphaLcPeriod"/>
            </a:pPr>
            <a:endParaRPr lang="en-US" dirty="0">
              <a:ea typeface="Calibri" panose="020F0502020204030204"/>
              <a:cs typeface="Calibri" panose="020F0502020204030204"/>
            </a:endParaRPr>
          </a:p>
          <a:p>
            <a:pPr marL="0" indent="0">
              <a:buNone/>
            </a:pPr>
            <a:r>
              <a:rPr lang="en-US" dirty="0">
                <a:ea typeface="+mn-lt"/>
                <a:cs typeface="+mn-lt"/>
              </a:rPr>
              <a:t>Answer- a </a:t>
            </a:r>
          </a:p>
          <a:p>
            <a:pPr>
              <a:buNone/>
            </a:pPr>
            <a:r>
              <a:rPr lang="en-US" dirty="0">
                <a:ea typeface="+mn-lt"/>
                <a:cs typeface="+mn-lt"/>
              </a:rPr>
              <a:t>Rationale- Children with </a:t>
            </a:r>
            <a:r>
              <a:rPr lang="en-US" b="1" dirty="0">
                <a:ea typeface="+mn-lt"/>
                <a:cs typeface="+mn-lt"/>
              </a:rPr>
              <a:t>cystic fibrosis (CF)</a:t>
            </a:r>
            <a:r>
              <a:rPr lang="en-US" dirty="0">
                <a:ea typeface="+mn-lt"/>
                <a:cs typeface="+mn-lt"/>
              </a:rPr>
              <a:t> often have </a:t>
            </a:r>
            <a:r>
              <a:rPr lang="en-US" b="1" dirty="0">
                <a:ea typeface="+mn-lt"/>
                <a:cs typeface="+mn-lt"/>
              </a:rPr>
              <a:t>pancreatic insufficiency</a:t>
            </a:r>
            <a:r>
              <a:rPr lang="en-US" dirty="0">
                <a:ea typeface="+mn-lt"/>
                <a:cs typeface="+mn-lt"/>
              </a:rPr>
              <a:t>, meaning their pancreas does not produce enough enzymes to properly digest food. To support digestion and nutrient absorption, </a:t>
            </a:r>
            <a:r>
              <a:rPr lang="en-US" b="1" dirty="0">
                <a:ea typeface="+mn-lt"/>
                <a:cs typeface="+mn-lt"/>
              </a:rPr>
              <a:t>pancreatic enzymes must be administered with all meals and snacks</a:t>
            </a:r>
            <a:r>
              <a:rPr lang="en-US" dirty="0">
                <a:ea typeface="+mn-lt"/>
                <a:cs typeface="+mn-lt"/>
              </a:rPr>
              <a:t>. This helps prevent malnutrition and supports growth and development.</a:t>
            </a:r>
            <a:endParaRPr lang="en-US" dirty="0"/>
          </a:p>
          <a:p>
            <a:pPr>
              <a:buNone/>
            </a:pPr>
            <a:r>
              <a:rPr lang="en-US" dirty="0">
                <a:ea typeface="+mn-lt"/>
                <a:cs typeface="+mn-lt"/>
              </a:rPr>
              <a:t>The other options are incorrect:</a:t>
            </a:r>
            <a:endParaRPr lang="en-US"/>
          </a:p>
          <a:p>
            <a:pPr>
              <a:buFont typeface="Arial"/>
              <a:buChar char="•"/>
            </a:pPr>
            <a:r>
              <a:rPr lang="en-US" b="1" dirty="0">
                <a:ea typeface="+mn-lt"/>
                <a:cs typeface="+mn-lt"/>
              </a:rPr>
              <a:t>Implement a fluid restriction during times of infection:</a:t>
            </a:r>
            <a:r>
              <a:rPr lang="en-US" dirty="0">
                <a:ea typeface="+mn-lt"/>
                <a:cs typeface="+mn-lt"/>
              </a:rPr>
              <a:t> This is inappropriate. Children with CF are at risk for dehydration, especially during illness, so </a:t>
            </a:r>
            <a:r>
              <a:rPr lang="en-US" b="1" dirty="0">
                <a:ea typeface="+mn-lt"/>
                <a:cs typeface="+mn-lt"/>
              </a:rPr>
              <a:t>adequate fluid intake is essential</a:t>
            </a:r>
            <a:r>
              <a:rPr lang="en-US" dirty="0">
                <a:ea typeface="+mn-lt"/>
                <a:cs typeface="+mn-lt"/>
              </a:rPr>
              <a:t>, not restriction.</a:t>
            </a:r>
            <a:endParaRPr lang="en-US"/>
          </a:p>
          <a:p>
            <a:pPr>
              <a:buFont typeface="Arial"/>
              <a:buChar char="•"/>
            </a:pPr>
            <a:r>
              <a:rPr lang="en-US" b="1" dirty="0">
                <a:ea typeface="+mn-lt"/>
                <a:cs typeface="+mn-lt"/>
              </a:rPr>
              <a:t>Restrict physical activity:</a:t>
            </a:r>
            <a:r>
              <a:rPr lang="en-US" dirty="0">
                <a:ea typeface="+mn-lt"/>
                <a:cs typeface="+mn-lt"/>
              </a:rPr>
              <a:t> Physical activity is actually </a:t>
            </a:r>
            <a:r>
              <a:rPr lang="en-US" b="1" dirty="0">
                <a:ea typeface="+mn-lt"/>
                <a:cs typeface="+mn-lt"/>
              </a:rPr>
              <a:t>encouraged</a:t>
            </a:r>
            <a:r>
              <a:rPr lang="en-US" dirty="0">
                <a:ea typeface="+mn-lt"/>
                <a:cs typeface="+mn-lt"/>
              </a:rPr>
              <a:t> for children with CF, as it helps improve lung function and overall well-being.</a:t>
            </a:r>
            <a:endParaRPr lang="en-US"/>
          </a:p>
          <a:p>
            <a:pPr>
              <a:buFont typeface="Arial"/>
              <a:buChar char="•"/>
            </a:pPr>
            <a:r>
              <a:rPr lang="en-US" b="1" dirty="0">
                <a:ea typeface="+mn-lt"/>
                <a:cs typeface="+mn-lt"/>
              </a:rPr>
              <a:t>Provide a low-calorie, low-protein diet:</a:t>
            </a:r>
            <a:r>
              <a:rPr lang="en-US" dirty="0">
                <a:ea typeface="+mn-lt"/>
                <a:cs typeface="+mn-lt"/>
              </a:rPr>
              <a:t> Children with CF typically require a </a:t>
            </a:r>
            <a:r>
              <a:rPr lang="en-US" b="1" dirty="0">
                <a:ea typeface="+mn-lt"/>
                <a:cs typeface="+mn-lt"/>
              </a:rPr>
              <a:t>high-calorie, high-protein diet</a:t>
            </a:r>
            <a:r>
              <a:rPr lang="en-US" dirty="0">
                <a:ea typeface="+mn-lt"/>
                <a:cs typeface="+mn-lt"/>
              </a:rPr>
              <a:t> to meet their increased energy needs and support growth, due to malabsorption and chronic illness.</a:t>
            </a:r>
            <a:endParaRPr lang="en-US"/>
          </a:p>
          <a:p>
            <a:pPr marL="0" indent="0">
              <a:buNone/>
            </a:pPr>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1291966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022594-193E-D5BA-3AC7-14E83FF932F6}"/>
              </a:ext>
            </a:extLst>
          </p:cNvPr>
          <p:cNvSpPr>
            <a:spLocks noGrp="1"/>
          </p:cNvSpPr>
          <p:nvPr>
            <p:ph idx="1"/>
          </p:nvPr>
        </p:nvSpPr>
        <p:spPr>
          <a:xfrm>
            <a:off x="838200" y="484891"/>
            <a:ext cx="10515600" cy="5692072"/>
          </a:xfrm>
        </p:spPr>
        <p:txBody>
          <a:bodyPr vert="horz" lIns="91440" tIns="45720" rIns="91440" bIns="45720" rtlCol="0" anchor="t">
            <a:normAutofit fontScale="62500" lnSpcReduction="20000"/>
          </a:bodyPr>
          <a:lstStyle/>
          <a:p>
            <a:pPr marL="0" indent="0">
              <a:buNone/>
            </a:pPr>
            <a:r>
              <a:rPr lang="en-US" dirty="0">
                <a:ea typeface="+mn-lt"/>
                <a:cs typeface="+mn-lt"/>
              </a:rPr>
              <a:t>A nurse in the ED is assessing a newly-admitted infant. Which of the following findings is an early indication of hypoxemia?</a:t>
            </a:r>
          </a:p>
          <a:p>
            <a:pPr marL="514350" indent="-514350">
              <a:buAutoNum type="alphaLcPeriod"/>
            </a:pPr>
            <a:r>
              <a:rPr lang="en-US">
                <a:ea typeface="Calibri" panose="020F0502020204030204"/>
                <a:cs typeface="Calibri" panose="020F0502020204030204"/>
              </a:rPr>
              <a:t>Nonproductive cough</a:t>
            </a:r>
          </a:p>
          <a:p>
            <a:pPr marL="514350" indent="-514350">
              <a:buAutoNum type="alphaLcPeriod"/>
            </a:pPr>
            <a:r>
              <a:rPr lang="en-US" dirty="0">
                <a:ea typeface="Calibri" panose="020F0502020204030204"/>
                <a:cs typeface="Calibri" panose="020F0502020204030204"/>
              </a:rPr>
              <a:t>Hypoventilation</a:t>
            </a:r>
          </a:p>
          <a:p>
            <a:pPr marL="514350" indent="-514350">
              <a:buAutoNum type="alphaLcPeriod"/>
            </a:pPr>
            <a:r>
              <a:rPr lang="en-US" dirty="0">
                <a:ea typeface="Calibri" panose="020F0502020204030204"/>
                <a:cs typeface="Calibri" panose="020F0502020204030204"/>
              </a:rPr>
              <a:t>Tachypnea</a:t>
            </a:r>
          </a:p>
          <a:p>
            <a:pPr marL="514350" indent="-514350">
              <a:buAutoNum type="alphaLcPeriod"/>
            </a:pPr>
            <a:r>
              <a:rPr lang="en-US" dirty="0">
                <a:ea typeface="Calibri" panose="020F0502020204030204"/>
                <a:cs typeface="Calibri" panose="020F0502020204030204"/>
              </a:rPr>
              <a:t>Stridor </a:t>
            </a:r>
          </a:p>
          <a:p>
            <a:pPr marL="514350" indent="-514350">
              <a:buAutoNum type="alphaLcPeriod"/>
            </a:pPr>
            <a:endParaRPr lang="en-US" dirty="0">
              <a:ea typeface="Calibri" panose="020F0502020204030204"/>
              <a:cs typeface="Calibri" panose="020F0502020204030204"/>
            </a:endParaRPr>
          </a:p>
          <a:p>
            <a:pPr marL="0" indent="0">
              <a:buNone/>
            </a:pPr>
            <a:r>
              <a:rPr lang="en-US" dirty="0">
                <a:ea typeface="Calibri" panose="020F0502020204030204"/>
                <a:cs typeface="Calibri" panose="020F0502020204030204"/>
              </a:rPr>
              <a:t>Answer- c</a:t>
            </a:r>
          </a:p>
          <a:p>
            <a:pPr marL="0" indent="0">
              <a:buNone/>
            </a:pPr>
            <a:r>
              <a:rPr lang="en-US">
                <a:ea typeface="Calibri" panose="020F0502020204030204"/>
                <a:cs typeface="Calibri" panose="020F0502020204030204"/>
              </a:rPr>
              <a:t>Rationale- </a:t>
            </a:r>
            <a:r>
              <a:rPr lang="en-US" b="1">
                <a:ea typeface="+mn-lt"/>
                <a:cs typeface="+mn-lt"/>
              </a:rPr>
              <a:t>Tachypnea (increased respiratory rate)</a:t>
            </a:r>
            <a:r>
              <a:rPr lang="en-US">
                <a:ea typeface="+mn-lt"/>
                <a:cs typeface="+mn-lt"/>
              </a:rPr>
              <a:t> is an </a:t>
            </a:r>
            <a:r>
              <a:rPr lang="en-US" b="1">
                <a:ea typeface="+mn-lt"/>
                <a:cs typeface="+mn-lt"/>
              </a:rPr>
              <a:t>early sign of hypoxemia</a:t>
            </a:r>
            <a:r>
              <a:rPr lang="en-US">
                <a:ea typeface="+mn-lt"/>
                <a:cs typeface="+mn-lt"/>
              </a:rPr>
              <a:t> in infants. When oxygen levels begin to drop, the body attempts to compensate by increasing the respiratory rate to improve oxygen delivery to tissues. Recognizing this early sign is critical to preventing further respiratory compromise.</a:t>
            </a:r>
            <a:endParaRPr lang="en-US" dirty="0">
              <a:ea typeface="Calibri" panose="020F0502020204030204"/>
              <a:cs typeface="Calibri" panose="020F0502020204030204"/>
            </a:endParaRPr>
          </a:p>
          <a:p>
            <a:pPr>
              <a:buNone/>
            </a:pPr>
            <a:r>
              <a:rPr lang="en-US" b="1">
                <a:ea typeface="+mn-lt"/>
                <a:cs typeface="+mn-lt"/>
              </a:rPr>
              <a:t>Incorrect options:</a:t>
            </a:r>
            <a:endParaRPr lang="en-US"/>
          </a:p>
          <a:p>
            <a:r>
              <a:rPr lang="en-US" b="1">
                <a:ea typeface="+mn-lt"/>
                <a:cs typeface="+mn-lt"/>
              </a:rPr>
              <a:t>Nonproductive cough:</a:t>
            </a:r>
            <a:r>
              <a:rPr lang="en-US">
                <a:ea typeface="+mn-lt"/>
                <a:cs typeface="+mn-lt"/>
              </a:rPr>
              <a:t> This is a nonspecific symptom and </a:t>
            </a:r>
            <a:r>
              <a:rPr lang="en-US" b="1">
                <a:ea typeface="+mn-lt"/>
                <a:cs typeface="+mn-lt"/>
              </a:rPr>
              <a:t>not a reliable early indicator</a:t>
            </a:r>
            <a:r>
              <a:rPr lang="en-US">
                <a:ea typeface="+mn-lt"/>
                <a:cs typeface="+mn-lt"/>
              </a:rPr>
              <a:t> of hypoxemia. It can occur with many respiratory conditions, including viral infections or allergies.</a:t>
            </a:r>
            <a:endParaRPr lang="en-US"/>
          </a:p>
          <a:p>
            <a:r>
              <a:rPr lang="en-US" b="1" dirty="0">
                <a:ea typeface="+mn-lt"/>
                <a:cs typeface="+mn-lt"/>
              </a:rPr>
              <a:t>Hypoventilation:</a:t>
            </a:r>
            <a:r>
              <a:rPr lang="en-US" dirty="0">
                <a:ea typeface="+mn-lt"/>
                <a:cs typeface="+mn-lt"/>
              </a:rPr>
              <a:t> This is typically a </a:t>
            </a:r>
            <a:r>
              <a:rPr lang="en-US" b="1" dirty="0">
                <a:ea typeface="+mn-lt"/>
                <a:cs typeface="+mn-lt"/>
              </a:rPr>
              <a:t>late sign</a:t>
            </a:r>
            <a:r>
              <a:rPr lang="en-US" dirty="0">
                <a:ea typeface="+mn-lt"/>
                <a:cs typeface="+mn-lt"/>
              </a:rPr>
              <a:t> of respiratory failure, indicating poor respiratory effort or fatigue, which can follow prolonged hypoxemia if unaddressed.</a:t>
            </a:r>
            <a:endParaRPr lang="en-US" dirty="0"/>
          </a:p>
          <a:p>
            <a:r>
              <a:rPr lang="en-US" b="1" dirty="0">
                <a:ea typeface="+mn-lt"/>
                <a:cs typeface="+mn-lt"/>
              </a:rPr>
              <a:t>Stridor:</a:t>
            </a:r>
            <a:r>
              <a:rPr lang="en-US" dirty="0">
                <a:ea typeface="+mn-lt"/>
                <a:cs typeface="+mn-lt"/>
              </a:rPr>
              <a:t> Stridor is a </a:t>
            </a:r>
            <a:r>
              <a:rPr lang="en-US" b="1" dirty="0">
                <a:ea typeface="+mn-lt"/>
                <a:cs typeface="+mn-lt"/>
              </a:rPr>
              <a:t>high-pitched, inspiratory sound</a:t>
            </a:r>
            <a:r>
              <a:rPr lang="en-US" dirty="0">
                <a:ea typeface="+mn-lt"/>
                <a:cs typeface="+mn-lt"/>
              </a:rPr>
              <a:t> indicating upper airway obstruction, such as croup or foreign body aspiration. While it is a concerning respiratory finding, it is not a general early sign of hypoxemia.</a:t>
            </a:r>
            <a:endParaRPr lang="en-US" dirty="0"/>
          </a:p>
          <a:p>
            <a:pPr marL="0" indent="0">
              <a:buNone/>
            </a:pPr>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1136520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11F150-728F-C34B-A626-99AD9DFC4D81}"/>
              </a:ext>
            </a:extLst>
          </p:cNvPr>
          <p:cNvSpPr>
            <a:spLocks noGrp="1"/>
          </p:cNvSpPr>
          <p:nvPr>
            <p:ph idx="1"/>
          </p:nvPr>
        </p:nvSpPr>
        <p:spPr>
          <a:xfrm>
            <a:off x="838200" y="726031"/>
            <a:ext cx="10515600" cy="5450932"/>
          </a:xfrm>
        </p:spPr>
        <p:txBody>
          <a:bodyPr vert="horz" lIns="91440" tIns="45720" rIns="91440" bIns="45720" rtlCol="0" anchor="t">
            <a:normAutofit fontScale="77500" lnSpcReduction="20000"/>
          </a:bodyPr>
          <a:lstStyle/>
          <a:p>
            <a:pPr marL="0" indent="0">
              <a:buNone/>
            </a:pPr>
            <a:r>
              <a:rPr lang="en-US" dirty="0">
                <a:ea typeface="+mn-lt"/>
                <a:cs typeface="+mn-lt"/>
              </a:rPr>
              <a:t>An infant weighs 8 pounds and requires IV maintenance fluids. What would the hourly IV rate be for this client based on a daily fluid requirement of 100 ml/kg/day?</a:t>
            </a:r>
            <a:endParaRPr lang="en-US"/>
          </a:p>
          <a:p>
            <a:pPr marL="0" indent="0">
              <a:buNone/>
            </a:pPr>
            <a:endParaRPr lang="en-US" dirty="0">
              <a:ea typeface="Calibri"/>
              <a:cs typeface="Calibri"/>
            </a:endParaRPr>
          </a:p>
          <a:p>
            <a:pPr>
              <a:buNone/>
            </a:pPr>
            <a:r>
              <a:rPr lang="en-US" b="1" dirty="0">
                <a:ea typeface="+mn-lt"/>
                <a:cs typeface="+mn-lt"/>
              </a:rPr>
              <a:t>Correct Answer:</a:t>
            </a:r>
            <a:r>
              <a:rPr lang="en-US" dirty="0">
                <a:ea typeface="+mn-lt"/>
                <a:cs typeface="+mn-lt"/>
              </a:rPr>
              <a:t> 15 mL/</a:t>
            </a:r>
            <a:r>
              <a:rPr lang="en-US" dirty="0" err="1">
                <a:ea typeface="+mn-lt"/>
                <a:cs typeface="+mn-lt"/>
              </a:rPr>
              <a:t>hr</a:t>
            </a:r>
            <a:endParaRPr lang="en-US" dirty="0" err="1"/>
          </a:p>
          <a:p>
            <a:pPr>
              <a:buNone/>
            </a:pPr>
            <a:r>
              <a:rPr lang="en-US" b="1" dirty="0">
                <a:ea typeface="+mn-lt"/>
                <a:cs typeface="+mn-lt"/>
              </a:rPr>
              <a:t>Rationale:</a:t>
            </a:r>
            <a:br>
              <a:rPr lang="en-US" b="1" dirty="0">
                <a:ea typeface="+mn-lt"/>
                <a:cs typeface="+mn-lt"/>
              </a:rPr>
            </a:br>
            <a:r>
              <a:rPr lang="en-US" b="1" dirty="0">
                <a:ea typeface="+mn-lt"/>
                <a:cs typeface="+mn-lt"/>
              </a:rPr>
              <a:t> To calculate the hourly IV maintenance fluid rate</a:t>
            </a:r>
            <a:r>
              <a:rPr lang="en-US" dirty="0">
                <a:ea typeface="+mn-lt"/>
                <a:cs typeface="+mn-lt"/>
              </a:rPr>
              <a:t> for an infant based on a requirement of </a:t>
            </a:r>
            <a:r>
              <a:rPr lang="en-US" b="1" dirty="0">
                <a:ea typeface="+mn-lt"/>
                <a:cs typeface="+mn-lt"/>
              </a:rPr>
              <a:t>100 mL/kg/day</a:t>
            </a:r>
            <a:r>
              <a:rPr lang="en-US" dirty="0">
                <a:ea typeface="+mn-lt"/>
                <a:cs typeface="+mn-lt"/>
              </a:rPr>
              <a:t>, follow these steps:</a:t>
            </a:r>
            <a:endParaRPr lang="en-US" dirty="0"/>
          </a:p>
          <a:p>
            <a:pPr>
              <a:buFont typeface="Arial"/>
              <a:buChar char="•"/>
            </a:pPr>
            <a:r>
              <a:rPr lang="en-US" b="1" dirty="0">
                <a:ea typeface="+mn-lt"/>
                <a:cs typeface="+mn-lt"/>
              </a:rPr>
              <a:t>Convert the infant's weight from pounds to kilograms:</a:t>
            </a:r>
            <a:endParaRPr lang="en-US" dirty="0"/>
          </a:p>
          <a:p>
            <a:pPr indent="0">
              <a:buNone/>
            </a:pPr>
            <a:r>
              <a:rPr lang="en-US" dirty="0">
                <a:ea typeface="+mn-lt"/>
                <a:cs typeface="+mn-lt"/>
              </a:rPr>
              <a:t>8 lb÷2.2=3.636363 kg </a:t>
            </a:r>
            <a:endParaRPr lang="en-US" dirty="0">
              <a:ea typeface="Calibri"/>
              <a:cs typeface="Calibri"/>
            </a:endParaRPr>
          </a:p>
          <a:p>
            <a:pPr>
              <a:buFont typeface="Arial"/>
              <a:buChar char="•"/>
            </a:pPr>
            <a:r>
              <a:rPr lang="en-US" b="1" dirty="0">
                <a:ea typeface="+mn-lt"/>
                <a:cs typeface="+mn-lt"/>
              </a:rPr>
              <a:t>Calculate the total daily fluid requirement:</a:t>
            </a:r>
            <a:endParaRPr lang="en-US" dirty="0"/>
          </a:p>
          <a:p>
            <a:pPr indent="0">
              <a:buNone/>
            </a:pPr>
            <a:r>
              <a:rPr lang="en-US" dirty="0">
                <a:ea typeface="+mn-lt"/>
                <a:cs typeface="+mn-lt"/>
              </a:rPr>
              <a:t>100 mL/kg/day×3.63636 kg=363.636363 mL/day</a:t>
            </a:r>
          </a:p>
          <a:p>
            <a:pPr marL="685800" indent="-457200"/>
            <a:r>
              <a:rPr lang="en-US" b="1" dirty="0">
                <a:ea typeface="+mn-lt"/>
                <a:cs typeface="+mn-lt"/>
              </a:rPr>
              <a:t>Divide by 24 hours to find the hourly rate:</a:t>
            </a:r>
            <a:endParaRPr lang="en-US" dirty="0">
              <a:ea typeface="Calibri" panose="020F0502020204030204"/>
              <a:cs typeface="Calibri" panose="020F0502020204030204"/>
            </a:endParaRPr>
          </a:p>
          <a:p>
            <a:pPr indent="0">
              <a:buNone/>
            </a:pPr>
            <a:r>
              <a:rPr lang="en-US" dirty="0">
                <a:ea typeface="+mn-lt"/>
                <a:cs typeface="+mn-lt"/>
              </a:rPr>
              <a:t>363.636363÷24=15.15151515 mL/</a:t>
            </a:r>
            <a:r>
              <a:rPr lang="en-US" dirty="0" err="1">
                <a:ea typeface="+mn-lt"/>
                <a:cs typeface="+mn-lt"/>
              </a:rPr>
              <a:t>hr</a:t>
            </a:r>
            <a:endParaRPr lang="en-US" dirty="0" err="1">
              <a:ea typeface="Calibri" panose="020F0502020204030204"/>
              <a:cs typeface="Calibri" panose="020F0502020204030204"/>
            </a:endParaRPr>
          </a:p>
          <a:p>
            <a:pPr>
              <a:buFont typeface="Arial"/>
              <a:buChar char="•"/>
            </a:pPr>
            <a:r>
              <a:rPr lang="en-US" b="1" dirty="0">
                <a:ea typeface="+mn-lt"/>
                <a:cs typeface="+mn-lt"/>
              </a:rPr>
              <a:t>Round to the nearest whole number, if appropriate:</a:t>
            </a:r>
            <a:endParaRPr lang="en-US" dirty="0"/>
          </a:p>
          <a:p>
            <a:pPr indent="0">
              <a:buNone/>
            </a:pPr>
            <a:r>
              <a:rPr lang="en-US" dirty="0">
                <a:ea typeface="+mn-lt"/>
                <a:cs typeface="+mn-lt"/>
              </a:rPr>
              <a:t>≈15 mL/</a:t>
            </a:r>
            <a:r>
              <a:rPr lang="en-US" dirty="0" err="1">
                <a:ea typeface="+mn-lt"/>
                <a:cs typeface="+mn-lt"/>
              </a:rPr>
              <a:t>hr</a:t>
            </a:r>
            <a:endParaRPr lang="en-US" dirty="0" err="1">
              <a:ea typeface="Calibri"/>
              <a:cs typeface="Calibri"/>
            </a:endParaRPr>
          </a:p>
          <a:p>
            <a:pPr>
              <a:buNone/>
            </a:pPr>
            <a:r>
              <a:rPr lang="en-US" b="1" dirty="0">
                <a:ea typeface="+mn-lt"/>
                <a:cs typeface="+mn-lt"/>
              </a:rPr>
              <a:t>Therefore, the correct IV maintenance fluid rate is 15 mL/hr.</a:t>
            </a:r>
            <a:endParaRPr lang="en-US" dirty="0"/>
          </a:p>
          <a:p>
            <a:pPr marL="0" indent="0">
              <a:buNone/>
            </a:pPr>
            <a:endParaRPr lang="en-US" dirty="0">
              <a:ea typeface="Calibri"/>
              <a:cs typeface="Calibri"/>
            </a:endParaRPr>
          </a:p>
        </p:txBody>
      </p:sp>
    </p:spTree>
    <p:extLst>
      <p:ext uri="{BB962C8B-B14F-4D97-AF65-F5344CB8AC3E}">
        <p14:creationId xmlns:p14="http://schemas.microsoft.com/office/powerpoint/2010/main" val="30106972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4960</TotalTime>
  <Words>1753</Words>
  <Application>Microsoft Office PowerPoint</Application>
  <PresentationFormat>Widescreen</PresentationFormat>
  <Paragraphs>96</Paragraphs>
  <Slides>13</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open sans</vt:lpstr>
      <vt:lpstr>Office Theme</vt:lpstr>
      <vt:lpstr>Respiratory</vt:lpstr>
      <vt:lpstr>Answer: b Nasopharyngitis, commonly known as the common cold, is typically viral and self-limiting, meaning it will resolve on its own over time. Treatment focuses on relieving symptoms such as congestion, fever, and sore throat using supportive measures, such as hydration, rest, and fever-reducing medications. Antibiotics are not effective for viral infections, and cough suppressants should be used cautiously in young children. Aspirin is contraindicated in children</vt:lpstr>
      <vt:lpstr>PowerPoint Presentation</vt:lpstr>
      <vt:lpstr>Answer: b Using a bulb syringe to clear the infant’s nasal passages before feeding can help relieve nasal congestion and make it easier for the infant to feed. </vt:lpstr>
      <vt:lpstr>Answer: b Cool mist can help moisten the airway and ease of breathing. OTC cough suppressants are not indicated in infants and young children. Water is not recommended for hydration in young infants. Parents should seek medical attention if the child exhibits signs of distress or worsening symptoms, such as difficulty breathing, lethargy, or poor feeding, even if the breathing is not yet rapid. Delaying care can lead to complications, so early intervention is crucial.</vt:lpstr>
      <vt:lpstr>Answer: a Stridor at rest and increasing agitation indicate worsening respiratory distress in a child with croup. The priority intervention is to administer racemic epinephrine, which can provide rapid relief by reducing airway edema and improving airflow. Although monitoring oxygen saturation and providing emotional support are important, addressing the respiratory distress with epinephrine is the immediate priority.</vt:lpstr>
      <vt:lpstr>PowerPoint Presentation</vt:lpstr>
      <vt:lpstr>Answer: a The priority intervention is to administer a bronchodilator to relieve bronchospasm and improve airflow, which is critical in acute asthma exacerbations. Oxygen can be provided if needed, but the immediate focus is on relieving airway obstruction with the bronchodilator.</vt:lpstr>
      <vt:lpstr>Answer: b Asthma exacerbations typically present with sudden worsening of symptoms such as wheezing, coughing, and difficulty breathing, especially after exposure to triggers like allergens or infections. This is a sign of an asthma attack requiring immediate intervention.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Respiratory</dc:title>
  <dc:creator>Jessica DeVore</dc:creator>
  <cp:lastModifiedBy>Ellie Fuller</cp:lastModifiedBy>
  <cp:revision>73</cp:revision>
  <dcterms:created xsi:type="dcterms:W3CDTF">2025-02-25T14:41:22Z</dcterms:created>
  <dcterms:modified xsi:type="dcterms:W3CDTF">2026-03-04T19:41:13Z</dcterms:modified>
</cp:coreProperties>
</file>