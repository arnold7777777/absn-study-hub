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400" r:id="rId4"/>
    <p:sldId id="401" r:id="rId5"/>
    <p:sldId id="402" r:id="rId6"/>
    <p:sldId id="403" r:id="rId7"/>
    <p:sldId id="404" r:id="rId8"/>
    <p:sldId id="405" r:id="rId9"/>
    <p:sldId id="406" r:id="rId10"/>
    <p:sldId id="407" r:id="rId11"/>
    <p:sldId id="408" r:id="rId12"/>
    <p:sldId id="409" r:id="rId13"/>
    <p:sldId id="410" r:id="rId14"/>
    <p:sldId id="411" r:id="rId15"/>
    <p:sldId id="288" r:id="rId16"/>
    <p:sldId id="289" r:id="rId17"/>
    <p:sldId id="412" r:id="rId18"/>
    <p:sldId id="290" r:id="rId19"/>
    <p:sldId id="291" r:id="rId20"/>
    <p:sldId id="413" r:id="rId21"/>
    <p:sldId id="361" r:id="rId22"/>
    <p:sldId id="362" r:id="rId23"/>
    <p:sldId id="359" r:id="rId24"/>
    <p:sldId id="363" r:id="rId25"/>
    <p:sldId id="36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295" autoAdjust="0"/>
  </p:normalViewPr>
  <p:slideViewPr>
    <p:cSldViewPr snapToGrid="0">
      <p:cViewPr varScale="1">
        <p:scale>
          <a:sx n="91" d="100"/>
          <a:sy n="91"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2D03B6-4E3A-4664-9263-320E8461B03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5AF4624-248F-4B80-86AE-AFEC2A1B39DA}" type="pres">
      <dgm:prSet presAssocID="{602D03B6-4E3A-4664-9263-320E8461B03D}" presName="linear" presStyleCnt="0">
        <dgm:presLayoutVars>
          <dgm:animLvl val="lvl"/>
          <dgm:resizeHandles val="exact"/>
        </dgm:presLayoutVars>
      </dgm:prSet>
      <dgm:spPr/>
    </dgm:pt>
  </dgm:ptLst>
  <dgm:cxnLst>
    <dgm:cxn modelId="{32262953-C557-4ED8-A090-FAF6AC8F2E72}" type="presOf" srcId="{602D03B6-4E3A-4664-9263-320E8461B03D}" destId="{E5AF4624-248F-4B80-86AE-AFEC2A1B39D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2D03B6-4E3A-4664-9263-320E8461B03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5AF4624-248F-4B80-86AE-AFEC2A1B39DA}" type="pres">
      <dgm:prSet presAssocID="{602D03B6-4E3A-4664-9263-320E8461B03D}" presName="linear" presStyleCnt="0">
        <dgm:presLayoutVars>
          <dgm:animLvl val="lvl"/>
          <dgm:resizeHandles val="exact"/>
        </dgm:presLayoutVars>
      </dgm:prSet>
      <dgm:spPr/>
    </dgm:pt>
  </dgm:ptLst>
  <dgm:cxnLst>
    <dgm:cxn modelId="{32262953-C557-4ED8-A090-FAF6AC8F2E72}" type="presOf" srcId="{602D03B6-4E3A-4664-9263-320E8461B03D}" destId="{E5AF4624-248F-4B80-86AE-AFEC2A1B39DA}"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D0478-F9C5-4851-9016-4ABB8B475C7B}" type="datetimeFigureOut">
              <a:rPr lang="en-US" smtClean="0"/>
              <a:t>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974C2-4BDB-48C3-962F-06879BCC6589}" type="slidenum">
              <a:rPr lang="en-US" smtClean="0"/>
              <a:t>‹#›</a:t>
            </a:fld>
            <a:endParaRPr lang="en-US"/>
          </a:p>
        </p:txBody>
      </p:sp>
    </p:spTree>
    <p:extLst>
      <p:ext uri="{BB962C8B-B14F-4D97-AF65-F5344CB8AC3E}">
        <p14:creationId xmlns:p14="http://schemas.microsoft.com/office/powerpoint/2010/main" val="423277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nml</a:t>
            </a:r>
            <a:r>
              <a:rPr lang="en-US" dirty="0"/>
              <a:t> HR, high RR, </a:t>
            </a:r>
            <a:r>
              <a:rPr lang="en-US" dirty="0" err="1"/>
              <a:t>nml</a:t>
            </a:r>
            <a:r>
              <a:rPr lang="en-US" dirty="0"/>
              <a:t> BP</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7DC217-DF71-1A49-B3EA-559F1F43B0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2228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0" i="0" dirty="0">
                <a:solidFill>
                  <a:srgbClr val="252E33"/>
                </a:solidFill>
                <a:effectLst/>
                <a:latin typeface="-apple-system"/>
              </a:rPr>
            </a:br>
            <a:endParaRPr lang="en-US" b="0" i="0" dirty="0">
              <a:solidFill>
                <a:srgbClr val="252E33"/>
              </a:solidFill>
              <a:effectLst/>
              <a:latin typeface="-apple-system"/>
            </a:endParaRP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7DC217-DF71-1A49-B3EA-559F1F43B0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8968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dirty="0">
                <a:solidFill>
                  <a:srgbClr val="252E33"/>
                </a:solidFill>
                <a:effectLst/>
                <a:latin typeface="-apple-system"/>
              </a:rPr>
              <a:t>Clients with these abnormal findings require </a:t>
            </a:r>
            <a:r>
              <a:rPr lang="en-US" b="1" i="0" dirty="0">
                <a:solidFill>
                  <a:srgbClr val="252E33"/>
                </a:solidFill>
                <a:effectLst/>
                <a:latin typeface="-apple-system"/>
              </a:rPr>
              <a:t>immediate </a:t>
            </a:r>
            <a:r>
              <a:rPr lang="en-US" b="0" i="0" dirty="0">
                <a:solidFill>
                  <a:srgbClr val="252E33"/>
                </a:solidFill>
                <a:effectLst/>
                <a:latin typeface="-apple-system"/>
              </a:rPr>
              <a:t>follow up:</a:t>
            </a:r>
          </a:p>
          <a:p>
            <a:pPr algn="l" rtl="0" fontAlgn="base">
              <a:buFont typeface="Arial" panose="020B0604020202020204" pitchFamily="34" charset="0"/>
              <a:buChar char="•"/>
            </a:pPr>
            <a:r>
              <a:rPr lang="en-US" b="1" i="0" dirty="0">
                <a:solidFill>
                  <a:srgbClr val="252E33"/>
                </a:solidFill>
                <a:effectLst/>
                <a:latin typeface="-apple-system"/>
              </a:rPr>
              <a:t>Dysuria and urinary frequency </a:t>
            </a:r>
            <a:r>
              <a:rPr lang="en-US" b="0" i="0" dirty="0">
                <a:solidFill>
                  <a:srgbClr val="252E33"/>
                </a:solidFill>
                <a:effectLst/>
                <a:latin typeface="-apple-system"/>
              </a:rPr>
              <a:t>could be signs of a genitourinary complication (e.g., urinary tract infection). </a:t>
            </a:r>
            <a:br>
              <a:rPr lang="en-US" b="0" i="0" dirty="0">
                <a:solidFill>
                  <a:srgbClr val="252E33"/>
                </a:solidFill>
                <a:effectLst/>
                <a:latin typeface="-apple-system"/>
              </a:rPr>
            </a:br>
            <a:endParaRPr lang="en-US" b="0" i="0" dirty="0">
              <a:solidFill>
                <a:srgbClr val="252E33"/>
              </a:solidFill>
              <a:effectLst/>
              <a:latin typeface="-apple-system"/>
            </a:endParaRPr>
          </a:p>
          <a:p>
            <a:pPr algn="l" rtl="0" fontAlgn="base">
              <a:buFont typeface="Arial" panose="020B0604020202020204" pitchFamily="34" charset="0"/>
              <a:buChar char="•"/>
            </a:pPr>
            <a:r>
              <a:rPr lang="en-US" b="0" i="0" dirty="0">
                <a:solidFill>
                  <a:srgbClr val="252E33"/>
                </a:solidFill>
                <a:effectLst/>
                <a:latin typeface="-apple-system"/>
              </a:rPr>
              <a:t>Changes in respiratory assessment (e.g., </a:t>
            </a:r>
            <a:r>
              <a:rPr lang="en-US" b="1" i="0" dirty="0">
                <a:solidFill>
                  <a:srgbClr val="252E33"/>
                </a:solidFill>
                <a:effectLst/>
                <a:latin typeface="-apple-system"/>
              </a:rPr>
              <a:t>fast, deep breaths</a:t>
            </a:r>
            <a:r>
              <a:rPr lang="en-US" b="0" i="0" dirty="0">
                <a:solidFill>
                  <a:srgbClr val="252E33"/>
                </a:solidFill>
                <a:effectLst/>
                <a:latin typeface="-apple-system"/>
              </a:rPr>
              <a:t> </a:t>
            </a:r>
            <a:r>
              <a:rPr lang="en-US" b="1" i="0" dirty="0">
                <a:solidFill>
                  <a:srgbClr val="252E33"/>
                </a:solidFill>
                <a:effectLst/>
                <a:latin typeface="-apple-system"/>
              </a:rPr>
              <a:t>with a fruit-like smell</a:t>
            </a:r>
            <a:r>
              <a:rPr lang="en-US" b="0" i="0" dirty="0">
                <a:solidFill>
                  <a:srgbClr val="252E33"/>
                </a:solidFill>
                <a:effectLst/>
                <a:latin typeface="-apple-system"/>
              </a:rPr>
              <a:t>)</a:t>
            </a:r>
            <a:r>
              <a:rPr lang="en-US" b="1" i="0" dirty="0">
                <a:solidFill>
                  <a:srgbClr val="252E33"/>
                </a:solidFill>
                <a:effectLst/>
                <a:latin typeface="-apple-system"/>
              </a:rPr>
              <a:t> </a:t>
            </a:r>
            <a:r>
              <a:rPr lang="en-US" b="0" i="0" dirty="0">
                <a:solidFill>
                  <a:srgbClr val="252E33"/>
                </a:solidFill>
                <a:effectLst/>
                <a:latin typeface="-apple-system"/>
              </a:rPr>
              <a:t>could indicate respiratory insufficiency or compensation for an underlying metabolic disturbance.</a:t>
            </a:r>
          </a:p>
          <a:p>
            <a:pPr algn="l" rtl="0" fontAlgn="base">
              <a:buFont typeface="Arial" panose="020B0604020202020204" pitchFamily="34" charset="0"/>
              <a:buNone/>
            </a:pPr>
            <a:endParaRPr lang="en-US" b="0" i="0" dirty="0">
              <a:solidFill>
                <a:srgbClr val="252E33"/>
              </a:solidFill>
              <a:effectLst/>
              <a:latin typeface="-apple-system"/>
            </a:endParaRPr>
          </a:p>
          <a:p>
            <a:pPr algn="l" rtl="0"/>
            <a:r>
              <a:rPr lang="en-US" b="1" i="0" dirty="0">
                <a:solidFill>
                  <a:srgbClr val="252E33"/>
                </a:solidFill>
                <a:effectLst/>
                <a:latin typeface="-apple-system"/>
              </a:rPr>
              <a:t>Incorrect:</a:t>
            </a:r>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Menstrual period started today</a:t>
            </a:r>
            <a:endParaRPr lang="en-US" b="0" i="0" dirty="0">
              <a:solidFill>
                <a:srgbClr val="252E33"/>
              </a:solidFill>
              <a:effectLst/>
              <a:latin typeface="-apple-system"/>
            </a:endParaRPr>
          </a:p>
          <a:p>
            <a:pPr algn="l" rtl="0"/>
            <a:r>
              <a:rPr lang="en-US" b="0" i="0" dirty="0">
                <a:solidFill>
                  <a:srgbClr val="252E33"/>
                </a:solidFill>
                <a:effectLst/>
                <a:latin typeface="-apple-system"/>
              </a:rPr>
              <a:t>A menstrual period is an expected finding in an adolescent female,  but does not require immediate attention at this time. Although gastrointestinal upset can be linked to menstruation, other acute complications must first be ruled out.</a:t>
            </a:r>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Lost a few pounds even though she has been “eating more than what she usually eats”</a:t>
            </a:r>
            <a:endParaRPr lang="en-US" b="0" i="0" dirty="0">
              <a:solidFill>
                <a:srgbClr val="252E33"/>
              </a:solidFill>
              <a:effectLst/>
              <a:latin typeface="-apple-system"/>
            </a:endParaRPr>
          </a:p>
          <a:p>
            <a:pPr algn="l" rtl="0"/>
            <a:r>
              <a:rPr lang="en-US" b="0" i="0" dirty="0">
                <a:solidFill>
                  <a:srgbClr val="252E33"/>
                </a:solidFill>
                <a:effectLst/>
                <a:latin typeface="-apple-system"/>
              </a:rPr>
              <a:t>Gradual weight loss over several months and changed eating habits could signal a health alteration. Although concerning, it is not the priority over more acute findings.</a:t>
            </a:r>
            <a:br>
              <a:rPr lang="en-US" b="0" i="0" dirty="0">
                <a:solidFill>
                  <a:srgbClr val="252E33"/>
                </a:solidFill>
                <a:effectLst/>
                <a:latin typeface="-apple-system"/>
              </a:rPr>
            </a:br>
            <a:endParaRPr lang="en-US" b="0" i="0" dirty="0">
              <a:solidFill>
                <a:srgbClr val="252E33"/>
              </a:solidFill>
              <a:effectLst/>
              <a:latin typeface="-apple-system"/>
            </a:endParaRPr>
          </a:p>
          <a:p>
            <a:pPr indent="-457200" algn="l" rtl="0"/>
            <a:r>
              <a:rPr lang="en-US" b="1" i="0" dirty="0">
                <a:solidFill>
                  <a:srgbClr val="252E33"/>
                </a:solidFill>
                <a:effectLst/>
                <a:latin typeface="-apple-system"/>
              </a:rPr>
              <a:t>Diagnosed with yeast infection a month ago</a:t>
            </a:r>
            <a:endParaRPr lang="en-US" b="0" i="0" dirty="0">
              <a:solidFill>
                <a:srgbClr val="252E33"/>
              </a:solidFill>
              <a:effectLst/>
              <a:latin typeface="-apple-system"/>
            </a:endParaRPr>
          </a:p>
          <a:p>
            <a:pPr algn="l" rtl="0"/>
            <a:r>
              <a:rPr lang="en-US" b="0" i="0" dirty="0">
                <a:solidFill>
                  <a:srgbClr val="252E33"/>
                </a:solidFill>
                <a:effectLst/>
                <a:latin typeface="-apple-system"/>
              </a:rPr>
              <a:t>Although this is valuable health history, it is not an immediate health concern and does not require attention at this time </a:t>
            </a:r>
          </a:p>
          <a:p>
            <a:pPr algn="l"/>
            <a:br>
              <a:rPr lang="en-US" b="0" i="0" dirty="0">
                <a:solidFill>
                  <a:srgbClr val="252E33"/>
                </a:solidFill>
                <a:effectLst/>
                <a:latin typeface="-apple-system"/>
              </a:rPr>
            </a:br>
            <a:endParaRPr lang="en-US" b="0" i="0" dirty="0">
              <a:solidFill>
                <a:srgbClr val="252E33"/>
              </a:solidFill>
              <a:effectLst/>
              <a:latin typeface="-apple-system"/>
            </a:endParaRP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7DC217-DF71-1A49-B3EA-559F1F43B0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4021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7DC217-DF71-1A49-B3EA-559F1F43B0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810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t"/>
            <a:r>
              <a:rPr lang="en-US" b="1" i="0" dirty="0">
                <a:solidFill>
                  <a:srgbClr val="252E33"/>
                </a:solidFill>
                <a:effectLst/>
                <a:latin typeface="-apple-system"/>
              </a:rPr>
              <a:t>DKA:</a:t>
            </a:r>
          </a:p>
          <a:p>
            <a:pPr algn="l" rtl="0" fontAlgn="t"/>
            <a:r>
              <a:rPr lang="en-US" b="0" i="0" dirty="0">
                <a:solidFill>
                  <a:srgbClr val="252E33"/>
                </a:solidFill>
                <a:effectLst/>
                <a:latin typeface="-apple-system"/>
              </a:rPr>
              <a:t>Blood Glucose Level: Usually 250-800 mg/dL (11.1-44.4 mmol/L)</a:t>
            </a:r>
          </a:p>
          <a:p>
            <a:pPr algn="l" rtl="0" fontAlgn="t"/>
            <a:r>
              <a:rPr lang="en-US" b="0" i="0" dirty="0">
                <a:solidFill>
                  <a:srgbClr val="252E33"/>
                </a:solidFill>
                <a:effectLst/>
                <a:latin typeface="-apple-system"/>
              </a:rPr>
              <a:t>Ketonuria</a:t>
            </a:r>
          </a:p>
          <a:p>
            <a:pPr algn="l" rtl="0" fontAlgn="t"/>
            <a:r>
              <a:rPr lang="en-US" b="0" i="0" dirty="0">
                <a:solidFill>
                  <a:srgbClr val="252E33"/>
                </a:solidFill>
                <a:effectLst/>
                <a:latin typeface="-apple-system"/>
              </a:rPr>
              <a:t>Excessive thirst, hunger, urination (3P’s)</a:t>
            </a:r>
          </a:p>
          <a:p>
            <a:pPr algn="l" rtl="0" fontAlgn="t"/>
            <a:r>
              <a:rPr lang="en-US" b="0" i="0" dirty="0">
                <a:solidFill>
                  <a:srgbClr val="252E33"/>
                </a:solidFill>
                <a:effectLst/>
                <a:latin typeface="-apple-system"/>
              </a:rPr>
              <a:t>Rapid, shallow breaths (</a:t>
            </a:r>
            <a:r>
              <a:rPr lang="en-US" b="0" i="0" dirty="0" err="1">
                <a:solidFill>
                  <a:srgbClr val="252E33"/>
                </a:solidFill>
                <a:effectLst/>
                <a:latin typeface="-apple-system"/>
              </a:rPr>
              <a:t>Kusmaal’s</a:t>
            </a:r>
            <a:r>
              <a:rPr lang="en-US" b="0" i="0" dirty="0">
                <a:solidFill>
                  <a:srgbClr val="252E33"/>
                </a:solidFill>
                <a:effectLst/>
                <a:latin typeface="-apple-system"/>
              </a:rPr>
              <a:t>) with fruit-like breath odor</a:t>
            </a:r>
          </a:p>
          <a:p>
            <a:pPr algn="l" rtl="0" fontAlgn="t"/>
            <a:endParaRPr lang="en-US" b="0" i="0" dirty="0">
              <a:solidFill>
                <a:srgbClr val="252E33"/>
              </a:solidFill>
              <a:effectLst/>
              <a:latin typeface="-apple-system"/>
            </a:endParaRPr>
          </a:p>
          <a:p>
            <a:pPr algn="l" rtl="0"/>
            <a:r>
              <a:rPr lang="en-US" b="1" i="0" dirty="0">
                <a:solidFill>
                  <a:srgbClr val="252E33"/>
                </a:solidFill>
                <a:effectLst/>
                <a:latin typeface="-apple-system"/>
              </a:rPr>
              <a:t>Diabetes insipidus (DI)</a:t>
            </a:r>
            <a:r>
              <a:rPr lang="en-US" b="0" i="0" dirty="0">
                <a:solidFill>
                  <a:srgbClr val="252E33"/>
                </a:solidFill>
                <a:effectLst/>
                <a:latin typeface="-apple-system"/>
              </a:rPr>
              <a:t>,</a:t>
            </a:r>
            <a:r>
              <a:rPr lang="en-US" b="1" i="0" dirty="0">
                <a:solidFill>
                  <a:srgbClr val="252E33"/>
                </a:solidFill>
                <a:effectLst/>
                <a:latin typeface="-apple-system"/>
              </a:rPr>
              <a:t> and diabetic ketoacidosis (DKA)</a:t>
            </a:r>
            <a:r>
              <a:rPr lang="en-US" b="0" i="0" dirty="0">
                <a:solidFill>
                  <a:srgbClr val="252E33"/>
                </a:solidFill>
                <a:effectLst/>
                <a:latin typeface="-apple-system"/>
              </a:rPr>
              <a:t>, are all states of endocrine dysfunction characterized by increased urine output.</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DI </a:t>
            </a:r>
            <a:r>
              <a:rPr lang="en-US" b="0" i="0" dirty="0">
                <a:solidFill>
                  <a:srgbClr val="252E33"/>
                </a:solidFill>
                <a:effectLst/>
                <a:latin typeface="-apple-system"/>
              </a:rPr>
              <a:t>occurs when there is decreased antidiuretic hormone (ADH) secretion causing </a:t>
            </a:r>
            <a:r>
              <a:rPr lang="en-US" b="1" i="0" dirty="0">
                <a:solidFill>
                  <a:srgbClr val="252E33"/>
                </a:solidFill>
                <a:effectLst/>
                <a:latin typeface="-apple-system"/>
              </a:rPr>
              <a:t>excessive urination</a:t>
            </a:r>
            <a:r>
              <a:rPr lang="en-US" b="0" i="0" dirty="0">
                <a:solidFill>
                  <a:srgbClr val="252E33"/>
                </a:solidFill>
                <a:effectLst/>
                <a:latin typeface="-apple-system"/>
              </a:rPr>
              <a:t> and therefore, </a:t>
            </a:r>
            <a:r>
              <a:rPr lang="en-US" b="1" i="0" dirty="0">
                <a:solidFill>
                  <a:srgbClr val="252E33"/>
                </a:solidFill>
                <a:effectLst/>
                <a:latin typeface="-apple-system"/>
              </a:rPr>
              <a:t>excessive thirst</a:t>
            </a:r>
            <a:r>
              <a:rPr lang="en-US" b="0" i="0" dirty="0">
                <a:solidFill>
                  <a:srgbClr val="252E33"/>
                </a:solidFill>
                <a:effectLst/>
                <a:latin typeface="-apple-system"/>
              </a:rPr>
              <a:t> to compensate.</a:t>
            </a:r>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0" i="0" dirty="0">
                <a:solidFill>
                  <a:srgbClr val="252E33"/>
                </a:solidFill>
                <a:effectLst/>
                <a:latin typeface="-apple-system"/>
              </a:rPr>
              <a:t>In </a:t>
            </a:r>
            <a:r>
              <a:rPr lang="en-US" b="1" i="0" dirty="0">
                <a:solidFill>
                  <a:srgbClr val="252E33"/>
                </a:solidFill>
                <a:effectLst/>
                <a:latin typeface="-apple-system"/>
              </a:rPr>
              <a:t>DKA</a:t>
            </a:r>
            <a:r>
              <a:rPr lang="en-US" b="0" i="0" dirty="0">
                <a:solidFill>
                  <a:srgbClr val="252E33"/>
                </a:solidFill>
                <a:effectLst/>
                <a:latin typeface="-apple-system"/>
              </a:rPr>
              <a:t>,</a:t>
            </a:r>
            <a:r>
              <a:rPr lang="en-US" b="1" i="0" dirty="0">
                <a:solidFill>
                  <a:srgbClr val="252E33"/>
                </a:solidFill>
                <a:effectLst/>
                <a:latin typeface="-apple-system"/>
              </a:rPr>
              <a:t> </a:t>
            </a:r>
            <a:r>
              <a:rPr lang="en-US" b="0" i="0" dirty="0">
                <a:solidFill>
                  <a:srgbClr val="252E33"/>
                </a:solidFill>
                <a:effectLst/>
                <a:latin typeface="-apple-system"/>
              </a:rPr>
              <a:t>an excess of unused, circulating glucose (i.e., </a:t>
            </a:r>
            <a:r>
              <a:rPr lang="en-US" b="1" i="0" dirty="0">
                <a:solidFill>
                  <a:srgbClr val="252E33"/>
                </a:solidFill>
                <a:effectLst/>
                <a:latin typeface="-apple-system"/>
              </a:rPr>
              <a:t>hyperglycemia</a:t>
            </a:r>
            <a:r>
              <a:rPr lang="en-US" b="0" i="0" dirty="0">
                <a:solidFill>
                  <a:srgbClr val="252E33"/>
                </a:solidFill>
                <a:effectLst/>
                <a:latin typeface="-apple-system"/>
              </a:rPr>
              <a:t>) causes a breakdown of fat for energy, forming acidic ketone bodies in the blood and creating an </a:t>
            </a:r>
            <a:r>
              <a:rPr lang="en-US" b="1" i="0" dirty="0">
                <a:solidFill>
                  <a:srgbClr val="252E33"/>
                </a:solidFill>
                <a:effectLst/>
                <a:latin typeface="-apple-system"/>
              </a:rPr>
              <a:t>excessive hunger</a:t>
            </a:r>
            <a:r>
              <a:rPr lang="en-US" b="0" i="0" dirty="0">
                <a:solidFill>
                  <a:srgbClr val="252E33"/>
                </a:solidFill>
                <a:effectLst/>
                <a:latin typeface="-apple-system"/>
              </a:rPr>
              <a:t> response (i.e., </a:t>
            </a:r>
            <a:r>
              <a:rPr lang="en-US" b="0" i="0" u="sng" dirty="0">
                <a:solidFill>
                  <a:srgbClr val="0000FF"/>
                </a:solidFill>
                <a:effectLst/>
                <a:latin typeface="-apple-system"/>
              </a:rPr>
              <a:t>polyphagia</a:t>
            </a:r>
            <a:r>
              <a:rPr lang="en-US" b="0" i="0" dirty="0">
                <a:solidFill>
                  <a:srgbClr val="252E33"/>
                </a:solidFill>
                <a:effectLst/>
                <a:latin typeface="-apple-system"/>
              </a:rPr>
              <a:t>) as the body attempts to provide fuel for the cells. Acidic ketones create a state of metabolic acidosis which the lungs attempt to correct by blowing off carbon dioxide, causing </a:t>
            </a:r>
            <a:r>
              <a:rPr lang="en-US" b="1" i="0" dirty="0">
                <a:solidFill>
                  <a:srgbClr val="252E33"/>
                </a:solidFill>
                <a:effectLst/>
                <a:latin typeface="-apple-system"/>
              </a:rPr>
              <a:t>deep, rapid </a:t>
            </a:r>
            <a:r>
              <a:rPr lang="en-US" b="0" i="0" dirty="0" err="1">
                <a:solidFill>
                  <a:srgbClr val="252E33"/>
                </a:solidFill>
                <a:effectLst/>
                <a:latin typeface="-apple-system"/>
              </a:rPr>
              <a:t>Kussmaul</a:t>
            </a:r>
            <a:r>
              <a:rPr lang="en-US" b="0" i="0" dirty="0">
                <a:solidFill>
                  <a:srgbClr val="252E33"/>
                </a:solidFill>
                <a:effectLst/>
                <a:latin typeface="-apple-system"/>
              </a:rPr>
              <a:t> </a:t>
            </a:r>
            <a:r>
              <a:rPr lang="en-US" b="1" i="0" dirty="0">
                <a:solidFill>
                  <a:srgbClr val="252E33"/>
                </a:solidFill>
                <a:effectLst/>
                <a:latin typeface="-apple-system"/>
              </a:rPr>
              <a:t>breaths</a:t>
            </a:r>
            <a:r>
              <a:rPr lang="en-US" b="0" i="0" dirty="0">
                <a:solidFill>
                  <a:srgbClr val="252E33"/>
                </a:solidFill>
                <a:effectLst/>
                <a:latin typeface="-apple-system"/>
              </a:rPr>
              <a:t> and the </a:t>
            </a:r>
            <a:r>
              <a:rPr lang="en-US" b="1" i="0" dirty="0">
                <a:solidFill>
                  <a:srgbClr val="252E33"/>
                </a:solidFill>
                <a:effectLst/>
                <a:latin typeface="-apple-system"/>
              </a:rPr>
              <a:t>fruit-like breath odor</a:t>
            </a:r>
            <a:r>
              <a:rPr lang="en-US" b="0" i="0" dirty="0">
                <a:solidFill>
                  <a:srgbClr val="252E33"/>
                </a:solidFill>
                <a:effectLst/>
                <a:latin typeface="-apple-system"/>
              </a:rPr>
              <a:t>.</a:t>
            </a:r>
            <a:r>
              <a:rPr lang="en-US" b="1" i="0" dirty="0">
                <a:solidFill>
                  <a:srgbClr val="252E33"/>
                </a:solidFill>
                <a:effectLst/>
                <a:latin typeface="-apple-system"/>
              </a:rPr>
              <a:t>  </a:t>
            </a:r>
            <a:r>
              <a:rPr lang="en-US" b="0" i="0" dirty="0">
                <a:solidFill>
                  <a:srgbClr val="252E33"/>
                </a:solidFill>
                <a:effectLst/>
                <a:latin typeface="-apple-system"/>
              </a:rPr>
              <a:t>Ketones are excreted into the urine (i.e., </a:t>
            </a:r>
            <a:r>
              <a:rPr lang="en-US" b="1" i="0" dirty="0">
                <a:solidFill>
                  <a:srgbClr val="252E33"/>
                </a:solidFill>
                <a:effectLst/>
                <a:latin typeface="-apple-system"/>
              </a:rPr>
              <a:t>ketonuria</a:t>
            </a:r>
            <a:r>
              <a:rPr lang="en-US" b="0" i="0" dirty="0">
                <a:solidFill>
                  <a:srgbClr val="252E33"/>
                </a:solidFill>
                <a:effectLst/>
                <a:latin typeface="-apple-system"/>
              </a:rPr>
              <a:t>) along with glucose, pulling water along with it (i.e., </a:t>
            </a:r>
            <a:r>
              <a:rPr lang="en-US" b="1" i="0" dirty="0">
                <a:solidFill>
                  <a:srgbClr val="252E33"/>
                </a:solidFill>
                <a:effectLst/>
                <a:latin typeface="-apple-system"/>
              </a:rPr>
              <a:t>frequent urination</a:t>
            </a:r>
            <a:r>
              <a:rPr lang="en-US" b="0" i="0" dirty="0">
                <a:solidFill>
                  <a:srgbClr val="252E33"/>
                </a:solidFill>
                <a:effectLst/>
                <a:latin typeface="-apple-system"/>
              </a:rPr>
              <a:t>). Fluid loss through urination causes dehydration and </a:t>
            </a:r>
            <a:r>
              <a:rPr lang="en-US" b="1" i="0" dirty="0">
                <a:solidFill>
                  <a:srgbClr val="252E33"/>
                </a:solidFill>
                <a:effectLst/>
                <a:latin typeface="-apple-system"/>
              </a:rPr>
              <a:t>excessive thirst </a:t>
            </a:r>
            <a:r>
              <a:rPr lang="en-US" b="0" i="0" dirty="0">
                <a:solidFill>
                  <a:srgbClr val="252E33"/>
                </a:solidFill>
                <a:effectLst/>
                <a:latin typeface="-apple-system"/>
              </a:rPr>
              <a:t>(i.e., polydipsia).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7DC217-DF71-1A49-B3EA-559F1F43B0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3965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1" dirty="0">
                <a:solidFill>
                  <a:srgbClr val="252E33"/>
                </a:solidFill>
                <a:effectLst/>
                <a:latin typeface="-apple-system"/>
              </a:rPr>
              <a:t>Diabetic ketoacidosis </a:t>
            </a:r>
            <a:r>
              <a:rPr lang="en-US" b="0" i="0" dirty="0">
                <a:solidFill>
                  <a:srgbClr val="252E33"/>
                </a:solidFill>
                <a:effectLst/>
                <a:latin typeface="-apple-system"/>
              </a:rPr>
              <a:t>(DKA) is a life threatening complication of type 1 diabetes. Osmotic diuresis in DKA causes polyuria and without rapid fluid replacement can lead to </a:t>
            </a:r>
            <a:r>
              <a:rPr lang="en-US" b="1" i="0" dirty="0">
                <a:solidFill>
                  <a:srgbClr val="252E33"/>
                </a:solidFill>
                <a:effectLst/>
                <a:latin typeface="-apple-system"/>
              </a:rPr>
              <a:t>severe dehydration</a:t>
            </a:r>
            <a:r>
              <a:rPr lang="en-US" b="0" i="0" dirty="0">
                <a:solidFill>
                  <a:srgbClr val="252E33"/>
                </a:solidFill>
                <a:effectLst/>
                <a:latin typeface="-apple-system"/>
              </a:rPr>
              <a:t>. Acidosis and dehydration create electrolyte imbalances, placing the client at risk for deadly arrhythmias and </a:t>
            </a:r>
            <a:r>
              <a:rPr lang="en-US" b="1" i="0" dirty="0">
                <a:solidFill>
                  <a:srgbClr val="252E33"/>
                </a:solidFill>
                <a:effectLst/>
                <a:latin typeface="-apple-system"/>
              </a:rPr>
              <a:t>cardiac arrest</a:t>
            </a:r>
            <a:r>
              <a:rPr lang="en-US" b="0" i="0" dirty="0">
                <a:solidFill>
                  <a:srgbClr val="252E33"/>
                </a:solidFill>
                <a:effectLst/>
                <a:latin typeface="-apple-system"/>
              </a:rPr>
              <a:t>. </a:t>
            </a:r>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0" i="0" dirty="0">
                <a:solidFill>
                  <a:srgbClr val="252E33"/>
                </a:solidFill>
                <a:effectLst/>
                <a:latin typeface="-apple-system"/>
              </a:rPr>
              <a:t>When administering IV fluids to treat DKA, the sudden increase in intravascular fluid can quickly move fluid into the cells. If fluid and insulin are replaced too quickly, there is an increased risk of swelling in the brain (i.e., </a:t>
            </a:r>
            <a:r>
              <a:rPr lang="en-US" b="1" i="0" dirty="0">
                <a:solidFill>
                  <a:srgbClr val="252E33"/>
                </a:solidFill>
                <a:effectLst/>
                <a:latin typeface="-apple-system"/>
              </a:rPr>
              <a:t>cerebral edema</a:t>
            </a:r>
            <a:r>
              <a:rPr lang="en-US" b="0" i="0" dirty="0">
                <a:solidFill>
                  <a:srgbClr val="252E33"/>
                </a:solidFill>
                <a:effectLst/>
                <a:latin typeface="-apple-system"/>
              </a:rPr>
              <a:t>). Cerebral edema is more commonly seen in pediatric clients.</a:t>
            </a:r>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0" i="0" dirty="0">
                <a:solidFill>
                  <a:srgbClr val="252E33"/>
                </a:solidFill>
                <a:effectLst/>
                <a:latin typeface="-apple-system"/>
              </a:rPr>
              <a:t>Therefore, </a:t>
            </a:r>
            <a:r>
              <a:rPr lang="en-US" b="1" i="0" dirty="0">
                <a:solidFill>
                  <a:srgbClr val="252E33"/>
                </a:solidFill>
                <a:effectLst/>
                <a:latin typeface="-apple-system"/>
              </a:rPr>
              <a:t>the nurse should prioritize monitoring the client for </a:t>
            </a:r>
            <a:r>
              <a:rPr lang="en-US" b="1" i="0" u="sng" dirty="0">
                <a:solidFill>
                  <a:srgbClr val="252E33"/>
                </a:solidFill>
                <a:effectLst/>
                <a:latin typeface="-apple-system"/>
              </a:rPr>
              <a:t>cardiac arrest</a:t>
            </a:r>
            <a:r>
              <a:rPr lang="en-US" b="1" i="0" dirty="0">
                <a:solidFill>
                  <a:srgbClr val="252E33"/>
                </a:solidFill>
                <a:effectLst/>
                <a:latin typeface="-apple-system"/>
              </a:rPr>
              <a:t>, </a:t>
            </a:r>
            <a:r>
              <a:rPr lang="en-US" b="1" i="0" u="sng" dirty="0">
                <a:solidFill>
                  <a:srgbClr val="252E33"/>
                </a:solidFill>
                <a:effectLst/>
                <a:latin typeface="-apple-system"/>
              </a:rPr>
              <a:t>cerebral edema</a:t>
            </a:r>
            <a:r>
              <a:rPr lang="en-US" b="1" i="0" dirty="0">
                <a:solidFill>
                  <a:srgbClr val="252E33"/>
                </a:solidFill>
                <a:effectLst/>
                <a:latin typeface="-apple-system"/>
              </a:rPr>
              <a:t>, and </a:t>
            </a:r>
            <a:r>
              <a:rPr lang="en-US" b="1" i="0" u="sng" dirty="0">
                <a:solidFill>
                  <a:srgbClr val="252E33"/>
                </a:solidFill>
                <a:effectLst/>
                <a:latin typeface="-apple-system"/>
              </a:rPr>
              <a:t>severe dehydration</a:t>
            </a:r>
            <a:r>
              <a:rPr lang="en-US" b="1" i="0" dirty="0">
                <a:solidFill>
                  <a:srgbClr val="252E33"/>
                </a:solidFill>
                <a:effectLst/>
                <a:latin typeface="-apple-system"/>
              </a:rPr>
              <a:t>.</a:t>
            </a:r>
            <a:endParaRPr lang="en-US" b="0" i="0" dirty="0">
              <a:solidFill>
                <a:srgbClr val="252E33"/>
              </a:solidFill>
              <a:effectLst/>
              <a:latin typeface="-apple-system"/>
            </a:endParaRP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Incorrect:</a:t>
            </a:r>
            <a:endParaRPr lang="en-US" b="0" i="0" dirty="0">
              <a:solidFill>
                <a:srgbClr val="252E33"/>
              </a:solidFill>
              <a:effectLst/>
              <a:latin typeface="-apple-system"/>
            </a:endParaRP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Stroke, Neuropathy, Retinopathy</a:t>
            </a:r>
            <a:endParaRPr lang="en-US" b="0" i="0" dirty="0">
              <a:solidFill>
                <a:srgbClr val="252E33"/>
              </a:solidFill>
              <a:effectLst/>
              <a:latin typeface="-apple-system"/>
            </a:endParaRPr>
          </a:p>
          <a:p>
            <a:pPr algn="l" rtl="0"/>
            <a:r>
              <a:rPr lang="en-US" b="0" i="0" dirty="0">
                <a:solidFill>
                  <a:srgbClr val="252E33"/>
                </a:solidFill>
                <a:effectLst/>
                <a:latin typeface="-apple-system"/>
              </a:rPr>
              <a:t>Diabetes can damage nerves, causing decreased sensation and pain (i.e., neuropathy), and microvascular damage to the vessels of the retina (i.e. retinopathy) with loss of vision. Over time, hyperglycemia can damage vasculature, increasing the risk of atherosclerosis, myocardial infarction, and stroke. These chronic complications are not immediately life threatening.</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Urinary tract infection</a:t>
            </a:r>
            <a:endParaRPr lang="en-US" b="0" i="0" dirty="0">
              <a:solidFill>
                <a:srgbClr val="252E33"/>
              </a:solidFill>
              <a:effectLst/>
              <a:latin typeface="-apple-system"/>
            </a:endParaRPr>
          </a:p>
          <a:p>
            <a:pPr algn="l" rtl="0"/>
            <a:r>
              <a:rPr lang="en-US" b="0" i="0" dirty="0">
                <a:solidFill>
                  <a:srgbClr val="252E33"/>
                </a:solidFill>
                <a:effectLst/>
                <a:latin typeface="-apple-system"/>
              </a:rPr>
              <a:t>Glucose in the urine (i.e., glycosuria) increases bacterial and fungal growth, increasing risk for UTIs. Although a concern, bacteria takes time to grow, so this is not the highest risk at this time. </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1836434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dirty="0">
                <a:solidFill>
                  <a:srgbClr val="252E33"/>
                </a:solidFill>
                <a:effectLst/>
                <a:latin typeface="-apple-system"/>
              </a:rPr>
              <a:t>Interventions for DKA are aimed at </a:t>
            </a:r>
            <a:r>
              <a:rPr lang="en-US" b="0" i="1" dirty="0">
                <a:solidFill>
                  <a:srgbClr val="252E33"/>
                </a:solidFill>
                <a:effectLst/>
                <a:latin typeface="-apple-system"/>
              </a:rPr>
              <a:t>monitoring for complications</a:t>
            </a:r>
            <a:r>
              <a:rPr lang="en-US" b="0" i="0" dirty="0">
                <a:solidFill>
                  <a:srgbClr val="252E33"/>
                </a:solidFill>
                <a:effectLst/>
                <a:latin typeface="-apple-system"/>
              </a:rPr>
              <a:t> and </a:t>
            </a:r>
            <a:r>
              <a:rPr lang="en-US" b="0" i="1" dirty="0">
                <a:solidFill>
                  <a:srgbClr val="252E33"/>
                </a:solidFill>
                <a:effectLst/>
                <a:latin typeface="-apple-system"/>
              </a:rPr>
              <a:t>managing blood glucose levels</a:t>
            </a:r>
            <a:r>
              <a:rPr lang="en-US" b="0" i="0" dirty="0">
                <a:solidFill>
                  <a:srgbClr val="252E33"/>
                </a:solidFill>
                <a:effectLst/>
                <a:latin typeface="-apple-system"/>
              </a:rPr>
              <a:t>.</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Nervous system:</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Monitor for changes in level of consciousness</a:t>
            </a:r>
            <a:r>
              <a:rPr lang="en-US" b="0" i="0" dirty="0">
                <a:solidFill>
                  <a:srgbClr val="252E33"/>
                </a:solidFill>
                <a:effectLst/>
                <a:latin typeface="-apple-system"/>
              </a:rPr>
              <a:t> that can indicate electrolyte imbalances or cerebral edema.</a:t>
            </a:r>
          </a:p>
          <a:p>
            <a:pPr algn="l" rtl="0"/>
            <a:r>
              <a:rPr lang="en-US" b="1" i="0" dirty="0">
                <a:solidFill>
                  <a:srgbClr val="252E33"/>
                </a:solidFill>
                <a:effectLst/>
                <a:latin typeface="-apple-system"/>
              </a:rPr>
              <a:t>Incorrect:</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Preparing for MRI </a:t>
            </a:r>
            <a:r>
              <a:rPr lang="en-US" b="0" i="0" dirty="0">
                <a:solidFill>
                  <a:srgbClr val="252E33"/>
                </a:solidFill>
                <a:effectLst/>
                <a:latin typeface="-apple-system"/>
              </a:rPr>
              <a:t>and </a:t>
            </a:r>
            <a:r>
              <a:rPr lang="en-US" b="1" i="0" dirty="0">
                <a:solidFill>
                  <a:srgbClr val="252E33"/>
                </a:solidFill>
                <a:effectLst/>
                <a:latin typeface="-apple-system"/>
              </a:rPr>
              <a:t>administering antiepileptic medication </a:t>
            </a:r>
            <a:r>
              <a:rPr lang="en-US" b="0" i="0" dirty="0">
                <a:solidFill>
                  <a:srgbClr val="252E33"/>
                </a:solidFill>
                <a:effectLst/>
                <a:latin typeface="-apple-system"/>
              </a:rPr>
              <a:t>are unnecessary, as the client’s mental status changes are caused by metabolic disturbances, not a neurologic condition. </a:t>
            </a:r>
            <a:endParaRPr lang="en-US" b="1" i="0" dirty="0">
              <a:solidFill>
                <a:srgbClr val="252E33"/>
              </a:solidFill>
              <a:effectLst/>
              <a:latin typeface="-apple-system"/>
            </a:endParaRPr>
          </a:p>
          <a:p>
            <a:pPr algn="l" rtl="0"/>
            <a:r>
              <a:rPr lang="en-US" b="1" i="0" dirty="0">
                <a:solidFill>
                  <a:srgbClr val="252E33"/>
                </a:solidFill>
                <a:effectLst/>
                <a:latin typeface="-apple-system"/>
              </a:rPr>
              <a:t>Endocrine system:</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Administer continuous IV regular insulin</a:t>
            </a:r>
            <a:r>
              <a:rPr lang="en-US" b="0" i="0" dirty="0">
                <a:solidFill>
                  <a:srgbClr val="252E33"/>
                </a:solidFill>
                <a:effectLst/>
                <a:latin typeface="-apple-system"/>
              </a:rPr>
              <a:t> to quickly manage blood glucose levels and titrate for changes. </a:t>
            </a:r>
          </a:p>
          <a:p>
            <a:pPr algn="l" rtl="0"/>
            <a:r>
              <a:rPr lang="en-US" b="1" i="0" dirty="0">
                <a:solidFill>
                  <a:srgbClr val="252E33"/>
                </a:solidFill>
                <a:effectLst/>
                <a:latin typeface="-apple-system"/>
              </a:rPr>
              <a:t>Incorrect:</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Administering IM glucagon. </a:t>
            </a:r>
            <a:r>
              <a:rPr lang="en-US" b="0" i="0" dirty="0">
                <a:solidFill>
                  <a:srgbClr val="252E33"/>
                </a:solidFill>
                <a:effectLst/>
                <a:latin typeface="-apple-system"/>
              </a:rPr>
              <a:t>IM glucagon may be indicated for hypoglycemia, not hyperglycemia</a:t>
            </a:r>
            <a:endParaRPr lang="en-US" b="1"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Blood glucose monitoring</a:t>
            </a:r>
            <a:r>
              <a:rPr lang="en-US" b="0" i="0" dirty="0">
                <a:solidFill>
                  <a:srgbClr val="252E33"/>
                </a:solidFill>
                <a:effectLst/>
                <a:latin typeface="-apple-system"/>
              </a:rPr>
              <a:t> is required hourly, not </a:t>
            </a:r>
            <a:r>
              <a:rPr lang="en-US" b="1" i="0" dirty="0">
                <a:solidFill>
                  <a:srgbClr val="252E33"/>
                </a:solidFill>
                <a:effectLst/>
                <a:latin typeface="-apple-system"/>
              </a:rPr>
              <a:t>every 2 hours</a:t>
            </a:r>
            <a:r>
              <a:rPr lang="en-US" b="0" i="0" dirty="0">
                <a:solidFill>
                  <a:srgbClr val="252E33"/>
                </a:solidFill>
                <a:effectLst/>
                <a:latin typeface="-apple-system"/>
              </a:rPr>
              <a:t>, during IV insulin infusion to determine titration and monitor for hypoglycemia. </a:t>
            </a:r>
            <a:endParaRPr lang="en-US" b="1" i="0" dirty="0">
              <a:solidFill>
                <a:srgbClr val="252E33"/>
              </a:solidFill>
              <a:effectLst/>
              <a:latin typeface="-apple-system"/>
            </a:endParaRPr>
          </a:p>
          <a:p>
            <a:pPr algn="l" rtl="0"/>
            <a:r>
              <a:rPr lang="en-US" b="1" i="0" dirty="0">
                <a:solidFill>
                  <a:srgbClr val="252E33"/>
                </a:solidFill>
                <a:effectLst/>
                <a:latin typeface="-apple-system"/>
              </a:rPr>
              <a:t>Respiratory system:</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Monitor ABGs</a:t>
            </a:r>
            <a:r>
              <a:rPr lang="en-US" b="0" i="0" dirty="0">
                <a:solidFill>
                  <a:srgbClr val="252E33"/>
                </a:solidFill>
                <a:effectLst/>
                <a:latin typeface="-apple-system"/>
              </a:rPr>
              <a:t> to assess severity of acidosis and response to treatment.</a:t>
            </a:r>
          </a:p>
          <a:p>
            <a:pPr algn="l" rtl="0"/>
            <a:r>
              <a:rPr lang="en-US" b="1" i="0" dirty="0">
                <a:solidFill>
                  <a:srgbClr val="252E33"/>
                </a:solidFill>
                <a:effectLst/>
                <a:latin typeface="-apple-system"/>
              </a:rPr>
              <a:t>Incorrect:</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Preparing for CPAP </a:t>
            </a:r>
            <a:r>
              <a:rPr lang="en-US" b="0" i="0" dirty="0">
                <a:solidFill>
                  <a:srgbClr val="252E33"/>
                </a:solidFill>
                <a:effectLst/>
                <a:latin typeface="-apple-system"/>
              </a:rPr>
              <a:t>and </a:t>
            </a:r>
            <a:r>
              <a:rPr lang="en-US" b="1" i="0" dirty="0">
                <a:solidFill>
                  <a:srgbClr val="252E33"/>
                </a:solidFill>
                <a:effectLst/>
                <a:latin typeface="-apple-system"/>
              </a:rPr>
              <a:t>placing client in semi Fowler’s </a:t>
            </a:r>
            <a:r>
              <a:rPr lang="en-US" b="0" i="0" dirty="0">
                <a:solidFill>
                  <a:srgbClr val="252E33"/>
                </a:solidFill>
                <a:effectLst/>
                <a:latin typeface="-apple-system"/>
              </a:rPr>
              <a:t>are not indicated if the client is adequately oxygenated.</a:t>
            </a:r>
            <a:endParaRPr lang="en-US" b="1" i="0" dirty="0">
              <a:solidFill>
                <a:srgbClr val="252E33"/>
              </a:solidFill>
              <a:effectLst/>
              <a:latin typeface="-apple-system"/>
            </a:endParaRPr>
          </a:p>
          <a:p>
            <a:pPr algn="l" rtl="0"/>
            <a:r>
              <a:rPr lang="en-US" b="1" i="0" dirty="0">
                <a:solidFill>
                  <a:srgbClr val="252E33"/>
                </a:solidFill>
                <a:effectLst/>
                <a:latin typeface="-apple-system"/>
              </a:rPr>
              <a:t>Cardiovascular system:</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Connect the client to a cardiac monitor </a:t>
            </a:r>
            <a:r>
              <a:rPr lang="en-US" b="0" i="0" dirty="0">
                <a:solidFill>
                  <a:srgbClr val="252E33"/>
                </a:solidFill>
                <a:effectLst/>
                <a:latin typeface="-apple-system"/>
              </a:rPr>
              <a:t>to assess ECG changes caused by electrolyte imbalances.</a:t>
            </a:r>
          </a:p>
          <a:p>
            <a:pPr algn="l" rtl="0"/>
            <a:r>
              <a:rPr lang="en-US" b="1" i="0" dirty="0">
                <a:solidFill>
                  <a:srgbClr val="252E33"/>
                </a:solidFill>
                <a:effectLst/>
                <a:latin typeface="-apple-system"/>
              </a:rPr>
              <a:t>Incorrect:</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Assessing for DVT every 4 hours</a:t>
            </a:r>
            <a:r>
              <a:rPr lang="en-US" b="0" i="0" dirty="0">
                <a:solidFill>
                  <a:srgbClr val="252E33"/>
                </a:solidFill>
                <a:effectLst/>
                <a:latin typeface="-apple-system"/>
              </a:rPr>
              <a:t> is unnecessary if the client is low risk for DVT (e.g., no malignancy or recent surgery).</a:t>
            </a:r>
          </a:p>
          <a:p>
            <a:pPr algn="l" rtl="0" fontAlgn="base">
              <a:buFont typeface="Arial" panose="020B0604020202020204" pitchFamily="34" charset="0"/>
              <a:buChar char="•"/>
            </a:pPr>
            <a:r>
              <a:rPr lang="en-US" b="1" i="0" dirty="0">
                <a:solidFill>
                  <a:srgbClr val="252E33"/>
                </a:solidFill>
                <a:effectLst/>
                <a:latin typeface="-apple-system"/>
              </a:rPr>
              <a:t>Preparing for cardioversion </a:t>
            </a:r>
            <a:r>
              <a:rPr lang="en-US" b="0" i="0" dirty="0">
                <a:solidFill>
                  <a:srgbClr val="252E33"/>
                </a:solidFill>
                <a:effectLst/>
                <a:latin typeface="-apple-system"/>
              </a:rPr>
              <a:t>is unnecessary and treatment indicated for atrial fibrillation or SVT</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1664487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1" dirty="0">
                <a:solidFill>
                  <a:srgbClr val="252E33"/>
                </a:solidFill>
                <a:effectLst/>
                <a:latin typeface="-apple-system"/>
              </a:rPr>
              <a:t>Hyperkalemia</a:t>
            </a:r>
            <a:r>
              <a:rPr lang="en-US" b="0" i="0" dirty="0">
                <a:solidFill>
                  <a:srgbClr val="252E33"/>
                </a:solidFill>
                <a:effectLst/>
                <a:latin typeface="-apple-system"/>
              </a:rPr>
              <a:t> occurs in diabetic ketoacidosis when high serum osmolality (e.g., from hyperglycemia) causes hydrogen ions to enter the cell in exchange for potassium. After administering IV fluids and insulin, insulin drives potassium back into the intracellular space, which may precipitate </a:t>
            </a:r>
            <a:r>
              <a:rPr lang="en-US" b="0" i="1" dirty="0">
                <a:solidFill>
                  <a:srgbClr val="252E33"/>
                </a:solidFill>
                <a:effectLst/>
                <a:latin typeface="-apple-system"/>
              </a:rPr>
              <a:t>hypokalemia</a:t>
            </a:r>
            <a:r>
              <a:rPr lang="en-US" b="0" i="0" dirty="0">
                <a:solidFill>
                  <a:srgbClr val="252E33"/>
                </a:solidFill>
                <a:effectLst/>
                <a:latin typeface="-apple-system"/>
              </a:rPr>
              <a:t>.</a:t>
            </a:r>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0" i="0" dirty="0">
                <a:solidFill>
                  <a:srgbClr val="252E33"/>
                </a:solidFill>
                <a:effectLst/>
                <a:latin typeface="-apple-system"/>
              </a:rPr>
              <a:t>Once blood glucose is between 250-300 mg/dL (13.9-16.7 mmol/L), the nurse should </a:t>
            </a:r>
            <a:r>
              <a:rPr lang="en-US" b="1" i="0" dirty="0">
                <a:solidFill>
                  <a:srgbClr val="252E33"/>
                </a:solidFill>
                <a:effectLst/>
                <a:latin typeface="-apple-system"/>
              </a:rPr>
              <a:t>start IV fluids </a:t>
            </a:r>
            <a:r>
              <a:rPr lang="en-US" b="0" i="0" dirty="0">
                <a:solidFill>
                  <a:srgbClr val="252E33"/>
                </a:solidFill>
                <a:effectLst/>
                <a:latin typeface="-apple-system"/>
              </a:rPr>
              <a:t>containing 5% to 10% dextrose, like </a:t>
            </a:r>
            <a:r>
              <a:rPr lang="en-US" b="1" i="0" dirty="0">
                <a:solidFill>
                  <a:srgbClr val="252E33"/>
                </a:solidFill>
                <a:effectLst/>
                <a:latin typeface="-apple-system"/>
              </a:rPr>
              <a:t>dextrose 5% in sodium chloride 0.9%</a:t>
            </a:r>
            <a:r>
              <a:rPr lang="en-US" b="0" i="0" dirty="0">
                <a:solidFill>
                  <a:srgbClr val="252E33"/>
                </a:solidFill>
                <a:effectLst/>
                <a:latin typeface="-apple-system"/>
              </a:rPr>
              <a:t>,</a:t>
            </a:r>
            <a:r>
              <a:rPr lang="en-US" b="1" i="0" dirty="0">
                <a:solidFill>
                  <a:srgbClr val="252E33"/>
                </a:solidFill>
                <a:effectLst/>
                <a:latin typeface="-apple-system"/>
              </a:rPr>
              <a:t> </a:t>
            </a:r>
            <a:r>
              <a:rPr lang="en-US" b="0" i="0" dirty="0">
                <a:solidFill>
                  <a:srgbClr val="252E33"/>
                </a:solidFill>
                <a:effectLst/>
                <a:latin typeface="-apple-system"/>
              </a:rPr>
              <a:t>to maintain normal glucose levels and prevent hypoglycemia. </a:t>
            </a:r>
          </a:p>
          <a:p>
            <a:pPr algn="l" rtl="0"/>
            <a:r>
              <a:rPr lang="en-US" b="1" i="0" dirty="0">
                <a:solidFill>
                  <a:srgbClr val="252E33"/>
                </a:solidFill>
                <a:effectLst/>
                <a:latin typeface="-apple-system"/>
              </a:rPr>
              <a:t>Administer IV ondansetron </a:t>
            </a:r>
            <a:r>
              <a:rPr lang="en-US" b="0" i="0" dirty="0">
                <a:solidFill>
                  <a:srgbClr val="252E33"/>
                </a:solidFill>
                <a:effectLst/>
                <a:latin typeface="-apple-system"/>
              </a:rPr>
              <a:t>to treat nausea.</a:t>
            </a:r>
          </a:p>
          <a:p>
            <a:pPr algn="l" rtl="0"/>
            <a:r>
              <a:rPr lang="en-US" b="1" i="0" dirty="0">
                <a:solidFill>
                  <a:srgbClr val="252E33"/>
                </a:solidFill>
                <a:effectLst/>
                <a:latin typeface="-apple-system"/>
              </a:rPr>
              <a:t>Obtain a basic metabolic panel </a:t>
            </a:r>
            <a:r>
              <a:rPr lang="en-US" b="0" i="0" dirty="0">
                <a:solidFill>
                  <a:srgbClr val="252E33"/>
                </a:solidFill>
                <a:effectLst/>
                <a:latin typeface="-apple-system"/>
              </a:rPr>
              <a:t>to monitor potassium and other electrolytes</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Incorrect:</a:t>
            </a:r>
            <a:endParaRPr lang="en-US" b="0" i="0" dirty="0">
              <a:solidFill>
                <a:srgbClr val="252E33"/>
              </a:solidFill>
              <a:effectLst/>
              <a:latin typeface="-apple-system"/>
            </a:endParaRP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Start subcutaneous insulin, Stop the IV insulin infusion</a:t>
            </a:r>
            <a:endParaRPr lang="en-US" b="0" i="0" dirty="0">
              <a:solidFill>
                <a:srgbClr val="252E33"/>
              </a:solidFill>
              <a:effectLst/>
              <a:latin typeface="-apple-system"/>
            </a:endParaRPr>
          </a:p>
          <a:p>
            <a:pPr algn="l" rtl="0"/>
            <a:r>
              <a:rPr lang="en-US" b="0" i="0" dirty="0">
                <a:solidFill>
                  <a:srgbClr val="252E33"/>
                </a:solidFill>
                <a:effectLst/>
                <a:latin typeface="-apple-system"/>
              </a:rPr>
              <a:t>IV insulin is discontinued once glucose levels are low enough to utilize subcutaneous insulin, nausea and vomiting have resolved, and the client can tolerate oral intake. </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Obtain a troponin level, Administer IV labetalol, Prepare for cardioversion</a:t>
            </a:r>
            <a:endParaRPr lang="en-US" b="0" i="0" dirty="0">
              <a:solidFill>
                <a:srgbClr val="252E33"/>
              </a:solidFill>
              <a:effectLst/>
              <a:latin typeface="-apple-system"/>
            </a:endParaRPr>
          </a:p>
          <a:p>
            <a:pPr algn="l" rtl="0"/>
            <a:r>
              <a:rPr lang="en-US" b="0" i="0" dirty="0">
                <a:solidFill>
                  <a:srgbClr val="252E33"/>
                </a:solidFill>
                <a:effectLst/>
                <a:latin typeface="-apple-system"/>
              </a:rPr>
              <a:t>Troponin levels are not indicated for this client, as the ECG changes are caused by hypokalemia rather than coronary ischemia. Cardioversion and IV beta blockers are indicated in unstable tachyarrhythmias (e.g., atrial fibrillation).</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Administer IV potassium</a:t>
            </a:r>
            <a:endParaRPr lang="en-US" b="0" i="0" dirty="0">
              <a:solidFill>
                <a:srgbClr val="252E33"/>
              </a:solidFill>
              <a:effectLst/>
              <a:latin typeface="-apple-system"/>
            </a:endParaRPr>
          </a:p>
          <a:p>
            <a:pPr algn="l" rtl="0"/>
            <a:r>
              <a:rPr lang="en-US" b="0" i="0" dirty="0">
                <a:solidFill>
                  <a:srgbClr val="252E33"/>
                </a:solidFill>
                <a:effectLst/>
                <a:latin typeface="-apple-system"/>
              </a:rPr>
              <a:t>The nurse must confirm hypokalemia by checking a BMP before administering potassium. </a:t>
            </a:r>
          </a:p>
          <a:p>
            <a:pPr algn="l"/>
            <a:br>
              <a:rPr lang="en-US" b="0" i="0" dirty="0">
                <a:solidFill>
                  <a:srgbClr val="252E33"/>
                </a:solidFill>
                <a:effectLst/>
                <a:latin typeface="-apple-system"/>
              </a:rPr>
            </a:br>
            <a:endParaRPr lang="en-US" b="0" i="0" dirty="0">
              <a:solidFill>
                <a:srgbClr val="252E33"/>
              </a:solidFill>
              <a:effectLst/>
              <a:latin typeface="-apple-system"/>
            </a:endParaRPr>
          </a:p>
          <a:p>
            <a:pPr algn="l" rtl="0"/>
            <a:r>
              <a:rPr lang="en-US" b="1" i="0" dirty="0">
                <a:solidFill>
                  <a:srgbClr val="252E33"/>
                </a:solidFill>
                <a:effectLst/>
                <a:latin typeface="-apple-system"/>
              </a:rPr>
              <a:t>Key Takeaway:</a:t>
            </a:r>
            <a:endParaRPr lang="en-US" b="0" i="0" dirty="0">
              <a:solidFill>
                <a:srgbClr val="252E33"/>
              </a:solidFill>
              <a:effectLst/>
              <a:latin typeface="-apple-system"/>
            </a:endParaRPr>
          </a:p>
          <a:p>
            <a:pPr algn="l" rtl="0" fontAlgn="base">
              <a:buFont typeface="Arial" panose="020B0604020202020204" pitchFamily="34" charset="0"/>
              <a:buChar char="•"/>
            </a:pPr>
            <a:r>
              <a:rPr lang="en-US" b="0" i="0" dirty="0">
                <a:solidFill>
                  <a:srgbClr val="252E33"/>
                </a:solidFill>
                <a:effectLst/>
                <a:latin typeface="-apple-system"/>
              </a:rPr>
              <a:t>Only administer potassium once hypokalemia is confirmed with a BMP.</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211880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dirty="0">
                <a:solidFill>
                  <a:srgbClr val="252E33"/>
                </a:solidFill>
                <a:effectLst/>
                <a:latin typeface="-apple-system"/>
              </a:rPr>
              <a:t>Teaching is effective if the client demonstrates an </a:t>
            </a:r>
            <a:r>
              <a:rPr lang="en-US" b="1" i="0" dirty="0">
                <a:solidFill>
                  <a:srgbClr val="252E33"/>
                </a:solidFill>
                <a:effectLst/>
                <a:latin typeface="-apple-system"/>
              </a:rPr>
              <a:t>understanding</a:t>
            </a:r>
            <a:r>
              <a:rPr lang="en-US" b="0" i="0" dirty="0">
                <a:solidFill>
                  <a:srgbClr val="252E33"/>
                </a:solidFill>
                <a:effectLst/>
                <a:latin typeface="-apple-system"/>
              </a:rPr>
              <a:t> of these teaching points:</a:t>
            </a:r>
          </a:p>
          <a:p>
            <a:pPr algn="l" rtl="0"/>
            <a:endParaRPr lang="en-US" b="0" i="0" dirty="0">
              <a:solidFill>
                <a:srgbClr val="252E33"/>
              </a:solidFill>
              <a:effectLst/>
              <a:latin typeface="-apple-system"/>
            </a:endParaRPr>
          </a:p>
          <a:p>
            <a:pPr algn="l" rtl="0" fontAlgn="base">
              <a:buFont typeface="Arial" panose="020B0604020202020204" pitchFamily="34" charset="0"/>
              <a:buChar char="•"/>
            </a:pPr>
            <a:r>
              <a:rPr lang="en-US" b="0" i="0" dirty="0">
                <a:solidFill>
                  <a:srgbClr val="252E33"/>
                </a:solidFill>
                <a:effectLst/>
                <a:latin typeface="-apple-system"/>
              </a:rPr>
              <a:t>Manage hypoglycemia by </a:t>
            </a:r>
            <a:r>
              <a:rPr lang="en-US" b="1" i="0" dirty="0">
                <a:solidFill>
                  <a:srgbClr val="252E33"/>
                </a:solidFill>
                <a:effectLst/>
                <a:latin typeface="-apple-system"/>
              </a:rPr>
              <a:t>checking blood sugar and eating a snack when feeling </a:t>
            </a:r>
            <a:r>
              <a:rPr lang="en-US" b="0" i="0" u="sng" dirty="0">
                <a:solidFill>
                  <a:srgbClr val="0000FF"/>
                </a:solidFill>
                <a:effectLst/>
                <a:latin typeface="-apple-system"/>
              </a:rPr>
              <a:t>hypoglycemic</a:t>
            </a:r>
            <a:r>
              <a:rPr lang="en-US" b="1" i="0" dirty="0">
                <a:solidFill>
                  <a:srgbClr val="252E33"/>
                </a:solidFill>
                <a:effectLst/>
                <a:latin typeface="-apple-system"/>
              </a:rPr>
              <a:t> </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Bring snacks during physical activities </a:t>
            </a:r>
            <a:r>
              <a:rPr lang="en-US" b="0" i="0" dirty="0">
                <a:solidFill>
                  <a:srgbClr val="252E33"/>
                </a:solidFill>
                <a:effectLst/>
                <a:latin typeface="-apple-system"/>
              </a:rPr>
              <a:t>to prevent hypoglycemia after exercise</a:t>
            </a:r>
            <a:r>
              <a:rPr lang="en-US" b="1" i="0" dirty="0">
                <a:solidFill>
                  <a:srgbClr val="252E33"/>
                </a:solidFill>
                <a:effectLst/>
                <a:latin typeface="-apple-system"/>
              </a:rPr>
              <a:t> </a:t>
            </a:r>
            <a:endParaRPr lang="en-US" b="0" i="0" dirty="0">
              <a:solidFill>
                <a:srgbClr val="252E33"/>
              </a:solidFill>
              <a:effectLst/>
              <a:latin typeface="-apple-system"/>
            </a:endParaRPr>
          </a:p>
          <a:p>
            <a:pPr algn="l" rtl="0" fontAlgn="base">
              <a:buFont typeface="Arial" panose="020B0604020202020204" pitchFamily="34" charset="0"/>
              <a:buChar char="•"/>
            </a:pPr>
            <a:r>
              <a:rPr lang="en-US" b="1" i="0" dirty="0">
                <a:solidFill>
                  <a:srgbClr val="252E33"/>
                </a:solidFill>
                <a:effectLst/>
                <a:latin typeface="-apple-system"/>
              </a:rPr>
              <a:t>Choose</a:t>
            </a:r>
            <a:r>
              <a:rPr lang="en-US" b="0" i="0" dirty="0">
                <a:solidFill>
                  <a:srgbClr val="252E33"/>
                </a:solidFill>
                <a:effectLst/>
                <a:latin typeface="-apple-system"/>
              </a:rPr>
              <a:t> </a:t>
            </a:r>
            <a:r>
              <a:rPr lang="en-US" b="1" i="0" dirty="0">
                <a:solidFill>
                  <a:srgbClr val="252E33"/>
                </a:solidFill>
                <a:effectLst/>
                <a:latin typeface="-apple-system"/>
              </a:rPr>
              <a:t>complex carbohydrates and whole fruits over simple carbohydrates and refined sugars</a:t>
            </a:r>
            <a:r>
              <a:rPr lang="en-US" b="0" i="0" dirty="0">
                <a:solidFill>
                  <a:srgbClr val="252E33"/>
                </a:solidFill>
                <a:effectLst/>
                <a:latin typeface="-apple-system"/>
              </a:rPr>
              <a:t>. Simple carbohydrates from white bread and sugary foods quickly increase blood sugar, while complex carbohydrates and whole fruits with fiber are absorbed more slowly.</a:t>
            </a:r>
          </a:p>
          <a:p>
            <a:pPr algn="l" rtl="0" fontAlgn="base">
              <a:buFont typeface="Arial" panose="020B0604020202020204" pitchFamily="34" charset="0"/>
              <a:buChar char="•"/>
            </a:pPr>
            <a:endParaRPr lang="en-US" b="0" i="0" dirty="0">
              <a:solidFill>
                <a:srgbClr val="252E33"/>
              </a:solidFill>
              <a:effectLst/>
              <a:latin typeface="-apple-system"/>
            </a:endParaRPr>
          </a:p>
          <a:p>
            <a:pPr algn="l" rtl="0"/>
            <a:r>
              <a:rPr lang="en-US" b="1" i="0" dirty="0">
                <a:solidFill>
                  <a:srgbClr val="252E33"/>
                </a:solidFill>
                <a:effectLst/>
                <a:latin typeface="-apple-system"/>
              </a:rPr>
              <a:t>No understanding</a:t>
            </a:r>
            <a:r>
              <a:rPr lang="en-US" b="0" i="0" dirty="0">
                <a:solidFill>
                  <a:srgbClr val="252E33"/>
                </a:solidFill>
                <a:effectLst/>
                <a:latin typeface="-apple-system"/>
              </a:rPr>
              <a:t>:</a:t>
            </a:r>
          </a:p>
          <a:p>
            <a:pPr algn="l" rtl="0" fontAlgn="base">
              <a:buFont typeface="Arial" panose="020B0604020202020204" pitchFamily="34" charset="0"/>
              <a:buChar char="•"/>
            </a:pPr>
            <a:r>
              <a:rPr lang="en-US" b="0" i="0" dirty="0">
                <a:solidFill>
                  <a:srgbClr val="252E33"/>
                </a:solidFill>
                <a:effectLst/>
                <a:latin typeface="-apple-system"/>
              </a:rPr>
              <a:t>In type 1 diabetes, the insulin-producing pancreatic beta cells are permanently damaged and the pancreas can no longer produce any insulin. Clients with type 1 diabetes require frequent exogenous insulin. </a:t>
            </a:r>
            <a:r>
              <a:rPr lang="en-US" b="1" i="0" dirty="0">
                <a:solidFill>
                  <a:srgbClr val="252E33"/>
                </a:solidFill>
                <a:effectLst/>
                <a:latin typeface="-apple-system"/>
              </a:rPr>
              <a:t>Healthy diet and exercise</a:t>
            </a:r>
            <a:r>
              <a:rPr lang="en-US" b="0" i="0" dirty="0">
                <a:solidFill>
                  <a:srgbClr val="252E33"/>
                </a:solidFill>
                <a:effectLst/>
                <a:latin typeface="-apple-system"/>
              </a:rPr>
              <a:t> can help manage glucose levels but cannot restore pancreatic function</a:t>
            </a:r>
            <a:r>
              <a:rPr lang="en-US" b="1" i="0" dirty="0">
                <a:solidFill>
                  <a:srgbClr val="252E33"/>
                </a:solidFill>
                <a:effectLst/>
                <a:latin typeface="-apple-system"/>
              </a:rPr>
              <a:t>.</a:t>
            </a:r>
            <a:endParaRPr lang="en-US" b="0" i="0" dirty="0">
              <a:solidFill>
                <a:srgbClr val="252E33"/>
              </a:solidFill>
              <a:effectLst/>
              <a:latin typeface="-apple-system"/>
            </a:endParaRPr>
          </a:p>
          <a:p>
            <a:pPr algn="l" rtl="0" fontAlgn="base">
              <a:buFont typeface="Arial" panose="020B0604020202020204" pitchFamily="34" charset="0"/>
              <a:buChar char="•"/>
            </a:pPr>
            <a:r>
              <a:rPr lang="en-US" b="0" i="0" dirty="0">
                <a:solidFill>
                  <a:srgbClr val="252E33"/>
                </a:solidFill>
                <a:effectLst/>
                <a:latin typeface="-apple-system"/>
              </a:rPr>
              <a:t>Managing diabetes during illness requires clients to </a:t>
            </a:r>
            <a:r>
              <a:rPr lang="en-US" b="1" i="0" dirty="0">
                <a:solidFill>
                  <a:srgbClr val="252E33"/>
                </a:solidFill>
                <a:effectLst/>
                <a:latin typeface="-apple-system"/>
              </a:rPr>
              <a:t>take insulin even when not eating</a:t>
            </a:r>
            <a:r>
              <a:rPr lang="en-US" b="0" i="0" dirty="0">
                <a:solidFill>
                  <a:srgbClr val="252E33"/>
                </a:solidFill>
                <a:effectLst/>
                <a:latin typeface="-apple-system"/>
              </a:rPr>
              <a:t>. Infection and illness cause a stress-induced hyperglycemia that requires insulin to treat. </a:t>
            </a:r>
          </a:p>
          <a:p>
            <a:pPr algn="l" rtl="0" fontAlgn="base">
              <a:buFont typeface="Arial" panose="020B0604020202020204" pitchFamily="34" charset="0"/>
              <a:buChar char="•"/>
            </a:pPr>
            <a:r>
              <a:rPr lang="en-US" b="1" i="0" dirty="0">
                <a:solidFill>
                  <a:srgbClr val="252E33"/>
                </a:solidFill>
                <a:effectLst/>
                <a:latin typeface="-apple-system"/>
              </a:rPr>
              <a:t>Hypoglycemic clients should consume a ½ cup of non-diet soda or juice</a:t>
            </a:r>
            <a:r>
              <a:rPr lang="en-US" b="0" i="0" dirty="0">
                <a:solidFill>
                  <a:srgbClr val="252E33"/>
                </a:solidFill>
                <a:effectLst/>
                <a:latin typeface="-apple-system"/>
              </a:rPr>
              <a:t> which is higher in sugar to quickly increase blood sugar</a:t>
            </a:r>
          </a:p>
          <a:p>
            <a:pPr algn="l" rtl="0" fontAlgn="base">
              <a:buFont typeface="Arial" panose="020B0604020202020204" pitchFamily="34" charset="0"/>
              <a:buChar char="•"/>
            </a:pPr>
            <a:r>
              <a:rPr lang="en-US" b="0" i="0" dirty="0">
                <a:solidFill>
                  <a:srgbClr val="252E33"/>
                </a:solidFill>
                <a:effectLst/>
                <a:latin typeface="-apple-system"/>
              </a:rPr>
              <a:t>Clients should </a:t>
            </a:r>
            <a:r>
              <a:rPr lang="en-US" b="1" i="0" dirty="0">
                <a:solidFill>
                  <a:srgbClr val="252E33"/>
                </a:solidFill>
                <a:effectLst/>
                <a:latin typeface="-apple-system"/>
              </a:rPr>
              <a:t>not recap needles</a:t>
            </a:r>
            <a:r>
              <a:rPr lang="en-US" b="0" i="0" dirty="0">
                <a:solidFill>
                  <a:srgbClr val="252E33"/>
                </a:solidFill>
                <a:effectLst/>
                <a:latin typeface="-apple-system"/>
              </a:rPr>
              <a:t> </a:t>
            </a:r>
            <a:r>
              <a:rPr lang="en-US" b="1" i="0" dirty="0">
                <a:solidFill>
                  <a:srgbClr val="252E33"/>
                </a:solidFill>
                <a:effectLst/>
                <a:latin typeface="-apple-system"/>
              </a:rPr>
              <a:t>or throw needles in a trash bag</a:t>
            </a:r>
            <a:r>
              <a:rPr lang="en-US" b="0" i="0" dirty="0">
                <a:solidFill>
                  <a:srgbClr val="252E33"/>
                </a:solidFill>
                <a:effectLst/>
                <a:latin typeface="-apple-system"/>
              </a:rPr>
              <a:t> because of possible injury</a:t>
            </a:r>
            <a:r>
              <a:rPr lang="en-US" b="1" i="0" dirty="0">
                <a:solidFill>
                  <a:srgbClr val="252E33"/>
                </a:solidFill>
                <a:effectLst/>
                <a:latin typeface="-apple-system"/>
              </a:rPr>
              <a:t> [Choice 8]</a:t>
            </a:r>
            <a:r>
              <a:rPr lang="en-US" b="0" i="0" dirty="0">
                <a:solidFill>
                  <a:srgbClr val="252E33"/>
                </a:solidFill>
                <a:effectLst/>
                <a:latin typeface="-apple-system"/>
              </a:rPr>
              <a:t>. Place sharps in puncture resistant containers and dispose following community guidelines.</a:t>
            </a:r>
          </a:p>
          <a:p>
            <a:pPr algn="l" rtl="0" fontAlgn="base">
              <a:buFont typeface="Arial" panose="020B0604020202020204" pitchFamily="34" charset="0"/>
              <a:buChar char="•"/>
            </a:pPr>
            <a:endParaRPr lang="en-US" b="0" i="0" dirty="0">
              <a:solidFill>
                <a:srgbClr val="252E33"/>
              </a:solidFill>
              <a:effectLst/>
              <a:latin typeface="-apple-system"/>
            </a:endParaRPr>
          </a:p>
          <a:p>
            <a:pPr algn="l" rtl="0" fontAlgn="base">
              <a:buFont typeface="Arial" panose="020B0604020202020204" pitchFamily="34" charset="0"/>
              <a:buChar char="•"/>
            </a:pPr>
            <a:endParaRPr lang="en-US" b="0" i="0" dirty="0">
              <a:solidFill>
                <a:srgbClr val="252E33"/>
              </a:solidFill>
              <a:effectLst/>
              <a:latin typeface="-apple-system"/>
            </a:endParaRPr>
          </a:p>
          <a:p>
            <a:pPr algn="l" rtl="0"/>
            <a:r>
              <a:rPr lang="en-US" b="1" i="0" dirty="0">
                <a:solidFill>
                  <a:srgbClr val="252E33"/>
                </a:solidFill>
                <a:effectLst/>
                <a:latin typeface="-apple-system"/>
              </a:rPr>
              <a:t>Key Takeaway:</a:t>
            </a:r>
            <a:endParaRPr lang="en-US" b="0" i="0" dirty="0">
              <a:solidFill>
                <a:srgbClr val="252E33"/>
              </a:solidFill>
              <a:effectLst/>
              <a:latin typeface="-apple-system"/>
            </a:endParaRPr>
          </a:p>
          <a:p>
            <a:pPr algn="l" rtl="0"/>
            <a:r>
              <a:rPr lang="en-US" b="0" i="0" dirty="0">
                <a:solidFill>
                  <a:srgbClr val="252E33"/>
                </a:solidFill>
                <a:effectLst/>
                <a:latin typeface="-apple-system"/>
              </a:rPr>
              <a:t>Clients with type 1 diabetes should: </a:t>
            </a:r>
          </a:p>
          <a:p>
            <a:pPr algn="l" rtl="0" fontAlgn="base">
              <a:buFont typeface="Arial" panose="020B0604020202020204" pitchFamily="34" charset="0"/>
              <a:buChar char="•"/>
            </a:pPr>
            <a:r>
              <a:rPr lang="en-US" b="0" i="0" dirty="0">
                <a:solidFill>
                  <a:srgbClr val="252E33"/>
                </a:solidFill>
                <a:effectLst/>
                <a:latin typeface="-apple-system"/>
              </a:rPr>
              <a:t>Monitor blood glucose </a:t>
            </a:r>
          </a:p>
          <a:p>
            <a:pPr algn="l" rtl="0" fontAlgn="base">
              <a:buFont typeface="Arial" panose="020B0604020202020204" pitchFamily="34" charset="0"/>
              <a:buChar char="•"/>
            </a:pPr>
            <a:r>
              <a:rPr lang="en-US" b="0" i="0" dirty="0">
                <a:solidFill>
                  <a:srgbClr val="252E33"/>
                </a:solidFill>
                <a:effectLst/>
                <a:latin typeface="-apple-system"/>
              </a:rPr>
              <a:t>Bring snacks when exercising</a:t>
            </a:r>
          </a:p>
          <a:p>
            <a:pPr algn="l" rtl="0" fontAlgn="base">
              <a:buFont typeface="Arial" panose="020B0604020202020204" pitchFamily="34" charset="0"/>
              <a:buChar char="•"/>
            </a:pPr>
            <a:r>
              <a:rPr lang="en-US" b="0" i="0" dirty="0">
                <a:solidFill>
                  <a:srgbClr val="252E33"/>
                </a:solidFill>
                <a:effectLst/>
                <a:latin typeface="-apple-system"/>
              </a:rPr>
              <a:t>Understand signs of hypoglycemia</a:t>
            </a:r>
          </a:p>
          <a:p>
            <a:pPr algn="l" rtl="0" fontAlgn="base">
              <a:buFont typeface="Arial" panose="020B0604020202020204" pitchFamily="34" charset="0"/>
              <a:buChar char="•"/>
            </a:pPr>
            <a:r>
              <a:rPr lang="en-US" b="0" i="0" dirty="0">
                <a:solidFill>
                  <a:srgbClr val="252E33"/>
                </a:solidFill>
                <a:effectLst/>
                <a:latin typeface="-apple-system"/>
              </a:rPr>
              <a:t>Drink ½ cup of a high sugar beverage when hypoglycemic</a:t>
            </a:r>
          </a:p>
          <a:p>
            <a:pPr algn="l" rtl="0" fontAlgn="base">
              <a:buFont typeface="Arial" panose="020B0604020202020204" pitchFamily="34" charset="0"/>
              <a:buChar char="•"/>
            </a:pPr>
            <a:r>
              <a:rPr lang="en-US" b="0" i="0" dirty="0">
                <a:solidFill>
                  <a:srgbClr val="252E33"/>
                </a:solidFill>
                <a:effectLst/>
                <a:latin typeface="-apple-system"/>
              </a:rPr>
              <a:t>Follow a low carbohydrate and low sugar diet</a:t>
            </a:r>
          </a:p>
          <a:p>
            <a:pPr algn="l" rtl="0" fontAlgn="base">
              <a:buFont typeface="Arial" panose="020B0604020202020204" pitchFamily="34" charset="0"/>
              <a:buChar char="•"/>
            </a:pPr>
            <a:r>
              <a:rPr lang="en-US" b="0" i="0" dirty="0">
                <a:solidFill>
                  <a:srgbClr val="252E33"/>
                </a:solidFill>
                <a:effectLst/>
                <a:latin typeface="-apple-system"/>
              </a:rPr>
              <a:t>Properly dispose of insulin needles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3379023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8974C2-4BDB-48C3-962F-06879BCC6589}" type="slidenum">
              <a:rPr lang="en-US" smtClean="0"/>
              <a:t>19</a:t>
            </a:fld>
            <a:endParaRPr lang="en-US"/>
          </a:p>
        </p:txBody>
      </p:sp>
    </p:spTree>
    <p:extLst>
      <p:ext uri="{BB962C8B-B14F-4D97-AF65-F5344CB8AC3E}">
        <p14:creationId xmlns:p14="http://schemas.microsoft.com/office/powerpoint/2010/main" val="794112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a:t>
            </a:r>
          </a:p>
        </p:txBody>
      </p:sp>
      <p:sp>
        <p:nvSpPr>
          <p:cNvPr id="4" name="Slide Number Placeholder 3"/>
          <p:cNvSpPr>
            <a:spLocks noGrp="1"/>
          </p:cNvSpPr>
          <p:nvPr>
            <p:ph type="sldNum" sz="quarter" idx="5"/>
          </p:nvPr>
        </p:nvSpPr>
        <p:spPr/>
        <p:txBody>
          <a:bodyPr/>
          <a:lstStyle/>
          <a:p>
            <a:fld id="{B08974C2-4BDB-48C3-962F-06879BCC6589}" type="slidenum">
              <a:rPr lang="en-US" smtClean="0"/>
              <a:t>20</a:t>
            </a:fld>
            <a:endParaRPr lang="en-US"/>
          </a:p>
        </p:txBody>
      </p:sp>
    </p:spTree>
    <p:extLst>
      <p:ext uri="{BB962C8B-B14F-4D97-AF65-F5344CB8AC3E}">
        <p14:creationId xmlns:p14="http://schemas.microsoft.com/office/powerpoint/2010/main" val="1600868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a:t>
            </a:r>
          </a:p>
        </p:txBody>
      </p:sp>
      <p:sp>
        <p:nvSpPr>
          <p:cNvPr id="4" name="Slide Number Placeholder 3"/>
          <p:cNvSpPr>
            <a:spLocks noGrp="1"/>
          </p:cNvSpPr>
          <p:nvPr>
            <p:ph type="sldNum" sz="quarter" idx="5"/>
          </p:nvPr>
        </p:nvSpPr>
        <p:spPr/>
        <p:txBody>
          <a:bodyPr/>
          <a:lstStyle/>
          <a:p>
            <a:fld id="{B08974C2-4BDB-48C3-962F-06879BCC6589}" type="slidenum">
              <a:rPr lang="en-US" smtClean="0"/>
              <a:t>21</a:t>
            </a:fld>
            <a:endParaRPr lang="en-US"/>
          </a:p>
        </p:txBody>
      </p:sp>
    </p:spTree>
    <p:extLst>
      <p:ext uri="{BB962C8B-B14F-4D97-AF65-F5344CB8AC3E}">
        <p14:creationId xmlns:p14="http://schemas.microsoft.com/office/powerpoint/2010/main" val="4118626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a:t>
            </a:r>
          </a:p>
        </p:txBody>
      </p:sp>
      <p:sp>
        <p:nvSpPr>
          <p:cNvPr id="4" name="Slide Number Placeholder 3"/>
          <p:cNvSpPr>
            <a:spLocks noGrp="1"/>
          </p:cNvSpPr>
          <p:nvPr>
            <p:ph type="sldNum" sz="quarter" idx="5"/>
          </p:nvPr>
        </p:nvSpPr>
        <p:spPr/>
        <p:txBody>
          <a:bodyPr/>
          <a:lstStyle/>
          <a:p>
            <a:fld id="{B08974C2-4BDB-48C3-962F-06879BCC6589}" type="slidenum">
              <a:rPr lang="en-US" smtClean="0"/>
              <a:t>22</a:t>
            </a:fld>
            <a:endParaRPr lang="en-US"/>
          </a:p>
        </p:txBody>
      </p:sp>
    </p:spTree>
    <p:extLst>
      <p:ext uri="{BB962C8B-B14F-4D97-AF65-F5344CB8AC3E}">
        <p14:creationId xmlns:p14="http://schemas.microsoft.com/office/powerpoint/2010/main" val="72113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a:t>
            </a:r>
          </a:p>
        </p:txBody>
      </p:sp>
      <p:sp>
        <p:nvSpPr>
          <p:cNvPr id="4" name="Slide Number Placeholder 3"/>
          <p:cNvSpPr>
            <a:spLocks noGrp="1"/>
          </p:cNvSpPr>
          <p:nvPr>
            <p:ph type="sldNum" sz="quarter" idx="5"/>
          </p:nvPr>
        </p:nvSpPr>
        <p:spPr/>
        <p:txBody>
          <a:bodyPr/>
          <a:lstStyle/>
          <a:p>
            <a:fld id="{B08974C2-4BDB-48C3-962F-06879BCC6589}" type="slidenum">
              <a:rPr lang="en-US" smtClean="0"/>
              <a:t>23</a:t>
            </a:fld>
            <a:endParaRPr lang="en-US"/>
          </a:p>
        </p:txBody>
      </p:sp>
    </p:spTree>
    <p:extLst>
      <p:ext uri="{BB962C8B-B14F-4D97-AF65-F5344CB8AC3E}">
        <p14:creationId xmlns:p14="http://schemas.microsoft.com/office/powerpoint/2010/main" val="1721661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a:t>
            </a:r>
          </a:p>
        </p:txBody>
      </p:sp>
      <p:sp>
        <p:nvSpPr>
          <p:cNvPr id="4" name="Slide Number Placeholder 3"/>
          <p:cNvSpPr>
            <a:spLocks noGrp="1"/>
          </p:cNvSpPr>
          <p:nvPr>
            <p:ph type="sldNum" sz="quarter" idx="5"/>
          </p:nvPr>
        </p:nvSpPr>
        <p:spPr/>
        <p:txBody>
          <a:bodyPr/>
          <a:lstStyle/>
          <a:p>
            <a:fld id="{B08974C2-4BDB-48C3-962F-06879BCC6589}" type="slidenum">
              <a:rPr lang="en-US" smtClean="0"/>
              <a:t>24</a:t>
            </a:fld>
            <a:endParaRPr lang="en-US"/>
          </a:p>
        </p:txBody>
      </p:sp>
    </p:spTree>
    <p:extLst>
      <p:ext uri="{BB962C8B-B14F-4D97-AF65-F5344CB8AC3E}">
        <p14:creationId xmlns:p14="http://schemas.microsoft.com/office/powerpoint/2010/main" val="4291501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8FEB-016A-9094-1150-A08458E595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162DE1-661B-D772-4CC9-B68BEAA77C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9E799F-AC11-32D5-C0BE-289083468A85}"/>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5" name="Footer Placeholder 4">
            <a:extLst>
              <a:ext uri="{FF2B5EF4-FFF2-40B4-BE49-F238E27FC236}">
                <a16:creationId xmlns:a16="http://schemas.microsoft.com/office/drawing/2014/main" id="{8B355BBC-B2DA-009C-588D-8363090E8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25486-187E-492D-B464-43F3596BC436}"/>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3393428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0617D-3A76-FDFF-35FD-A7B22A19E0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7E5415-7DDE-ABAA-6B16-4953B7BF50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02154-5D13-E7A6-DB76-181E8ED8AABC}"/>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5" name="Footer Placeholder 4">
            <a:extLst>
              <a:ext uri="{FF2B5EF4-FFF2-40B4-BE49-F238E27FC236}">
                <a16:creationId xmlns:a16="http://schemas.microsoft.com/office/drawing/2014/main" id="{C3D4EF90-8026-2B66-A5EA-CB65FA2A7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2116B-27F3-1019-6F9F-3C43C58BE535}"/>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3250970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36BE3-EEF0-5C61-C19D-4C847CF40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19D64F-0CD6-46DC-FE43-A7766586A1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094EBA-2B4E-F718-BE17-65F4FFD3C9A8}"/>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5" name="Footer Placeholder 4">
            <a:extLst>
              <a:ext uri="{FF2B5EF4-FFF2-40B4-BE49-F238E27FC236}">
                <a16:creationId xmlns:a16="http://schemas.microsoft.com/office/drawing/2014/main" id="{B2BFA711-10A8-39A6-6B44-83DAD25CCC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2B0A06-3064-9774-04F1-7CEC599888BC}"/>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3107000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120A-3583-DEAA-07D2-8F0F640834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A07A4-CA83-C108-508F-3F420A5903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4E61B2-7EC6-8EF4-C204-FC9BE21E2F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DE708E-FE25-FCA7-FEF2-569D727E82AE}"/>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6" name="Footer Placeholder 5">
            <a:extLst>
              <a:ext uri="{FF2B5EF4-FFF2-40B4-BE49-F238E27FC236}">
                <a16:creationId xmlns:a16="http://schemas.microsoft.com/office/drawing/2014/main" id="{1466D44E-6ACE-9623-8F6F-AE48A90389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61380B-716A-143A-8BAA-02AEEE45B87E}"/>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1007378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D695-5C65-B686-5850-AC25E39390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9239AA-71E8-0984-5DEA-D78FDF4C3F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BF0B99-A254-2F61-056C-58B834A158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251F56-A441-B642-BD14-A4BAAB613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B41157-8F75-EDC1-6DB4-4CA05BE589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DED044-D424-EB18-E6E0-A7AF2B2E189D}"/>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8" name="Footer Placeholder 7">
            <a:extLst>
              <a:ext uri="{FF2B5EF4-FFF2-40B4-BE49-F238E27FC236}">
                <a16:creationId xmlns:a16="http://schemas.microsoft.com/office/drawing/2014/main" id="{1458A5A8-FBBC-31F5-82CF-EF7F28C696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7950EE-FF08-22DA-FB96-AADC5F427866}"/>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3431166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80CA7-E79C-4514-D030-CBA3A7F488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247BB1-FFAF-473C-72A1-31ABEB79F0B5}"/>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4" name="Footer Placeholder 3">
            <a:extLst>
              <a:ext uri="{FF2B5EF4-FFF2-40B4-BE49-F238E27FC236}">
                <a16:creationId xmlns:a16="http://schemas.microsoft.com/office/drawing/2014/main" id="{2D468F77-0BEA-A947-18AA-639FF977D4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359FD7-BCAB-3916-3B2E-A179207C224B}"/>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261716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AC51D1-9D76-3E62-DF59-90A7BE74C23E}"/>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3" name="Footer Placeholder 2">
            <a:extLst>
              <a:ext uri="{FF2B5EF4-FFF2-40B4-BE49-F238E27FC236}">
                <a16:creationId xmlns:a16="http://schemas.microsoft.com/office/drawing/2014/main" id="{A6800533-B522-3908-A403-C01CDFCB96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D96BC8-2DEC-8C63-8A48-D08FD2111071}"/>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4247557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DE40E-4EBE-209F-F837-EFC883654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DE2F7A-3EA9-04A0-9A34-64F7ED4D3A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2DB7A3-5782-4135-C3ED-73D85621F7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E912D9-C85E-338C-DAD3-DD9240648372}"/>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6" name="Footer Placeholder 5">
            <a:extLst>
              <a:ext uri="{FF2B5EF4-FFF2-40B4-BE49-F238E27FC236}">
                <a16:creationId xmlns:a16="http://schemas.microsoft.com/office/drawing/2014/main" id="{44AEAA7F-9D62-F02F-02EC-B7A9136D4A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9BF144-3741-8FAF-FEEC-11A08A48316F}"/>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14429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84B3B-9EAD-B4C0-6002-EB63289575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FCE712-97A1-7344-844C-9B8D831482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CD1CC7-FD90-DB93-4AB3-FAEDDD09EF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B90D9-4177-A6CD-B822-872C7BD30D0C}"/>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6" name="Footer Placeholder 5">
            <a:extLst>
              <a:ext uri="{FF2B5EF4-FFF2-40B4-BE49-F238E27FC236}">
                <a16:creationId xmlns:a16="http://schemas.microsoft.com/office/drawing/2014/main" id="{130C5544-CDB9-9502-7738-5AA97E4B63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D2B6DD-171C-047B-3F90-3C515427E96C}"/>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2022473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98C46-D4BA-37DC-4F2B-1FFA77F205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61D738-E3F2-304B-4319-801EF8B153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537A5-6476-90EF-CCC0-0F19225186CE}"/>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5" name="Footer Placeholder 4">
            <a:extLst>
              <a:ext uri="{FF2B5EF4-FFF2-40B4-BE49-F238E27FC236}">
                <a16:creationId xmlns:a16="http://schemas.microsoft.com/office/drawing/2014/main" id="{D3AF6858-5C0A-DE8B-817F-E690BA1A3C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36E467-D4D0-2097-9FE7-859994DE0227}"/>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148212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91C48A-DDBE-3E4F-BF3F-0106A2419D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3053E3-BDA3-F784-A604-676E7E992A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10F701-1581-746C-1EF9-73F150DE89EC}"/>
              </a:ext>
            </a:extLst>
          </p:cNvPr>
          <p:cNvSpPr>
            <a:spLocks noGrp="1"/>
          </p:cNvSpPr>
          <p:nvPr>
            <p:ph type="dt" sz="half" idx="10"/>
          </p:nvPr>
        </p:nvSpPr>
        <p:spPr/>
        <p:txBody>
          <a:bodyPr/>
          <a:lstStyle/>
          <a:p>
            <a:fld id="{2C4C11EB-5C99-4FFC-9D1C-DA661DA99DA5}" type="datetimeFigureOut">
              <a:rPr lang="en-US" smtClean="0"/>
              <a:t>4/10/2025</a:t>
            </a:fld>
            <a:endParaRPr lang="en-US"/>
          </a:p>
        </p:txBody>
      </p:sp>
      <p:sp>
        <p:nvSpPr>
          <p:cNvPr id="5" name="Footer Placeholder 4">
            <a:extLst>
              <a:ext uri="{FF2B5EF4-FFF2-40B4-BE49-F238E27FC236}">
                <a16:creationId xmlns:a16="http://schemas.microsoft.com/office/drawing/2014/main" id="{D6A2B11B-83C7-FBD6-5642-427D1E12AB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364794-D0BD-2F53-977D-2129B7BF8C99}"/>
              </a:ext>
            </a:extLst>
          </p:cNvPr>
          <p:cNvSpPr>
            <a:spLocks noGrp="1"/>
          </p:cNvSpPr>
          <p:nvPr>
            <p:ph type="sldNum" sz="quarter" idx="12"/>
          </p:nvPr>
        </p:nvSpPr>
        <p:spPr/>
        <p:txBody>
          <a:bodyPr/>
          <a:lstStyle/>
          <a:p>
            <a:fld id="{D5FD8378-C629-4D8A-B7BA-97C904B59F1B}" type="slidenum">
              <a:rPr lang="en-US" smtClean="0"/>
              <a:t>‹#›</a:t>
            </a:fld>
            <a:endParaRPr lang="en-US"/>
          </a:p>
        </p:txBody>
      </p:sp>
    </p:spTree>
    <p:extLst>
      <p:ext uri="{BB962C8B-B14F-4D97-AF65-F5344CB8AC3E}">
        <p14:creationId xmlns:p14="http://schemas.microsoft.com/office/powerpoint/2010/main" val="3680694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67493" y="1122363"/>
            <a:ext cx="7096933" cy="2387600"/>
          </a:xfrm>
        </p:spPr>
        <p:txBody>
          <a:bodyPr anchor="b">
            <a:noAutofit/>
          </a:bodyPr>
          <a:lstStyle>
            <a:lvl1pPr algn="l">
              <a:defRPr sz="6000" b="1">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9500507" cy="806675"/>
          </a:xfrm>
        </p:spPr>
        <p:txBody>
          <a:bodyPr>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a:extLst>
              <a:ext uri="{FF2B5EF4-FFF2-40B4-BE49-F238E27FC236}">
                <a16:creationId xmlns:a16="http://schemas.microsoft.com/office/drawing/2014/main" id="{9AC79249-FDC0-364D-A734-AE1DE1605D28}"/>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275549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17467"/>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endParaRPr lang="en-US" dirty="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(NGN Bootcamp, 2023)</a:t>
            </a:r>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65909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5E932F0D-7FC3-634B-932C-3625C16C8DE2}"/>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167492" y="2653167"/>
            <a:ext cx="9779183" cy="3436483"/>
          </a:xfrm>
        </p:spPr>
        <p:txBody>
          <a:bodyPr>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endParaRPr lang="en-US" dirty="0"/>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a:t>(NGN Bootcamp, 2023)</a:t>
            </a:r>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55622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67494" y="1059400"/>
            <a:ext cx="6245912" cy="2387600"/>
          </a:xfrm>
        </p:spPr>
        <p:txBody>
          <a:bodyPr anchor="b">
            <a:noAutofit/>
          </a:bodyPr>
          <a:lstStyle>
            <a:lvl1pPr algn="l">
              <a:defRPr sz="6000" b="1">
                <a:solidFill>
                  <a:schemeClr val="bg1"/>
                </a:solidFill>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167494" y="3539075"/>
            <a:ext cx="6245912" cy="1406101"/>
          </a:xfrm>
        </p:spPr>
        <p:txBody>
          <a:bodyPr>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73103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87561"/>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endParaRPr lang="en-US" dirty="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(NGN Bootcamp, 2023)</a:t>
            </a:r>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525525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h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87563"/>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endParaRPr lang="en-US" dirty="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(NGN Bootcamp, 2023)</a:t>
            </a:r>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537736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a:xfrm>
            <a:off x="1798721" y="1684338"/>
            <a:ext cx="8594558" cy="2810460"/>
          </a:xfrm>
        </p:spPr>
        <p:txBody>
          <a:bodyPr>
            <a:noAutofit/>
          </a:bodyPr>
          <a:lstStyle>
            <a:lvl1pPr algn="ctr">
              <a:lnSpc>
                <a:spcPct val="100000"/>
              </a:lnSpc>
              <a:defRPr sz="4600">
                <a:solidFill>
                  <a:schemeClr val="bg1"/>
                </a:solidFill>
                <a:latin typeface="+mj-lt"/>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p>
        </p:txBody>
      </p:sp>
      <p:sp>
        <p:nvSpPr>
          <p:cNvPr id="10" name="Text Placeholder 9">
            <a:extLst>
              <a:ext uri="{FF2B5EF4-FFF2-40B4-BE49-F238E27FC236}">
                <a16:creationId xmlns:a16="http://schemas.microsoft.com/office/drawing/2014/main" id="{322D6C2B-78AC-DD47-9289-067C968B06C1}"/>
              </a:ext>
            </a:extLst>
          </p:cNvPr>
          <p:cNvSpPr>
            <a:spLocks noGrp="1"/>
          </p:cNvSpPr>
          <p:nvPr>
            <p:ph type="body" sz="quarter" idx="14"/>
          </p:nvPr>
        </p:nvSpPr>
        <p:spPr>
          <a:xfrm>
            <a:off x="6881813" y="4494213"/>
            <a:ext cx="3511550" cy="679450"/>
          </a:xfrm>
        </p:spPr>
        <p:txBody>
          <a:bodyPr>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a:r>
              <a:rPr lang="en-US"/>
              <a:t>Click to edit Master text styles</a:t>
            </a:r>
          </a:p>
        </p:txBody>
      </p:sp>
      <p:sp>
        <p:nvSpPr>
          <p:cNvPr id="9" name="Text Placeholder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noAutofit/>
          </a:bodyPr>
          <a:lstStyle>
            <a:lvl1pPr>
              <a:defRPr>
                <a:solidFill>
                  <a:schemeClr val="accent2"/>
                </a:solidFill>
                <a:latin typeface="+mn-lt"/>
              </a:defRPr>
            </a:lvl1pPr>
          </a:lstStyle>
          <a:p>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a:t>(NGN Bootcamp, 2023)</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noAutofit/>
          </a:bodyPr>
          <a:lstStyle>
            <a:lvl1pPr>
              <a:defRPr>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71669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itle 1">
            <a:extLst>
              <a:ext uri="{FF2B5EF4-FFF2-40B4-BE49-F238E27FC236}">
                <a16:creationId xmlns:a16="http://schemas.microsoft.com/office/drawing/2014/main" id="{1E40CEAF-B1BB-174E-A798-3BA60D9C0458}"/>
              </a:ext>
            </a:extLst>
          </p:cNvPr>
          <p:cNvSpPr>
            <a:spLocks noGrp="1"/>
          </p:cNvSpPr>
          <p:nvPr>
            <p:ph type="title"/>
          </p:nvPr>
        </p:nvSpPr>
        <p:spPr>
          <a:xfrm>
            <a:off x="750430" y="381000"/>
            <a:ext cx="8401624" cy="1325563"/>
          </a:xfrm>
        </p:spPr>
        <p:txBody>
          <a:bodyPr lIns="0" anchor="b">
            <a:noAutofit/>
          </a:bodyPr>
          <a:lstStyle>
            <a:lvl1pPr>
              <a:defRPr sz="4800" b="1">
                <a:latin typeface="+mj-lt"/>
              </a:defRPr>
            </a:lvl1pPr>
          </a:lstStyle>
          <a:p>
            <a:r>
              <a:rPr lang="en-US"/>
              <a:t>Click to edit Master title style</a:t>
            </a:r>
            <a:endParaRPr lang="en-US" dirty="0"/>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a:noAutofit/>
          </a:bodyPr>
          <a:lstStyle>
            <a:lvl1pPr>
              <a:defRPr>
                <a:solidFill>
                  <a:schemeClr val="accent3"/>
                </a:solidFill>
                <a:latin typeface="+mn-lt"/>
              </a:defRPr>
            </a:lvl1pPr>
          </a:lstStyle>
          <a:p>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a:noAutofit/>
          </a:bodyPr>
          <a:lstStyle>
            <a:lvl1pPr>
              <a:defRPr>
                <a:solidFill>
                  <a:schemeClr val="accent3"/>
                </a:solidFill>
                <a:latin typeface="+mn-lt"/>
              </a:defRPr>
            </a:lvl1pPr>
          </a:lstStyle>
          <a:p>
            <a:r>
              <a:rPr lang="en-US"/>
              <a:t>(NGN Bootcamp, 2023)</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
        <p:nvSpPr>
          <p:cNvPr id="19" name="Freeform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Oval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7" name="Freeform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703086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ole team">
    <p:bg>
      <p:bgPr>
        <a:solidFill>
          <a:schemeClr val="accent2"/>
        </a:solidFill>
        <a:effectLst/>
      </p:bgPr>
    </p:bg>
    <p:spTree>
      <p:nvGrpSpPr>
        <p:cNvPr id="1" name=""/>
        <p:cNvGrpSpPr/>
        <p:nvPr/>
      </p:nvGrpSpPr>
      <p:grpSpPr>
        <a:xfrm>
          <a:off x="0" y="0"/>
          <a:ext cx="0" cy="0"/>
          <a:chOff x="0" y="0"/>
          <a:chExt cx="0" cy="0"/>
        </a:xfrm>
      </p:grpSpPr>
      <p:sp>
        <p:nvSpPr>
          <p:cNvPr id="54" name="Title 1">
            <a:extLst>
              <a:ext uri="{FF2B5EF4-FFF2-40B4-BE49-F238E27FC236}">
                <a16:creationId xmlns:a16="http://schemas.microsoft.com/office/drawing/2014/main" id="{6825B690-1AD7-4243-AC42-D2CF19B7B02C}"/>
              </a:ext>
            </a:extLst>
          </p:cNvPr>
          <p:cNvSpPr>
            <a:spLocks noGrp="1"/>
          </p:cNvSpPr>
          <p:nvPr>
            <p:ph type="title"/>
          </p:nvPr>
        </p:nvSpPr>
        <p:spPr>
          <a:xfrm>
            <a:off x="750430" y="381000"/>
            <a:ext cx="10678142" cy="1325563"/>
          </a:xfrm>
        </p:spPr>
        <p:txBody>
          <a:bodyPr lIns="0" anchor="b">
            <a:noAutofit/>
          </a:bodyPr>
          <a:lstStyle>
            <a:lvl1pPr>
              <a:defRPr sz="4800" b="1">
                <a:latin typeface="+mj-lt"/>
              </a:defRPr>
            </a:lvl1pPr>
          </a:lstStyle>
          <a:p>
            <a:r>
              <a:rPr lang="en-US"/>
              <a:t>Click to edit Master title style</a:t>
            </a:r>
            <a:endParaRPr lang="en-US" dirty="0"/>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31" name="Text Placeholder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32" name="Text Placeholder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3" name="Picture Placeholder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34" name="Text Placeholder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35" name="Text Placeholder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6" name="Picture Placeholder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37" name="Text Placeholder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38" name="Text Placeholder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9" name="Picture Placeholder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0" name="Text Placeholder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41" name="Text Placeholder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42" name="Picture Placeholder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3" name="Text Placeholder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44" name="Text Placeholder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45" name="Picture Placeholder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6" name="Text Placeholder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47" name="Text Placeholder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48" name="Picture Placeholder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9" name="Text Placeholder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50" name="Text Placeholder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51" name="Picture Placeholder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52" name="Text Placeholder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53" name="Text Placeholder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18" name="Date Placeholder 17">
            <a:extLst>
              <a:ext uri="{FF2B5EF4-FFF2-40B4-BE49-F238E27FC236}">
                <a16:creationId xmlns:a16="http://schemas.microsoft.com/office/drawing/2014/main" id="{30445668-2DC5-E84C-8B16-922BC95F13F2}"/>
              </a:ext>
            </a:extLst>
          </p:cNvPr>
          <p:cNvSpPr>
            <a:spLocks noGrp="1"/>
          </p:cNvSpPr>
          <p:nvPr>
            <p:ph type="dt" sz="half" idx="25"/>
          </p:nvPr>
        </p:nvSpPr>
        <p:spPr/>
        <p:txBody>
          <a:bodyPr>
            <a:noAutofit/>
          </a:bodyPr>
          <a:lstStyle>
            <a:lvl1pPr>
              <a:defRPr>
                <a:solidFill>
                  <a:schemeClr val="accent3"/>
                </a:solidFill>
                <a:latin typeface="+mn-lt"/>
              </a:defRPr>
            </a:lvl1pPr>
          </a:lstStyle>
          <a:p>
            <a:endParaRPr lang="en-US" dirty="0"/>
          </a:p>
        </p:txBody>
      </p:sp>
      <p:sp>
        <p:nvSpPr>
          <p:cNvPr id="22" name="Footer Placeholder 21">
            <a:extLst>
              <a:ext uri="{FF2B5EF4-FFF2-40B4-BE49-F238E27FC236}">
                <a16:creationId xmlns:a16="http://schemas.microsoft.com/office/drawing/2014/main" id="{D9227732-A878-814C-8621-64ED1B2CCF9F}"/>
              </a:ext>
            </a:extLst>
          </p:cNvPr>
          <p:cNvSpPr>
            <a:spLocks noGrp="1"/>
          </p:cNvSpPr>
          <p:nvPr>
            <p:ph type="ftr" sz="quarter" idx="26"/>
          </p:nvPr>
        </p:nvSpPr>
        <p:spPr/>
        <p:txBody>
          <a:bodyPr>
            <a:noAutofit/>
          </a:bodyPr>
          <a:lstStyle>
            <a:lvl1pPr>
              <a:defRPr>
                <a:solidFill>
                  <a:schemeClr val="accent3"/>
                </a:solidFill>
                <a:latin typeface="+mn-lt"/>
              </a:defRPr>
            </a:lvl1pPr>
          </a:lstStyle>
          <a:p>
            <a:r>
              <a:rPr lang="en-US"/>
              <a:t>(NGN Bootcamp, 2023)</a:t>
            </a:r>
            <a:endParaRPr lang="en-US" dirty="0"/>
          </a:p>
        </p:txBody>
      </p:sp>
      <p:sp>
        <p:nvSpPr>
          <p:cNvPr id="23" name="Slide Number Placeholder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164654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meline">
    <p:bg>
      <p:bgPr>
        <a:solidFill>
          <a:schemeClr val="accent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solidFill>
                  <a:schemeClr val="bg1"/>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87561"/>
            <a:ext cx="9779182" cy="3366815"/>
          </a:xfrm>
        </p:spPr>
        <p:txBody>
          <a:bodyPr>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endParaRPr lang="en-US" dirty="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r>
              <a:rPr lang="en-US"/>
              <a:t>(NGN Bootcamp, 2023)</a:t>
            </a:r>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61982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2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528203"/>
            <a:ext cx="4663440"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endParaRPr lang="en-US" dirty="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(NGN Bootcamp, 2023)</a:t>
            </a:r>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p:nvPr>
        </p:nvSpPr>
        <p:spPr>
          <a:xfrm>
            <a:off x="6283235" y="2528203"/>
            <a:ext cx="4663440"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0B33DABA-7BF5-1147-BA5E-63B92F220E51}"/>
              </a:ext>
            </a:extLst>
          </p:cNvPr>
          <p:cNvSpPr>
            <a:spLocks noGrp="1"/>
          </p:cNvSpPr>
          <p:nvPr>
            <p:ph idx="11"/>
          </p:nvPr>
        </p:nvSpPr>
        <p:spPr>
          <a:xfrm>
            <a:off x="1167493" y="2005689"/>
            <a:ext cx="4663440"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1B05BEE9-8BC0-EC44-B913-DB6426DF2EA7}"/>
              </a:ext>
            </a:extLst>
          </p:cNvPr>
          <p:cNvSpPr>
            <a:spLocks noGrp="1"/>
          </p:cNvSpPr>
          <p:nvPr>
            <p:ph idx="12"/>
          </p:nvPr>
        </p:nvSpPr>
        <p:spPr>
          <a:xfrm>
            <a:off x="6283235" y="2005689"/>
            <a:ext cx="4663440"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376923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3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1" y="2526318"/>
            <a:ext cx="3218688"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endParaRPr lang="en-US" dirty="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(NGN Bootcamp, 2023)</a:t>
            </a:r>
            <a:endParaRPr lang="en-US" dirty="0"/>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p:nvPr>
        </p:nvSpPr>
        <p:spPr>
          <a:xfrm>
            <a:off x="4683787" y="2526318"/>
            <a:ext cx="3173279"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0B33DABA-7BF5-1147-BA5E-63B92F220E51}"/>
              </a:ext>
            </a:extLst>
          </p:cNvPr>
          <p:cNvSpPr>
            <a:spLocks noGrp="1"/>
          </p:cNvSpPr>
          <p:nvPr>
            <p:ph idx="11"/>
          </p:nvPr>
        </p:nvSpPr>
        <p:spPr>
          <a:xfrm>
            <a:off x="1167493"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1B05BEE9-8BC0-EC44-B913-DB6426DF2EA7}"/>
              </a:ext>
            </a:extLst>
          </p:cNvPr>
          <p:cNvSpPr>
            <a:spLocks noGrp="1"/>
          </p:cNvSpPr>
          <p:nvPr>
            <p:ph idx="12"/>
          </p:nvPr>
        </p:nvSpPr>
        <p:spPr>
          <a:xfrm>
            <a:off x="4683788"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43D62993-A055-DF4F-9286-4FFE3A5C7FD7}"/>
              </a:ext>
            </a:extLst>
          </p:cNvPr>
          <p:cNvSpPr>
            <a:spLocks noGrp="1"/>
          </p:cNvSpPr>
          <p:nvPr>
            <p:ph idx="13"/>
          </p:nvPr>
        </p:nvSpPr>
        <p:spPr>
          <a:xfrm>
            <a:off x="8200082" y="2526318"/>
            <a:ext cx="3173279"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A896DA2E-4448-254C-86D1-9E16E63CC6A0}"/>
              </a:ext>
            </a:extLst>
          </p:cNvPr>
          <p:cNvSpPr>
            <a:spLocks noGrp="1"/>
          </p:cNvSpPr>
          <p:nvPr>
            <p:ph idx="14"/>
          </p:nvPr>
        </p:nvSpPr>
        <p:spPr>
          <a:xfrm>
            <a:off x="8200083"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701545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67494" y="1122363"/>
            <a:ext cx="6220278" cy="2387600"/>
          </a:xfrm>
        </p:spPr>
        <p:txBody>
          <a:bodyPr anchor="b">
            <a:noAutofit/>
          </a:bodyPr>
          <a:lstStyle>
            <a:lvl1pPr algn="l">
              <a:defRPr sz="6000" b="1">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6220277" cy="2247219"/>
          </a:xfrm>
        </p:spPr>
        <p:txBody>
          <a:bodyPr>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726114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3A1DC-DCFA-4C9D-8844-3B3E4D4CC0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7433DE-AB84-428C-B90C-DFB633BA8A32}"/>
              </a:ext>
            </a:extLst>
          </p:cNvPr>
          <p:cNvSpPr>
            <a:spLocks noGrp="1"/>
          </p:cNvSpPr>
          <p:nvPr>
            <p:ph type="dt" sz="half" idx="10"/>
          </p:nvPr>
        </p:nvSpPr>
        <p:spPr/>
        <p:txBody>
          <a:bodyPr/>
          <a:lstStyle/>
          <a:p>
            <a:fld id="{AD37E180-1711-401E-B143-8BB756A13CE4}" type="datetimeFigureOut">
              <a:rPr lang="en-US" smtClean="0"/>
              <a:t>4/10/2025</a:t>
            </a:fld>
            <a:endParaRPr lang="en-US"/>
          </a:p>
        </p:txBody>
      </p:sp>
      <p:sp>
        <p:nvSpPr>
          <p:cNvPr id="4" name="Footer Placeholder 3">
            <a:extLst>
              <a:ext uri="{FF2B5EF4-FFF2-40B4-BE49-F238E27FC236}">
                <a16:creationId xmlns:a16="http://schemas.microsoft.com/office/drawing/2014/main" id="{E7937853-5825-4F69-9A70-2062904759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BE4E50-6F47-49C0-B0A8-2D39794F1E73}"/>
              </a:ext>
            </a:extLst>
          </p:cNvPr>
          <p:cNvSpPr>
            <a:spLocks noGrp="1"/>
          </p:cNvSpPr>
          <p:nvPr>
            <p:ph type="sldNum" sz="quarter" idx="12"/>
          </p:nvPr>
        </p:nvSpPr>
        <p:spPr/>
        <p:txBody>
          <a:bodyPr/>
          <a:lstStyle/>
          <a:p>
            <a:fld id="{4651264F-7865-4F59-87EA-FFC9085CBAED}" type="slidenum">
              <a:rPr lang="en-US" smtClean="0"/>
              <a:t>‹#›</a:t>
            </a:fld>
            <a:endParaRPr lang="en-US"/>
          </a:p>
        </p:txBody>
      </p:sp>
    </p:spTree>
    <p:extLst>
      <p:ext uri="{BB962C8B-B14F-4D97-AF65-F5344CB8AC3E}">
        <p14:creationId xmlns:p14="http://schemas.microsoft.com/office/powerpoint/2010/main" val="1772937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FB0210-A2B8-9AAC-267A-0A678CF55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6EB401-0FEB-5016-88DA-3A7DBACF56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8526C6-F80A-02C4-59B0-4AE60A28E5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4C11EB-5C99-4FFC-9D1C-DA661DA99DA5}" type="datetimeFigureOut">
              <a:rPr lang="en-US" smtClean="0"/>
              <a:t>4/10/2025</a:t>
            </a:fld>
            <a:endParaRPr lang="en-US"/>
          </a:p>
        </p:txBody>
      </p:sp>
      <p:sp>
        <p:nvSpPr>
          <p:cNvPr id="5" name="Footer Placeholder 4">
            <a:extLst>
              <a:ext uri="{FF2B5EF4-FFF2-40B4-BE49-F238E27FC236}">
                <a16:creationId xmlns:a16="http://schemas.microsoft.com/office/drawing/2014/main" id="{9D1D22F8-5CCA-14AD-ABCA-1372DAF7F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0DE4A4-9D4D-EE37-CA98-0529EDB2E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FD8378-C629-4D8A-B7BA-97C904B59F1B}" type="slidenum">
              <a:rPr lang="en-US" smtClean="0"/>
              <a:t>‹#›</a:t>
            </a:fld>
            <a:endParaRPr lang="en-US"/>
          </a:p>
        </p:txBody>
      </p:sp>
    </p:spTree>
    <p:extLst>
      <p:ext uri="{BB962C8B-B14F-4D97-AF65-F5344CB8AC3E}">
        <p14:creationId xmlns:p14="http://schemas.microsoft.com/office/powerpoint/2010/main" val="3590442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r>
              <a:rPr lang="en-US"/>
              <a:t>(NGN Bootcamp, 2023)</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04909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rcinet.ca/en/2019/05/14/canada-diabetic-complications-child-youth/" TargetMode="External"/><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3AC3CE4-9C0D-D5F3-B391-F624422DFF67}"/>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Endocrine Case Study and Questions </a:t>
            </a:r>
          </a:p>
        </p:txBody>
      </p:sp>
      <p:sp>
        <p:nvSpPr>
          <p:cNvPr id="3" name="Subtitle 2">
            <a:extLst>
              <a:ext uri="{FF2B5EF4-FFF2-40B4-BE49-F238E27FC236}">
                <a16:creationId xmlns:a16="http://schemas.microsoft.com/office/drawing/2014/main" id="{B607EA02-62CF-93BB-C5E1-D8EC606BC606}"/>
              </a:ext>
            </a:extLst>
          </p:cNvPr>
          <p:cNvSpPr>
            <a:spLocks noGrp="1"/>
          </p:cNvSpPr>
          <p:nvPr>
            <p:ph type="subTitle" idx="1"/>
          </p:nvPr>
        </p:nvSpPr>
        <p:spPr>
          <a:xfrm>
            <a:off x="1350682" y="4870824"/>
            <a:ext cx="10005951" cy="1458258"/>
          </a:xfrm>
        </p:spPr>
        <p:txBody>
          <a:bodyPr anchor="ctr">
            <a:normAutofit/>
          </a:bodyPr>
          <a:lstStyle/>
          <a:p>
            <a:pPr algn="l"/>
            <a:r>
              <a:rPr lang="en-US" dirty="0"/>
              <a:t>NUR235</a:t>
            </a:r>
          </a:p>
        </p:txBody>
      </p:sp>
    </p:spTree>
    <p:extLst>
      <p:ext uri="{BB962C8B-B14F-4D97-AF65-F5344CB8AC3E}">
        <p14:creationId xmlns:p14="http://schemas.microsoft.com/office/powerpoint/2010/main" val="2988157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9F8963D-8996-E30D-DD42-091019D68526}"/>
              </a:ext>
            </a:extLst>
          </p:cNvPr>
          <p:cNvSpPr>
            <a:spLocks noGrp="1"/>
          </p:cNvSpPr>
          <p:nvPr>
            <p:ph type="ctrTitle"/>
          </p:nvPr>
        </p:nvSpPr>
        <p:spPr/>
        <p:txBody>
          <a:bodyPr/>
          <a:lstStyle/>
          <a:p>
            <a:r>
              <a:rPr lang="en-US" dirty="0"/>
              <a:t>NGN Case Study #1</a:t>
            </a:r>
          </a:p>
        </p:txBody>
      </p:sp>
      <p:sp>
        <p:nvSpPr>
          <p:cNvPr id="5" name="Footer Placeholder 4">
            <a:extLst>
              <a:ext uri="{FF2B5EF4-FFF2-40B4-BE49-F238E27FC236}">
                <a16:creationId xmlns:a16="http://schemas.microsoft.com/office/drawing/2014/main" id="{088B0F47-E63C-3104-F845-795781236E7C}"/>
              </a:ext>
            </a:extLst>
          </p:cNvPr>
          <p:cNvSpPr>
            <a:spLocks noGrp="1"/>
          </p:cNvSpPr>
          <p:nvPr>
            <p:ph type="ftr" sz="quarter" idx="4294967295"/>
          </p:nvPr>
        </p:nvSpPr>
        <p:spPr>
          <a:xfrm>
            <a:off x="629174" y="631440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A"/>
                </a:solidFill>
                <a:effectLst/>
                <a:uLnTx/>
                <a:uFillTx/>
                <a:latin typeface="Tenorite"/>
                <a:ea typeface="+mn-ea"/>
                <a:cs typeface="+mn-cs"/>
              </a:rPr>
              <a:t>(NGN Bootcamp, 2023)</a:t>
            </a:r>
          </a:p>
        </p:txBody>
      </p:sp>
      <p:pic>
        <p:nvPicPr>
          <p:cNvPr id="6" name="Picture 5" descr="A child holding a device&#10;&#10;Description automatically generated">
            <a:extLst>
              <a:ext uri="{FF2B5EF4-FFF2-40B4-BE49-F238E27FC236}">
                <a16:creationId xmlns:a16="http://schemas.microsoft.com/office/drawing/2014/main" id="{93D3D57F-437A-8BD9-C3B6-E1669D740CB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688360" y="3318925"/>
            <a:ext cx="4933245" cy="2416453"/>
          </a:xfrm>
          <a:prstGeom prst="ellipse">
            <a:avLst/>
          </a:prstGeom>
          <a:ln w="57150">
            <a:solidFill>
              <a:schemeClr val="bg1"/>
            </a:solidFill>
          </a:ln>
          <a:effectLst/>
        </p:spPr>
      </p:pic>
    </p:spTree>
    <p:extLst>
      <p:ext uri="{BB962C8B-B14F-4D97-AF65-F5344CB8AC3E}">
        <p14:creationId xmlns:p14="http://schemas.microsoft.com/office/powerpoint/2010/main" val="2046280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nchor="b">
            <a:normAutofit fontScale="90000"/>
          </a:bodyPr>
          <a:lstStyle/>
          <a:p>
            <a:r>
              <a:rPr lang="en-US" dirty="0"/>
              <a:t>NGN Case Study #1: Recognize Cues</a:t>
            </a:r>
          </a:p>
        </p:txBody>
      </p:sp>
      <p:pic>
        <p:nvPicPr>
          <p:cNvPr id="11" name="Content Placeholder 10" descr="A screenshot of a medical survey&#10;&#10;Description automatically generated">
            <a:extLst>
              <a:ext uri="{FF2B5EF4-FFF2-40B4-BE49-F238E27FC236}">
                <a16:creationId xmlns:a16="http://schemas.microsoft.com/office/drawing/2014/main" id="{16A33CD5-8755-A6AF-7E74-1C6729DEB055}"/>
              </a:ext>
            </a:extLst>
          </p:cNvPr>
          <p:cNvPicPr>
            <a:picLocks noGrp="1" noChangeAspect="1"/>
          </p:cNvPicPr>
          <p:nvPr>
            <p:ph idx="1"/>
          </p:nvPr>
        </p:nvPicPr>
        <p:blipFill>
          <a:blip r:embed="rId2"/>
          <a:stretch>
            <a:fillRect/>
          </a:stretch>
        </p:blipFill>
        <p:spPr>
          <a:xfrm>
            <a:off x="1712806" y="2087561"/>
            <a:ext cx="8688555" cy="3366815"/>
          </a:xfrm>
          <a:noFill/>
        </p:spPr>
      </p:pic>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nchor="ct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Tenorite"/>
                <a:ea typeface="+mn-ea"/>
                <a:cs typeface="+mn-cs"/>
              </a:rPr>
              <a:t>(NGN Bootcamp, 2023)</a:t>
            </a:r>
          </a:p>
        </p:txBody>
      </p:sp>
    </p:spTree>
    <p:extLst>
      <p:ext uri="{BB962C8B-B14F-4D97-AF65-F5344CB8AC3E}">
        <p14:creationId xmlns:p14="http://schemas.microsoft.com/office/powerpoint/2010/main" val="1805126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6373-E473-0266-2C46-9F25B9BD46A0}"/>
              </a:ext>
            </a:extLst>
          </p:cNvPr>
          <p:cNvSpPr>
            <a:spLocks noGrp="1"/>
          </p:cNvSpPr>
          <p:nvPr>
            <p:ph type="title"/>
          </p:nvPr>
        </p:nvSpPr>
        <p:spPr>
          <a:xfrm>
            <a:off x="1167492" y="381000"/>
            <a:ext cx="10468038" cy="1325563"/>
          </a:xfrm>
        </p:spPr>
        <p:txBody>
          <a:bodyPr/>
          <a:lstStyle/>
          <a:p>
            <a:r>
              <a:rPr lang="en-US" dirty="0"/>
              <a:t>NGN Case Study #1: Recognize Cues</a:t>
            </a:r>
          </a:p>
        </p:txBody>
      </p:sp>
      <p:pic>
        <p:nvPicPr>
          <p:cNvPr id="8" name="Content Placeholder 7">
            <a:extLst>
              <a:ext uri="{FF2B5EF4-FFF2-40B4-BE49-F238E27FC236}">
                <a16:creationId xmlns:a16="http://schemas.microsoft.com/office/drawing/2014/main" id="{06641CD4-46B7-8EB6-C815-24A2D3C89A52}"/>
              </a:ext>
            </a:extLst>
          </p:cNvPr>
          <p:cNvPicPr>
            <a:picLocks noGrp="1" noChangeAspect="1"/>
          </p:cNvPicPr>
          <p:nvPr>
            <p:ph idx="1"/>
          </p:nvPr>
        </p:nvPicPr>
        <p:blipFill>
          <a:blip r:embed="rId3"/>
          <a:stretch>
            <a:fillRect/>
          </a:stretch>
        </p:blipFill>
        <p:spPr>
          <a:xfrm>
            <a:off x="1778221" y="2298571"/>
            <a:ext cx="8557724" cy="2562679"/>
          </a:xfrm>
        </p:spPr>
      </p:pic>
      <p:sp>
        <p:nvSpPr>
          <p:cNvPr id="5" name="Footer Placeholder 4">
            <a:extLst>
              <a:ext uri="{FF2B5EF4-FFF2-40B4-BE49-F238E27FC236}">
                <a16:creationId xmlns:a16="http://schemas.microsoft.com/office/drawing/2014/main" id="{0480D2ED-D070-27C4-6CF4-3E1673CD4CF3}"/>
              </a:ext>
            </a:extLst>
          </p:cNvPr>
          <p:cNvSpPr>
            <a:spLocks noGrp="1"/>
          </p:cNvSpPr>
          <p:nvPr>
            <p:ph type="ftr" sz="quarter" idx="3"/>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Tenorite"/>
                <a:ea typeface="+mn-ea"/>
                <a:cs typeface="+mn-cs"/>
              </a:rPr>
              <a:t>(NGN Bootcamp, 2023)</a:t>
            </a:r>
            <a:endParaRPr kumimoji="0" lang="en-US" sz="1200" b="0" i="0" u="none" strike="noStrike" kern="1200" cap="none" spc="0" normalizeH="0" baseline="0" noProof="0" dirty="0">
              <a:ln>
                <a:noFill/>
              </a:ln>
              <a:solidFill>
                <a:srgbClr val="ED7D31"/>
              </a:solidFill>
              <a:effectLst/>
              <a:uLnTx/>
              <a:uFillTx/>
              <a:latin typeface="Tenorite"/>
              <a:ea typeface="+mn-ea"/>
              <a:cs typeface="+mn-cs"/>
            </a:endParaRPr>
          </a:p>
        </p:txBody>
      </p:sp>
    </p:spTree>
    <p:extLst>
      <p:ext uri="{BB962C8B-B14F-4D97-AF65-F5344CB8AC3E}">
        <p14:creationId xmlns:p14="http://schemas.microsoft.com/office/powerpoint/2010/main" val="2877653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nchor="b">
            <a:normAutofit fontScale="90000"/>
          </a:bodyPr>
          <a:lstStyle/>
          <a:p>
            <a:r>
              <a:rPr lang="en-US" dirty="0"/>
              <a:t>NGN Case Study #1: Recognize Cues</a:t>
            </a:r>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nchor="ct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ED7D31"/>
                </a:solidFill>
                <a:effectLst/>
                <a:uLnTx/>
                <a:uFillTx/>
                <a:latin typeface="Tenorite"/>
                <a:ea typeface="+mn-ea"/>
                <a:cs typeface="+mn-cs"/>
              </a:rPr>
              <a:t>(NGN Bootcamp, 2023)</a:t>
            </a:r>
          </a:p>
        </p:txBody>
      </p:sp>
      <p:sp>
        <p:nvSpPr>
          <p:cNvPr id="3" name="TextBox 2">
            <a:extLst>
              <a:ext uri="{FF2B5EF4-FFF2-40B4-BE49-F238E27FC236}">
                <a16:creationId xmlns:a16="http://schemas.microsoft.com/office/drawing/2014/main" id="{20AD96C9-72CC-501A-6C6B-D0DA67215260}"/>
              </a:ext>
            </a:extLst>
          </p:cNvPr>
          <p:cNvSpPr txBox="1"/>
          <p:nvPr/>
        </p:nvSpPr>
        <p:spPr>
          <a:xfrm>
            <a:off x="260059" y="1856705"/>
            <a:ext cx="11931941"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enorite"/>
                <a:ea typeface="+mn-ea"/>
                <a:cs typeface="+mn-cs"/>
              </a:rPr>
              <a:t>The nurse reviews the Nurses’ Notes and Vital Signs from 1345. </a:t>
            </a:r>
            <a:r>
              <a:rPr kumimoji="0" lang="en-US" sz="1800" b="0" i="0" u="none" strike="noStrike" kern="1200" cap="none" spc="0" normalizeH="0" baseline="0" noProof="0" dirty="0">
                <a:ln>
                  <a:noFill/>
                </a:ln>
                <a:solidFill>
                  <a:srgbClr val="FFFF00"/>
                </a:solidFill>
                <a:effectLst/>
                <a:uLnTx/>
                <a:uFillTx/>
                <a:latin typeface="Tenorite"/>
                <a:ea typeface="+mn-ea"/>
                <a:cs typeface="+mn-cs"/>
              </a:rPr>
              <a:t>Highlight</a:t>
            </a:r>
            <a:r>
              <a:rPr kumimoji="0" lang="en-US" sz="1800" b="0" i="0" u="none" strike="noStrike" kern="1200" cap="none" spc="0" normalizeH="0" baseline="0" noProof="0" dirty="0">
                <a:ln>
                  <a:noFill/>
                </a:ln>
                <a:solidFill>
                  <a:prstClr val="white"/>
                </a:solidFill>
                <a:effectLst/>
                <a:uLnTx/>
                <a:uFillTx/>
                <a:latin typeface="Tenorite"/>
                <a:ea typeface="+mn-ea"/>
                <a:cs typeface="+mn-cs"/>
              </a:rPr>
              <a:t> the findings that need immediate follow-up: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p:txBody>
      </p:sp>
      <p:pic>
        <p:nvPicPr>
          <p:cNvPr id="9" name="Picture 8">
            <a:extLst>
              <a:ext uri="{FF2B5EF4-FFF2-40B4-BE49-F238E27FC236}">
                <a16:creationId xmlns:a16="http://schemas.microsoft.com/office/drawing/2014/main" id="{B2CB1C1C-50ED-3964-4D57-3FEAADF000F3}"/>
              </a:ext>
            </a:extLst>
          </p:cNvPr>
          <p:cNvPicPr>
            <a:picLocks noChangeAspect="1"/>
          </p:cNvPicPr>
          <p:nvPr/>
        </p:nvPicPr>
        <p:blipFill>
          <a:blip r:embed="rId3"/>
          <a:stretch>
            <a:fillRect/>
          </a:stretch>
        </p:blipFill>
        <p:spPr>
          <a:xfrm>
            <a:off x="1781175" y="2653178"/>
            <a:ext cx="8629650" cy="3324225"/>
          </a:xfrm>
          <a:prstGeom prst="rect">
            <a:avLst/>
          </a:prstGeom>
        </p:spPr>
      </p:pic>
    </p:spTree>
    <p:extLst>
      <p:ext uri="{BB962C8B-B14F-4D97-AF65-F5344CB8AC3E}">
        <p14:creationId xmlns:p14="http://schemas.microsoft.com/office/powerpoint/2010/main" val="2682102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nchor="b">
            <a:normAutofit fontScale="90000"/>
          </a:bodyPr>
          <a:lstStyle/>
          <a:p>
            <a:r>
              <a:rPr lang="en-US" dirty="0"/>
              <a:t>NGN Case Study #1: Recognize Cues</a:t>
            </a:r>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nchor="ct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ED7D31"/>
                </a:solidFill>
                <a:effectLst/>
                <a:uLnTx/>
                <a:uFillTx/>
                <a:latin typeface="Tenorite"/>
                <a:ea typeface="+mn-ea"/>
                <a:cs typeface="+mn-cs"/>
              </a:rPr>
              <a:t>(NGN Bootcamp, 2023)</a:t>
            </a:r>
          </a:p>
        </p:txBody>
      </p:sp>
      <p:sp>
        <p:nvSpPr>
          <p:cNvPr id="3" name="TextBox 2">
            <a:extLst>
              <a:ext uri="{FF2B5EF4-FFF2-40B4-BE49-F238E27FC236}">
                <a16:creationId xmlns:a16="http://schemas.microsoft.com/office/drawing/2014/main" id="{20AD96C9-72CC-501A-6C6B-D0DA67215260}"/>
              </a:ext>
            </a:extLst>
          </p:cNvPr>
          <p:cNvSpPr txBox="1"/>
          <p:nvPr/>
        </p:nvSpPr>
        <p:spPr>
          <a:xfrm>
            <a:off x="151002" y="1706563"/>
            <a:ext cx="11803310"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enorite"/>
                <a:ea typeface="+mn-ea"/>
                <a:cs typeface="+mn-cs"/>
              </a:rPr>
              <a:t>The nurse reviews the Nurses’ Notes and Vital Signs from 1345. </a:t>
            </a:r>
            <a:r>
              <a:rPr kumimoji="0" lang="en-US" sz="1800" b="0" i="0" u="none" strike="noStrike" kern="1200" cap="none" spc="0" normalizeH="0" baseline="0" noProof="0" dirty="0">
                <a:ln>
                  <a:noFill/>
                </a:ln>
                <a:solidFill>
                  <a:srgbClr val="FFFF00"/>
                </a:solidFill>
                <a:effectLst/>
                <a:uLnTx/>
                <a:uFillTx/>
                <a:latin typeface="Tenorite"/>
                <a:ea typeface="+mn-ea"/>
                <a:cs typeface="+mn-cs"/>
              </a:rPr>
              <a:t>Highlight</a:t>
            </a:r>
            <a:r>
              <a:rPr kumimoji="0" lang="en-US" sz="1800" b="0" i="0" u="none" strike="noStrike" kern="1200" cap="none" spc="0" normalizeH="0" baseline="0" noProof="0" dirty="0">
                <a:ln>
                  <a:noFill/>
                </a:ln>
                <a:solidFill>
                  <a:prstClr val="white"/>
                </a:solidFill>
                <a:effectLst/>
                <a:uLnTx/>
                <a:uFillTx/>
                <a:latin typeface="Tenorite"/>
                <a:ea typeface="+mn-ea"/>
                <a:cs typeface="+mn-cs"/>
              </a:rPr>
              <a:t> the findings that need immediate </a:t>
            </a:r>
            <a:r>
              <a:rPr kumimoji="0" lang="en-US" sz="1800" b="0" i="0" u="none" strike="noStrike" kern="1200" cap="none" spc="0" normalizeH="0" baseline="0" noProof="0" dirty="0" err="1">
                <a:ln>
                  <a:noFill/>
                </a:ln>
                <a:solidFill>
                  <a:prstClr val="white"/>
                </a:solidFill>
                <a:effectLst/>
                <a:uLnTx/>
                <a:uFillTx/>
                <a:latin typeface="Tenorite"/>
                <a:ea typeface="+mn-ea"/>
                <a:cs typeface="+mn-cs"/>
              </a:rPr>
              <a:t>followup</a:t>
            </a:r>
            <a:r>
              <a:rPr kumimoji="0" lang="en-US" sz="1800" b="0" i="0" u="none" strike="noStrike" kern="1200" cap="none" spc="0" normalizeH="0" baseline="0" noProof="0" dirty="0">
                <a:ln>
                  <a:noFill/>
                </a:ln>
                <a:solidFill>
                  <a:prstClr val="white"/>
                </a:solidFill>
                <a:effectLst/>
                <a:uLnTx/>
                <a:uFillTx/>
                <a:latin typeface="Tenorite"/>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p:txBody>
      </p:sp>
      <p:pic>
        <p:nvPicPr>
          <p:cNvPr id="15" name="Picture 14">
            <a:extLst>
              <a:ext uri="{FF2B5EF4-FFF2-40B4-BE49-F238E27FC236}">
                <a16:creationId xmlns:a16="http://schemas.microsoft.com/office/drawing/2014/main" id="{3DBA7D99-B2D2-6B45-114B-8256EDE47381}"/>
              </a:ext>
            </a:extLst>
          </p:cNvPr>
          <p:cNvPicPr>
            <a:picLocks noChangeAspect="1"/>
          </p:cNvPicPr>
          <p:nvPr/>
        </p:nvPicPr>
        <p:blipFill>
          <a:blip r:embed="rId3"/>
          <a:stretch>
            <a:fillRect/>
          </a:stretch>
        </p:blipFill>
        <p:spPr>
          <a:xfrm>
            <a:off x="1815564" y="2505154"/>
            <a:ext cx="8128944" cy="3204865"/>
          </a:xfrm>
          <a:prstGeom prst="rect">
            <a:avLst/>
          </a:prstGeom>
        </p:spPr>
      </p:pic>
    </p:spTree>
    <p:extLst>
      <p:ext uri="{BB962C8B-B14F-4D97-AF65-F5344CB8AC3E}">
        <p14:creationId xmlns:p14="http://schemas.microsoft.com/office/powerpoint/2010/main" val="4090475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dirty="0"/>
              <a:t>NGN Case Study #1: Analyze Cues</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1206408" y="1561486"/>
            <a:ext cx="9779183" cy="3436483"/>
          </a:xfrm>
        </p:spPr>
        <p:txBody>
          <a:bodyPr vert="horz" lIns="91440" tIns="45720" rIns="91440" bIns="45720" rtlCol="0" anchor="t">
            <a:normAutofit/>
          </a:bodyPr>
          <a:lstStyle/>
          <a:p>
            <a:r>
              <a:rPr lang="en-US" dirty="0"/>
              <a:t>The nurse reviews laboratory data for this client:</a:t>
            </a:r>
          </a:p>
          <a:p>
            <a:endParaRPr lang="en-US" dirty="0"/>
          </a:p>
        </p:txBody>
      </p:sp>
      <p:sp>
        <p:nvSpPr>
          <p:cNvPr id="5" name="Footer Placeholder 4">
            <a:extLst>
              <a:ext uri="{FF2B5EF4-FFF2-40B4-BE49-F238E27FC236}">
                <a16:creationId xmlns:a16="http://schemas.microsoft.com/office/drawing/2014/main" id="{D593FA18-50D6-0344-B477-1D7C91CF4029}"/>
              </a:ext>
            </a:extLst>
          </p:cNvPr>
          <p:cNvSpPr>
            <a:spLocks noGrp="1"/>
          </p:cNvSpPr>
          <p:nvPr>
            <p:ph type="ftr" sz="quarter" idx="11"/>
          </p:nvPr>
        </p:nvSpPr>
        <p:spPr>
          <a:xfrm>
            <a:off x="4038600" y="6356350"/>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Tenorite"/>
                <a:ea typeface="+mn-ea"/>
                <a:cs typeface="+mn-cs"/>
              </a:rPr>
              <a:t>(NGN Bootcamp, 2023)</a:t>
            </a:r>
            <a:endParaRPr kumimoji="0" lang="en-US" sz="1200" b="0" i="0" u="none" strike="noStrike" kern="1200" cap="none" spc="0" normalizeH="0" baseline="0" noProof="0" dirty="0">
              <a:ln>
                <a:noFill/>
              </a:ln>
              <a:solidFill>
                <a:srgbClr val="ED7D31"/>
              </a:solidFill>
              <a:effectLst/>
              <a:uLnTx/>
              <a:uFillTx/>
              <a:latin typeface="Tenorite"/>
              <a:ea typeface="+mn-ea"/>
              <a:cs typeface="+mn-cs"/>
            </a:endParaRPr>
          </a:p>
        </p:txBody>
      </p:sp>
      <p:pic>
        <p:nvPicPr>
          <p:cNvPr id="10" name="Picture 9">
            <a:extLst>
              <a:ext uri="{FF2B5EF4-FFF2-40B4-BE49-F238E27FC236}">
                <a16:creationId xmlns:a16="http://schemas.microsoft.com/office/drawing/2014/main" id="{6A4BA3B5-AEBF-48D8-F7E2-9496FCCE7718}"/>
              </a:ext>
            </a:extLst>
          </p:cNvPr>
          <p:cNvPicPr>
            <a:picLocks noChangeAspect="1"/>
          </p:cNvPicPr>
          <p:nvPr/>
        </p:nvPicPr>
        <p:blipFill>
          <a:blip r:embed="rId3"/>
          <a:stretch>
            <a:fillRect/>
          </a:stretch>
        </p:blipFill>
        <p:spPr>
          <a:xfrm>
            <a:off x="2585220" y="2527336"/>
            <a:ext cx="6943725" cy="3419475"/>
          </a:xfrm>
          <a:prstGeom prst="rect">
            <a:avLst/>
          </a:prstGeom>
        </p:spPr>
      </p:pic>
    </p:spTree>
    <p:extLst>
      <p:ext uri="{BB962C8B-B14F-4D97-AF65-F5344CB8AC3E}">
        <p14:creationId xmlns:p14="http://schemas.microsoft.com/office/powerpoint/2010/main" val="4169940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381000" y="501650"/>
            <a:ext cx="10820376" cy="1325563"/>
          </a:xfrm>
        </p:spPr>
        <p:txBody>
          <a:bodyPr/>
          <a:lstStyle/>
          <a:p>
            <a:r>
              <a:rPr lang="en-US" dirty="0"/>
              <a:t>NGN Case Study #1: Analyze Cues</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nvPr>
        </p:nvGraphicFramePr>
        <p:xfrm>
          <a:off x="1428090" y="2608421"/>
          <a:ext cx="8374521" cy="3414872"/>
        </p:xfrm>
        <a:graphic>
          <a:graphicData uri="http://schemas.openxmlformats.org/drawingml/2006/table">
            <a:tbl>
              <a:tblPr firstRow="1" bandRow="1">
                <a:tableStyleId>{5C22544A-7EE6-4342-B048-85BDC9FD1C3A}</a:tableStyleId>
              </a:tblPr>
              <a:tblGrid>
                <a:gridCol w="2791507">
                  <a:extLst>
                    <a:ext uri="{9D8B030D-6E8A-4147-A177-3AD203B41FA5}">
                      <a16:colId xmlns:a16="http://schemas.microsoft.com/office/drawing/2014/main" val="1689330750"/>
                    </a:ext>
                  </a:extLst>
                </a:gridCol>
                <a:gridCol w="2791507">
                  <a:extLst>
                    <a:ext uri="{9D8B030D-6E8A-4147-A177-3AD203B41FA5}">
                      <a16:colId xmlns:a16="http://schemas.microsoft.com/office/drawing/2014/main" val="2660631934"/>
                    </a:ext>
                  </a:extLst>
                </a:gridCol>
                <a:gridCol w="2791507">
                  <a:extLst>
                    <a:ext uri="{9D8B030D-6E8A-4147-A177-3AD203B41FA5}">
                      <a16:colId xmlns:a16="http://schemas.microsoft.com/office/drawing/2014/main" val="3909717689"/>
                    </a:ext>
                  </a:extLst>
                </a:gridCol>
              </a:tblGrid>
              <a:tr h="426859">
                <a:tc>
                  <a:txBody>
                    <a:bodyPr/>
                    <a:lstStyle/>
                    <a:p>
                      <a:pPr algn="ctr"/>
                      <a:r>
                        <a:rPr lang="en-US" b="1" dirty="0">
                          <a:latin typeface="Tenorite" pitchFamily="2" charset="0"/>
                        </a:rPr>
                        <a:t>Assessment finding</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Diabetes Insipidus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Diabetic Ketoacidosis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426859">
                <a:tc>
                  <a:txBody>
                    <a:bodyPr/>
                    <a:lstStyle/>
                    <a:p>
                      <a:pPr algn="ctr"/>
                      <a:r>
                        <a:rPr lang="en-US" sz="1400" dirty="0">
                          <a:solidFill>
                            <a:schemeClr val="tx2">
                              <a:lumMod val="75000"/>
                            </a:schemeClr>
                          </a:solidFill>
                          <a:latin typeface="Tenorite" pitchFamily="2" charset="0"/>
                        </a:rPr>
                        <a:t>Ketonuria</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426859">
                <a:tc>
                  <a:txBody>
                    <a:bodyPr/>
                    <a:lstStyle/>
                    <a:p>
                      <a:pPr algn="ctr"/>
                      <a:r>
                        <a:rPr lang="en-US" sz="1400" dirty="0">
                          <a:solidFill>
                            <a:schemeClr val="tx2">
                              <a:lumMod val="75000"/>
                            </a:schemeClr>
                          </a:solidFill>
                          <a:latin typeface="Tenorite" pitchFamily="2" charset="0"/>
                        </a:rPr>
                        <a:t>Hyperglycemia</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426859">
                <a:tc>
                  <a:txBody>
                    <a:bodyPr/>
                    <a:lstStyle/>
                    <a:p>
                      <a:pPr algn="ctr"/>
                      <a:r>
                        <a:rPr lang="en-US" sz="1400" dirty="0">
                          <a:solidFill>
                            <a:schemeClr val="tx2">
                              <a:lumMod val="75000"/>
                            </a:schemeClr>
                          </a:solidFill>
                          <a:latin typeface="Tenorite" pitchFamily="2" charset="0"/>
                        </a:rPr>
                        <a:t>Excessive thirst</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426859">
                <a:tc>
                  <a:txBody>
                    <a:bodyPr/>
                    <a:lstStyle/>
                    <a:p>
                      <a:pPr algn="ctr"/>
                      <a:r>
                        <a:rPr lang="en-US" sz="1400" dirty="0">
                          <a:solidFill>
                            <a:schemeClr val="tx2">
                              <a:lumMod val="75000"/>
                            </a:schemeClr>
                          </a:solidFill>
                          <a:latin typeface="Tenorite" pitchFamily="2" charset="0"/>
                        </a:rPr>
                        <a:t>Excessive hunger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r h="426859">
                <a:tc>
                  <a:txBody>
                    <a:bodyPr/>
                    <a:lstStyle/>
                    <a:p>
                      <a:pPr algn="ctr"/>
                      <a:r>
                        <a:rPr lang="en-US" sz="1400" dirty="0">
                          <a:solidFill>
                            <a:schemeClr val="tx2">
                              <a:lumMod val="75000"/>
                            </a:schemeClr>
                          </a:solidFill>
                          <a:latin typeface="Tenorite" pitchFamily="2" charset="0"/>
                        </a:rPr>
                        <a:t>Frequent urination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5295580"/>
                  </a:ext>
                </a:extLst>
              </a:tr>
              <a:tr h="426859">
                <a:tc>
                  <a:txBody>
                    <a:bodyPr/>
                    <a:lstStyle/>
                    <a:p>
                      <a:pPr algn="ctr"/>
                      <a:r>
                        <a:rPr lang="en-US" sz="1400" dirty="0">
                          <a:solidFill>
                            <a:schemeClr val="tx2">
                              <a:lumMod val="75000"/>
                            </a:schemeClr>
                          </a:solidFill>
                          <a:latin typeface="Tenorite" pitchFamily="2" charset="0"/>
                        </a:rPr>
                        <a:t>Rapid, deep breaths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89722191"/>
                  </a:ext>
                </a:extLst>
              </a:tr>
              <a:tr h="426859">
                <a:tc>
                  <a:txBody>
                    <a:bodyPr/>
                    <a:lstStyle/>
                    <a:p>
                      <a:pPr algn="ctr"/>
                      <a:r>
                        <a:rPr lang="en-US" sz="1400" dirty="0">
                          <a:solidFill>
                            <a:schemeClr val="tx2">
                              <a:lumMod val="75000"/>
                            </a:schemeClr>
                          </a:solidFill>
                          <a:latin typeface="Tenorite" pitchFamily="2" charset="0"/>
                        </a:rPr>
                        <a:t>Fruit-like breath odor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5910507"/>
                  </a:ext>
                </a:extLst>
              </a:tr>
            </a:tbl>
          </a:graphicData>
        </a:graphic>
      </p:graphicFrame>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5A5A5"/>
                </a:solidFill>
                <a:effectLst/>
                <a:uLnTx/>
                <a:uFillTx/>
                <a:latin typeface="Tenorite"/>
                <a:ea typeface="+mn-ea"/>
                <a:cs typeface="+mn-cs"/>
              </a:rPr>
              <a:t>(NGN Bootcamp, 2023)</a:t>
            </a:r>
            <a:endParaRPr kumimoji="0" lang="en-US" sz="1200" b="0" i="0" u="none" strike="noStrike" kern="1200" cap="none" spc="0" normalizeH="0" baseline="0" noProof="0" dirty="0">
              <a:ln>
                <a:noFill/>
              </a:ln>
              <a:solidFill>
                <a:srgbClr val="A5A5A5"/>
              </a:solidFill>
              <a:effectLst/>
              <a:uLnTx/>
              <a:uFillTx/>
              <a:latin typeface="Tenorite"/>
              <a:ea typeface="+mn-ea"/>
              <a:cs typeface="+mn-cs"/>
            </a:endParaRPr>
          </a:p>
        </p:txBody>
      </p:sp>
      <p:sp>
        <p:nvSpPr>
          <p:cNvPr id="7" name="TextBox 6">
            <a:extLst>
              <a:ext uri="{FF2B5EF4-FFF2-40B4-BE49-F238E27FC236}">
                <a16:creationId xmlns:a16="http://schemas.microsoft.com/office/drawing/2014/main" id="{5FDE8C6D-64C8-5DB5-2E61-A69D52013CE8}"/>
              </a:ext>
            </a:extLst>
          </p:cNvPr>
          <p:cNvSpPr txBox="1"/>
          <p:nvPr/>
        </p:nvSpPr>
        <p:spPr>
          <a:xfrm>
            <a:off x="522515" y="1744825"/>
            <a:ext cx="10185673"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enorite"/>
                <a:ea typeface="+mn-ea"/>
                <a:cs typeface="+mn-cs"/>
              </a:rPr>
              <a:t>For each client finding below, specify if the assessment finding is consistent with the disease process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enorite"/>
                <a:ea typeface="+mn-ea"/>
                <a:cs typeface="+mn-cs"/>
              </a:rPr>
              <a:t>of diabetes insipidus or diabetic ketoacidosis:</a:t>
            </a:r>
          </a:p>
        </p:txBody>
      </p:sp>
    </p:spTree>
    <p:extLst>
      <p:ext uri="{BB962C8B-B14F-4D97-AF65-F5344CB8AC3E}">
        <p14:creationId xmlns:p14="http://schemas.microsoft.com/office/powerpoint/2010/main" val="645670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381000" y="501650"/>
            <a:ext cx="10820376" cy="1325563"/>
          </a:xfrm>
        </p:spPr>
        <p:txBody>
          <a:bodyPr/>
          <a:lstStyle/>
          <a:p>
            <a:r>
              <a:rPr lang="en-US" dirty="0"/>
              <a:t>NGN Case Study #1: Analyze Cues</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nvPr>
        </p:nvGraphicFramePr>
        <p:xfrm>
          <a:off x="1428090" y="2608421"/>
          <a:ext cx="8374521" cy="3183984"/>
        </p:xfrm>
        <a:graphic>
          <a:graphicData uri="http://schemas.openxmlformats.org/drawingml/2006/table">
            <a:tbl>
              <a:tblPr firstRow="1" bandRow="1">
                <a:tableStyleId>{5C22544A-7EE6-4342-B048-85BDC9FD1C3A}</a:tableStyleId>
              </a:tblPr>
              <a:tblGrid>
                <a:gridCol w="2791507">
                  <a:extLst>
                    <a:ext uri="{9D8B030D-6E8A-4147-A177-3AD203B41FA5}">
                      <a16:colId xmlns:a16="http://schemas.microsoft.com/office/drawing/2014/main" val="1689330750"/>
                    </a:ext>
                  </a:extLst>
                </a:gridCol>
                <a:gridCol w="2791507">
                  <a:extLst>
                    <a:ext uri="{9D8B030D-6E8A-4147-A177-3AD203B41FA5}">
                      <a16:colId xmlns:a16="http://schemas.microsoft.com/office/drawing/2014/main" val="2660631934"/>
                    </a:ext>
                  </a:extLst>
                </a:gridCol>
                <a:gridCol w="2791507">
                  <a:extLst>
                    <a:ext uri="{9D8B030D-6E8A-4147-A177-3AD203B41FA5}">
                      <a16:colId xmlns:a16="http://schemas.microsoft.com/office/drawing/2014/main" val="3909717689"/>
                    </a:ext>
                  </a:extLst>
                </a:gridCol>
              </a:tblGrid>
              <a:tr h="397998">
                <a:tc>
                  <a:txBody>
                    <a:bodyPr/>
                    <a:lstStyle/>
                    <a:p>
                      <a:pPr algn="ctr"/>
                      <a:r>
                        <a:rPr lang="en-US" b="1" dirty="0">
                          <a:latin typeface="Tenorite" pitchFamily="2" charset="0"/>
                        </a:rPr>
                        <a:t>Assessment finding</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Diabetes Insipidus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Diabetic Ketoacidosis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397998">
                <a:tc>
                  <a:txBody>
                    <a:bodyPr/>
                    <a:lstStyle/>
                    <a:p>
                      <a:pPr algn="ctr"/>
                      <a:r>
                        <a:rPr lang="en-US" sz="1400" dirty="0">
                          <a:solidFill>
                            <a:schemeClr val="tx2">
                              <a:lumMod val="75000"/>
                            </a:schemeClr>
                          </a:solidFill>
                          <a:latin typeface="Tenorite" pitchFamily="2" charset="0"/>
                        </a:rPr>
                        <a:t>Ketonuria</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397998">
                <a:tc>
                  <a:txBody>
                    <a:bodyPr/>
                    <a:lstStyle/>
                    <a:p>
                      <a:pPr algn="ctr"/>
                      <a:r>
                        <a:rPr lang="en-US" sz="1400" dirty="0">
                          <a:solidFill>
                            <a:schemeClr val="tx2">
                              <a:lumMod val="75000"/>
                            </a:schemeClr>
                          </a:solidFill>
                          <a:latin typeface="Tenorite" pitchFamily="2" charset="0"/>
                        </a:rPr>
                        <a:t>Hyperglycemia</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397998">
                <a:tc>
                  <a:txBody>
                    <a:bodyPr/>
                    <a:lstStyle/>
                    <a:p>
                      <a:pPr algn="ctr"/>
                      <a:r>
                        <a:rPr lang="en-US" sz="1400" dirty="0">
                          <a:solidFill>
                            <a:schemeClr val="tx2">
                              <a:lumMod val="75000"/>
                            </a:schemeClr>
                          </a:solidFill>
                          <a:latin typeface="Tenorite" pitchFamily="2" charset="0"/>
                        </a:rPr>
                        <a:t>Excessive thirst</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397998">
                <a:tc>
                  <a:txBody>
                    <a:bodyPr/>
                    <a:lstStyle/>
                    <a:p>
                      <a:pPr algn="ctr"/>
                      <a:r>
                        <a:rPr lang="en-US" sz="1400" dirty="0">
                          <a:solidFill>
                            <a:schemeClr val="tx2">
                              <a:lumMod val="75000"/>
                            </a:schemeClr>
                          </a:solidFill>
                          <a:latin typeface="Tenorite" pitchFamily="2" charset="0"/>
                        </a:rPr>
                        <a:t>Excessive hunger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r h="397998">
                <a:tc>
                  <a:txBody>
                    <a:bodyPr/>
                    <a:lstStyle/>
                    <a:p>
                      <a:pPr algn="ctr"/>
                      <a:r>
                        <a:rPr lang="en-US" sz="1400" dirty="0">
                          <a:solidFill>
                            <a:schemeClr val="tx2">
                              <a:lumMod val="75000"/>
                            </a:schemeClr>
                          </a:solidFill>
                          <a:latin typeface="Tenorite" pitchFamily="2" charset="0"/>
                        </a:rPr>
                        <a:t>Frequent urination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5295580"/>
                  </a:ext>
                </a:extLst>
              </a:tr>
              <a:tr h="397998">
                <a:tc>
                  <a:txBody>
                    <a:bodyPr/>
                    <a:lstStyle/>
                    <a:p>
                      <a:pPr algn="ctr"/>
                      <a:r>
                        <a:rPr lang="en-US" sz="1400" dirty="0">
                          <a:solidFill>
                            <a:schemeClr val="tx2">
                              <a:lumMod val="75000"/>
                            </a:schemeClr>
                          </a:solidFill>
                          <a:latin typeface="Tenorite" pitchFamily="2" charset="0"/>
                        </a:rPr>
                        <a:t>Rapid, deep breaths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89722191"/>
                  </a:ext>
                </a:extLst>
              </a:tr>
              <a:tr h="397998">
                <a:tc>
                  <a:txBody>
                    <a:bodyPr/>
                    <a:lstStyle/>
                    <a:p>
                      <a:pPr algn="ctr"/>
                      <a:r>
                        <a:rPr lang="en-US" sz="1400" dirty="0">
                          <a:solidFill>
                            <a:schemeClr val="tx2">
                              <a:lumMod val="75000"/>
                            </a:schemeClr>
                          </a:solidFill>
                          <a:latin typeface="Tenorite" pitchFamily="2" charset="0"/>
                        </a:rPr>
                        <a:t>Fruit-like breath odor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5910507"/>
                  </a:ext>
                </a:extLst>
              </a:tr>
            </a:tbl>
          </a:graphicData>
        </a:graphic>
      </p:graphicFrame>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5A5A5"/>
                </a:solidFill>
                <a:effectLst/>
                <a:uLnTx/>
                <a:uFillTx/>
                <a:latin typeface="Tenorite"/>
                <a:ea typeface="+mn-ea"/>
                <a:cs typeface="+mn-cs"/>
              </a:rPr>
              <a:t>(NGN Bootcamp, 2023)</a:t>
            </a:r>
            <a:endParaRPr kumimoji="0" lang="en-US" sz="1200" b="0" i="0" u="none" strike="noStrike" kern="1200" cap="none" spc="0" normalizeH="0" baseline="0" noProof="0" dirty="0">
              <a:ln>
                <a:noFill/>
              </a:ln>
              <a:solidFill>
                <a:srgbClr val="A5A5A5"/>
              </a:solidFill>
              <a:effectLst/>
              <a:uLnTx/>
              <a:uFillTx/>
              <a:latin typeface="Tenorite"/>
              <a:ea typeface="+mn-ea"/>
              <a:cs typeface="+mn-cs"/>
            </a:endParaRPr>
          </a:p>
        </p:txBody>
      </p:sp>
      <p:sp>
        <p:nvSpPr>
          <p:cNvPr id="7" name="TextBox 6">
            <a:extLst>
              <a:ext uri="{FF2B5EF4-FFF2-40B4-BE49-F238E27FC236}">
                <a16:creationId xmlns:a16="http://schemas.microsoft.com/office/drawing/2014/main" id="{5FDE8C6D-64C8-5DB5-2E61-A69D52013CE8}"/>
              </a:ext>
            </a:extLst>
          </p:cNvPr>
          <p:cNvSpPr txBox="1"/>
          <p:nvPr/>
        </p:nvSpPr>
        <p:spPr>
          <a:xfrm>
            <a:off x="522515" y="1744825"/>
            <a:ext cx="10185673"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enorite"/>
                <a:ea typeface="+mn-ea"/>
                <a:cs typeface="+mn-cs"/>
              </a:rPr>
              <a:t>For each client finding below, specify if the assessment finding is consistent with the disease process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enorite"/>
                <a:ea typeface="+mn-ea"/>
                <a:cs typeface="+mn-cs"/>
              </a:rPr>
              <a:t>of diabetes insipidus or diabetic ketoacidosis:</a:t>
            </a:r>
          </a:p>
        </p:txBody>
      </p:sp>
    </p:spTree>
    <p:extLst>
      <p:ext uri="{BB962C8B-B14F-4D97-AF65-F5344CB8AC3E}">
        <p14:creationId xmlns:p14="http://schemas.microsoft.com/office/powerpoint/2010/main" val="145538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381000" y="418869"/>
            <a:ext cx="11383861" cy="1325563"/>
          </a:xfrm>
        </p:spPr>
        <p:txBody>
          <a:bodyPr/>
          <a:lstStyle/>
          <a:p>
            <a:r>
              <a:rPr lang="en-US" dirty="0"/>
              <a:t>NGN Case Study #1: Prioritize hypotheses</a:t>
            </a:r>
          </a:p>
        </p:txBody>
      </p:sp>
      <p:sp>
        <p:nvSpPr>
          <p:cNvPr id="3" name="Text Placeholder 2">
            <a:extLst>
              <a:ext uri="{FF2B5EF4-FFF2-40B4-BE49-F238E27FC236}">
                <a16:creationId xmlns:a16="http://schemas.microsoft.com/office/drawing/2014/main" id="{EFB90AB4-D228-4548-B072-726498212362}"/>
              </a:ext>
            </a:extLst>
          </p:cNvPr>
          <p:cNvSpPr>
            <a:spLocks noGrp="1"/>
          </p:cNvSpPr>
          <p:nvPr>
            <p:ph idx="11"/>
          </p:nvPr>
        </p:nvSpPr>
        <p:spPr>
          <a:xfrm>
            <a:off x="1167493" y="2005689"/>
            <a:ext cx="4663440" cy="522514"/>
          </a:xfrm>
        </p:spPr>
        <p:txBody>
          <a:bodyPr/>
          <a:lstStyle/>
          <a:p>
            <a:r>
              <a:rPr lang="en-US" dirty="0"/>
              <a:t>Nurses’ Notes: 1415</a:t>
            </a:r>
          </a:p>
        </p:txBody>
      </p:sp>
      <p:pic>
        <p:nvPicPr>
          <p:cNvPr id="11" name="Content Placeholder 10">
            <a:extLst>
              <a:ext uri="{FF2B5EF4-FFF2-40B4-BE49-F238E27FC236}">
                <a16:creationId xmlns:a16="http://schemas.microsoft.com/office/drawing/2014/main" id="{5ADFCE75-883E-E250-9FA3-38DE092E0E34}"/>
              </a:ext>
            </a:extLst>
          </p:cNvPr>
          <p:cNvPicPr>
            <a:picLocks noGrp="1" noChangeAspect="1"/>
          </p:cNvPicPr>
          <p:nvPr>
            <p:ph idx="1"/>
          </p:nvPr>
        </p:nvPicPr>
        <p:blipFill>
          <a:blip r:embed="rId2"/>
          <a:stretch>
            <a:fillRect/>
          </a:stretch>
        </p:blipFill>
        <p:spPr>
          <a:xfrm>
            <a:off x="436391" y="2365694"/>
            <a:ext cx="5636539" cy="3990655"/>
          </a:xfrm>
        </p:spPr>
      </p:pic>
      <p:sp>
        <p:nvSpPr>
          <p:cNvPr id="6" name="Text Placeholder 5">
            <a:extLst>
              <a:ext uri="{FF2B5EF4-FFF2-40B4-BE49-F238E27FC236}">
                <a16:creationId xmlns:a16="http://schemas.microsoft.com/office/drawing/2014/main" id="{F5018B6D-E395-49AD-92AD-AD69E3AB40C3}"/>
              </a:ext>
            </a:extLst>
          </p:cNvPr>
          <p:cNvSpPr>
            <a:spLocks noGrp="1"/>
          </p:cNvSpPr>
          <p:nvPr>
            <p:ph idx="12"/>
          </p:nvPr>
        </p:nvSpPr>
        <p:spPr>
          <a:xfrm>
            <a:off x="6283235" y="2005688"/>
            <a:ext cx="4663440" cy="1056294"/>
          </a:xfrm>
        </p:spPr>
        <p:txBody>
          <a:bodyPr/>
          <a:lstStyle/>
          <a:p>
            <a:r>
              <a:rPr lang="en-US" sz="1600" b="0" dirty="0"/>
              <a:t>The nurse reviews the Nurses’ Note from 1415. Fill in each blank in the following sentence:  </a:t>
            </a:r>
          </a:p>
          <a:p>
            <a:r>
              <a:rPr lang="en-US" sz="1600" b="0" dirty="0"/>
              <a:t>The nurse should prioritize monitoring the client for:  ______ , ________ , and  _____________.</a:t>
            </a:r>
          </a:p>
          <a:p>
            <a:endParaRPr lang="en-US" sz="2000" b="0" dirty="0"/>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idx="10"/>
          </p:nvPr>
        </p:nvSpPr>
        <p:spPr>
          <a:xfrm>
            <a:off x="7367792" y="3323238"/>
            <a:ext cx="2662106" cy="2156426"/>
          </a:xfrm>
          <a:solidFill>
            <a:schemeClr val="accent1">
              <a:lumMod val="20000"/>
              <a:lumOff val="80000"/>
            </a:schemeClr>
          </a:solidFill>
        </p:spPr>
        <p:txBody>
          <a:bodyPr vert="horz" lIns="91440" tIns="45720" rIns="91440" bIns="45720" rtlCol="0" anchor="t">
            <a:normAutofit/>
          </a:bodyPr>
          <a:lstStyle/>
          <a:p>
            <a:pPr marL="0" algn="ctr" rtl="0" eaLnBrk="1" fontAlgn="ctr" latinLnBrk="0" hangingPunct="1">
              <a:spcBef>
                <a:spcPts val="0"/>
              </a:spcBef>
              <a:spcAft>
                <a:spcPts val="0"/>
              </a:spcAft>
            </a:pPr>
            <a:r>
              <a:rPr lang="en-US" sz="1800" b="1" i="0" u="none" strike="noStrike" kern="1200" dirty="0">
                <a:solidFill>
                  <a:srgbClr val="FFFFFF"/>
                </a:solidFill>
                <a:effectLst/>
                <a:latin typeface="Tenorite" panose="00000500000000000000" pitchFamily="2" charset="0"/>
              </a:rPr>
              <a:t>Word choices</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Neuropathy</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Retinopathy</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Stroke</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Severe dehydration</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Cardiac arrest</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Cerebral edema</a:t>
            </a:r>
            <a:endParaRPr lang="en-US" dirty="0"/>
          </a:p>
        </p:txBody>
      </p:sp>
      <p:sp>
        <p:nvSpPr>
          <p:cNvPr id="8" name="Footer Placeholder 7">
            <a:extLst>
              <a:ext uri="{FF2B5EF4-FFF2-40B4-BE49-F238E27FC236}">
                <a16:creationId xmlns:a16="http://schemas.microsoft.com/office/drawing/2014/main" id="{0DD1986A-9AF9-5C45-BE85-20D5AA267AE1}"/>
              </a:ext>
            </a:extLst>
          </p:cNvPr>
          <p:cNvSpPr>
            <a:spLocks noGrp="1"/>
          </p:cNvSpPr>
          <p:nvPr>
            <p:ph type="ftr" sz="quarter" idx="3"/>
          </p:nvPr>
        </p:nvSpPr>
        <p:spPr>
          <a:xfrm>
            <a:off x="4038600" y="6356350"/>
            <a:ext cx="4114800" cy="365125"/>
          </a:xfrm>
        </p:spPr>
        <p:txBody>
          <a:bodyPr/>
          <a:lstStyle/>
          <a:p>
            <a:r>
              <a:rPr lang="en-US"/>
              <a:t>(NGN Bootcamp, 2023)</a:t>
            </a:r>
            <a:endParaRPr lang="en-US" dirty="0"/>
          </a:p>
        </p:txBody>
      </p:sp>
    </p:spTree>
    <p:extLst>
      <p:ext uri="{BB962C8B-B14F-4D97-AF65-F5344CB8AC3E}">
        <p14:creationId xmlns:p14="http://schemas.microsoft.com/office/powerpoint/2010/main" val="16606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381000" y="418869"/>
            <a:ext cx="11383861" cy="1325563"/>
          </a:xfrm>
        </p:spPr>
        <p:txBody>
          <a:bodyPr/>
          <a:lstStyle/>
          <a:p>
            <a:r>
              <a:rPr lang="en-US" dirty="0"/>
              <a:t>NGN Case Study #1: Prioritize hypotheses</a:t>
            </a:r>
          </a:p>
        </p:txBody>
      </p:sp>
      <p:sp>
        <p:nvSpPr>
          <p:cNvPr id="3" name="Text Placeholder 2">
            <a:extLst>
              <a:ext uri="{FF2B5EF4-FFF2-40B4-BE49-F238E27FC236}">
                <a16:creationId xmlns:a16="http://schemas.microsoft.com/office/drawing/2014/main" id="{EFB90AB4-D228-4548-B072-726498212362}"/>
              </a:ext>
            </a:extLst>
          </p:cNvPr>
          <p:cNvSpPr>
            <a:spLocks noGrp="1"/>
          </p:cNvSpPr>
          <p:nvPr>
            <p:ph idx="11"/>
          </p:nvPr>
        </p:nvSpPr>
        <p:spPr>
          <a:xfrm>
            <a:off x="1167493" y="2005689"/>
            <a:ext cx="4663440" cy="522514"/>
          </a:xfrm>
        </p:spPr>
        <p:txBody>
          <a:bodyPr/>
          <a:lstStyle/>
          <a:p>
            <a:r>
              <a:rPr lang="en-US" dirty="0"/>
              <a:t>Nurses’ Notes: 1415</a:t>
            </a:r>
          </a:p>
        </p:txBody>
      </p:sp>
      <p:pic>
        <p:nvPicPr>
          <p:cNvPr id="11" name="Content Placeholder 10">
            <a:extLst>
              <a:ext uri="{FF2B5EF4-FFF2-40B4-BE49-F238E27FC236}">
                <a16:creationId xmlns:a16="http://schemas.microsoft.com/office/drawing/2014/main" id="{5ADFCE75-883E-E250-9FA3-38DE092E0E34}"/>
              </a:ext>
            </a:extLst>
          </p:cNvPr>
          <p:cNvPicPr>
            <a:picLocks noGrp="1" noChangeAspect="1"/>
          </p:cNvPicPr>
          <p:nvPr>
            <p:ph idx="1"/>
          </p:nvPr>
        </p:nvPicPr>
        <p:blipFill>
          <a:blip r:embed="rId3"/>
          <a:stretch>
            <a:fillRect/>
          </a:stretch>
        </p:blipFill>
        <p:spPr>
          <a:xfrm>
            <a:off x="233664" y="2415080"/>
            <a:ext cx="5675102" cy="4024051"/>
          </a:xfrm>
        </p:spPr>
      </p:pic>
      <p:sp>
        <p:nvSpPr>
          <p:cNvPr id="6" name="Text Placeholder 5">
            <a:extLst>
              <a:ext uri="{FF2B5EF4-FFF2-40B4-BE49-F238E27FC236}">
                <a16:creationId xmlns:a16="http://schemas.microsoft.com/office/drawing/2014/main" id="{F5018B6D-E395-49AD-92AD-AD69E3AB40C3}"/>
              </a:ext>
            </a:extLst>
          </p:cNvPr>
          <p:cNvSpPr>
            <a:spLocks noGrp="1"/>
          </p:cNvSpPr>
          <p:nvPr>
            <p:ph idx="12"/>
          </p:nvPr>
        </p:nvSpPr>
        <p:spPr>
          <a:xfrm>
            <a:off x="6283235" y="2005688"/>
            <a:ext cx="4663440" cy="1056294"/>
          </a:xfrm>
        </p:spPr>
        <p:txBody>
          <a:bodyPr/>
          <a:lstStyle/>
          <a:p>
            <a:r>
              <a:rPr lang="en-US" sz="1600" b="0" dirty="0"/>
              <a:t>The nurse reviews the Nurses’ Note from 1415. Fill in each blank in the following sentence:  </a:t>
            </a:r>
          </a:p>
          <a:p>
            <a:r>
              <a:rPr lang="en-US" sz="1600" b="0" dirty="0"/>
              <a:t>The nurse should prioritize monitoring the client for:  </a:t>
            </a:r>
            <a:r>
              <a:rPr lang="en-US" sz="1600" b="0" dirty="0">
                <a:solidFill>
                  <a:srgbClr val="FF0000"/>
                </a:solidFill>
              </a:rPr>
              <a:t>severe dehydration</a:t>
            </a:r>
            <a:r>
              <a:rPr lang="en-US" sz="1600" b="0" dirty="0"/>
              <a:t>, </a:t>
            </a:r>
            <a:r>
              <a:rPr lang="en-US" sz="1600" b="0" dirty="0">
                <a:solidFill>
                  <a:srgbClr val="FF0000"/>
                </a:solidFill>
              </a:rPr>
              <a:t>cerebral edema</a:t>
            </a:r>
            <a:r>
              <a:rPr lang="en-US" sz="1600" b="0" dirty="0"/>
              <a:t>, and </a:t>
            </a:r>
            <a:r>
              <a:rPr lang="en-US" sz="1600" b="0" dirty="0">
                <a:solidFill>
                  <a:srgbClr val="FF0000"/>
                </a:solidFill>
              </a:rPr>
              <a:t>cardiac arrest</a:t>
            </a:r>
            <a:r>
              <a:rPr lang="en-US" sz="1600" b="0" dirty="0"/>
              <a:t>.</a:t>
            </a:r>
          </a:p>
          <a:p>
            <a:endParaRPr lang="en-US" sz="2000" b="0" dirty="0"/>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idx="10"/>
          </p:nvPr>
        </p:nvSpPr>
        <p:spPr>
          <a:xfrm>
            <a:off x="7600426" y="3323238"/>
            <a:ext cx="2429472" cy="2156426"/>
          </a:xfrm>
          <a:solidFill>
            <a:schemeClr val="accent1">
              <a:lumMod val="20000"/>
              <a:lumOff val="80000"/>
            </a:schemeClr>
          </a:solidFill>
        </p:spPr>
        <p:txBody>
          <a:bodyPr vert="horz" lIns="91440" tIns="45720" rIns="91440" bIns="45720" rtlCol="0" anchor="t">
            <a:normAutofit/>
          </a:bodyPr>
          <a:lstStyle/>
          <a:p>
            <a:pPr marL="0" algn="ctr" rtl="0" eaLnBrk="1" fontAlgn="ctr" latinLnBrk="0" hangingPunct="1">
              <a:spcBef>
                <a:spcPts val="0"/>
              </a:spcBef>
              <a:spcAft>
                <a:spcPts val="0"/>
              </a:spcAft>
            </a:pPr>
            <a:r>
              <a:rPr lang="en-US" sz="1800" b="1" i="0" u="none" strike="noStrike" kern="1200" dirty="0">
                <a:solidFill>
                  <a:srgbClr val="FFFFFF"/>
                </a:solidFill>
                <a:effectLst/>
                <a:latin typeface="Tenorite" panose="00000500000000000000" pitchFamily="2" charset="0"/>
              </a:rPr>
              <a:t>Word choices</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Neuropathy</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Retinopathy</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Stroke</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Severe dehydration</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Cardiac arrest</a:t>
            </a:r>
            <a:endParaRPr lang="en-US" sz="1800" b="0" i="0" u="none" strike="noStrike" dirty="0">
              <a:effectLst/>
              <a:latin typeface="Arial" panose="020B0604020202020204" pitchFamily="34" charset="0"/>
            </a:endParaRPr>
          </a:p>
          <a:p>
            <a:pPr marL="0" algn="ctr" rtl="0" eaLnBrk="1" fontAlgn="ctr" latinLnBrk="0" hangingPunct="1">
              <a:spcBef>
                <a:spcPts val="0"/>
              </a:spcBef>
              <a:spcAft>
                <a:spcPts val="0"/>
              </a:spcAft>
            </a:pPr>
            <a:r>
              <a:rPr lang="en-US" sz="1800" b="0" i="0" u="none" strike="noStrike" kern="1200" dirty="0">
                <a:solidFill>
                  <a:srgbClr val="333F50"/>
                </a:solidFill>
                <a:effectLst/>
                <a:latin typeface="Tenorite" panose="00000500000000000000" pitchFamily="2" charset="0"/>
              </a:rPr>
              <a:t>Cerebral edema</a:t>
            </a:r>
            <a:endParaRPr lang="en-US" dirty="0"/>
          </a:p>
        </p:txBody>
      </p:sp>
      <p:sp>
        <p:nvSpPr>
          <p:cNvPr id="8" name="Footer Placeholder 7">
            <a:extLst>
              <a:ext uri="{FF2B5EF4-FFF2-40B4-BE49-F238E27FC236}">
                <a16:creationId xmlns:a16="http://schemas.microsoft.com/office/drawing/2014/main" id="{0DD1986A-9AF9-5C45-BE85-20D5AA267AE1}"/>
              </a:ext>
            </a:extLst>
          </p:cNvPr>
          <p:cNvSpPr>
            <a:spLocks noGrp="1"/>
          </p:cNvSpPr>
          <p:nvPr>
            <p:ph type="ftr" sz="quarter" idx="3"/>
          </p:nvPr>
        </p:nvSpPr>
        <p:spPr>
          <a:xfrm>
            <a:off x="4038600" y="6356350"/>
            <a:ext cx="4114800" cy="365125"/>
          </a:xfrm>
        </p:spPr>
        <p:txBody>
          <a:bodyPr/>
          <a:lstStyle/>
          <a:p>
            <a:r>
              <a:rPr lang="en-US"/>
              <a:t>(NGN Bootcamp, 2023)</a:t>
            </a:r>
            <a:endParaRPr lang="en-US" dirty="0"/>
          </a:p>
        </p:txBody>
      </p:sp>
    </p:spTree>
    <p:extLst>
      <p:ext uri="{BB962C8B-B14F-4D97-AF65-F5344CB8AC3E}">
        <p14:creationId xmlns:p14="http://schemas.microsoft.com/office/powerpoint/2010/main" val="1595154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381000" y="501650"/>
            <a:ext cx="10820376" cy="1325563"/>
          </a:xfrm>
        </p:spPr>
        <p:txBody>
          <a:bodyPr/>
          <a:lstStyle/>
          <a:p>
            <a:r>
              <a:rPr lang="en-US" dirty="0"/>
              <a:t>NGN Case Study #1: Generate Solutions</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nvPr>
        </p:nvGraphicFramePr>
        <p:xfrm>
          <a:off x="1428088" y="2608420"/>
          <a:ext cx="9225928" cy="3344211"/>
        </p:xfrm>
        <a:graphic>
          <a:graphicData uri="http://schemas.openxmlformats.org/drawingml/2006/table">
            <a:tbl>
              <a:tblPr firstRow="1" bandRow="1">
                <a:tableStyleId>{5C22544A-7EE6-4342-B048-85BDC9FD1C3A}</a:tableStyleId>
              </a:tblPr>
              <a:tblGrid>
                <a:gridCol w="2306482">
                  <a:extLst>
                    <a:ext uri="{9D8B030D-6E8A-4147-A177-3AD203B41FA5}">
                      <a16:colId xmlns:a16="http://schemas.microsoft.com/office/drawing/2014/main" val="1689330750"/>
                    </a:ext>
                  </a:extLst>
                </a:gridCol>
                <a:gridCol w="2306482">
                  <a:extLst>
                    <a:ext uri="{9D8B030D-6E8A-4147-A177-3AD203B41FA5}">
                      <a16:colId xmlns:a16="http://schemas.microsoft.com/office/drawing/2014/main" val="1778612558"/>
                    </a:ext>
                  </a:extLst>
                </a:gridCol>
                <a:gridCol w="2306482">
                  <a:extLst>
                    <a:ext uri="{9D8B030D-6E8A-4147-A177-3AD203B41FA5}">
                      <a16:colId xmlns:a16="http://schemas.microsoft.com/office/drawing/2014/main" val="1941371918"/>
                    </a:ext>
                  </a:extLst>
                </a:gridCol>
                <a:gridCol w="2306482">
                  <a:extLst>
                    <a:ext uri="{9D8B030D-6E8A-4147-A177-3AD203B41FA5}">
                      <a16:colId xmlns:a16="http://schemas.microsoft.com/office/drawing/2014/main" val="3203875853"/>
                    </a:ext>
                  </a:extLst>
                </a:gridCol>
              </a:tblGrid>
              <a:tr h="548801">
                <a:tc>
                  <a:txBody>
                    <a:bodyPr/>
                    <a:lstStyle/>
                    <a:p>
                      <a:pPr algn="ctr"/>
                      <a:r>
                        <a:rPr lang="en-US" b="1" dirty="0">
                          <a:latin typeface="Tenorite" pitchFamily="2" charset="0"/>
                        </a:rPr>
                        <a:t>Body System</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Choice 1</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Choice 2</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Choice 3</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666185">
                <a:tc>
                  <a:txBody>
                    <a:bodyPr/>
                    <a:lstStyle/>
                    <a:p>
                      <a:pPr algn="ctr"/>
                      <a:r>
                        <a:rPr lang="en-US" sz="1400" dirty="0">
                          <a:solidFill>
                            <a:schemeClr val="tx2">
                              <a:lumMod val="75000"/>
                            </a:schemeClr>
                          </a:solidFill>
                          <a:latin typeface="Tenorite" pitchFamily="2" charset="0"/>
                        </a:rPr>
                        <a:t>Nervous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Monitor for changes in level of consciousness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Administer prescribed seizure medications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Prepare for MRI</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666185">
                <a:tc>
                  <a:txBody>
                    <a:bodyPr/>
                    <a:lstStyle/>
                    <a:p>
                      <a:pPr algn="ctr"/>
                      <a:r>
                        <a:rPr lang="en-US" sz="1400" dirty="0">
                          <a:solidFill>
                            <a:schemeClr val="tx2">
                              <a:lumMod val="75000"/>
                            </a:schemeClr>
                          </a:solidFill>
                          <a:latin typeface="Tenorite" pitchFamily="2" charset="0"/>
                        </a:rPr>
                        <a:t>Cardiovascular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Prepare for cardioversion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Place client on cardiac monitor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2">
                              <a:lumMod val="75000"/>
                            </a:schemeClr>
                          </a:solidFill>
                          <a:latin typeface="Tenorite" pitchFamily="2" charset="0"/>
                        </a:rPr>
                        <a:t>Assess for deep vein thrombosis (DVT) q 4 hours</a:t>
                      </a:r>
                    </a:p>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666185">
                <a:tc>
                  <a:txBody>
                    <a:bodyPr/>
                    <a:lstStyle/>
                    <a:p>
                      <a:pPr algn="ctr"/>
                      <a:r>
                        <a:rPr lang="en-US" sz="1400" dirty="0">
                          <a:solidFill>
                            <a:schemeClr val="tx2">
                              <a:lumMod val="75000"/>
                            </a:schemeClr>
                          </a:solidFill>
                          <a:latin typeface="Tenorite" pitchFamily="2" charset="0"/>
                        </a:rPr>
                        <a:t>Respiratory</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Prepare for continuous positive airway pressure (CPAP)</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Place client in semi-Fowler’s position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2">
                              <a:lumMod val="75000"/>
                            </a:schemeClr>
                          </a:solidFill>
                          <a:latin typeface="Tenorite" pitchFamily="2" charset="0"/>
                        </a:rPr>
                        <a:t>Monitor arterial blood gases</a:t>
                      </a:r>
                    </a:p>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666185">
                <a:tc>
                  <a:txBody>
                    <a:bodyPr/>
                    <a:lstStyle/>
                    <a:p>
                      <a:pPr algn="ctr"/>
                      <a:r>
                        <a:rPr lang="en-US" sz="1400" dirty="0">
                          <a:solidFill>
                            <a:schemeClr val="tx2">
                              <a:lumMod val="75000"/>
                            </a:schemeClr>
                          </a:solidFill>
                          <a:latin typeface="Tenorite" pitchFamily="2" charset="0"/>
                        </a:rPr>
                        <a:t>Endocrine</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Administer continuous IV regular insulin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Administer IM glucagon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Monitor blood glucose 4x/day</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bl>
          </a:graphicData>
        </a:graphic>
      </p:graphicFrame>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p:txBody>
          <a:bodyPr/>
          <a:lstStyle/>
          <a:p>
            <a:r>
              <a:rPr lang="en-US"/>
              <a:t>(NGN Bootcamp, 2023)</a:t>
            </a:r>
            <a:endParaRPr lang="en-US" dirty="0"/>
          </a:p>
        </p:txBody>
      </p:sp>
      <p:sp>
        <p:nvSpPr>
          <p:cNvPr id="7" name="TextBox 6">
            <a:extLst>
              <a:ext uri="{FF2B5EF4-FFF2-40B4-BE49-F238E27FC236}">
                <a16:creationId xmlns:a16="http://schemas.microsoft.com/office/drawing/2014/main" id="{87D4FA85-8D18-45D0-069F-A218399A604F}"/>
              </a:ext>
            </a:extLst>
          </p:cNvPr>
          <p:cNvSpPr txBox="1"/>
          <p:nvPr/>
        </p:nvSpPr>
        <p:spPr>
          <a:xfrm>
            <a:off x="381000" y="1837104"/>
            <a:ext cx="11943078" cy="646331"/>
          </a:xfrm>
          <a:prstGeom prst="rect">
            <a:avLst/>
          </a:prstGeom>
          <a:noFill/>
        </p:spPr>
        <p:txBody>
          <a:bodyPr wrap="none" rtlCol="0">
            <a:spAutoFit/>
          </a:bodyPr>
          <a:lstStyle/>
          <a:p>
            <a:r>
              <a:rPr lang="en-US" dirty="0"/>
              <a:t>For each body system below, choose the best potential nursing interventions that would be considered for this client:</a:t>
            </a:r>
          </a:p>
          <a:p>
            <a:endParaRPr lang="en-US" dirty="0"/>
          </a:p>
        </p:txBody>
      </p:sp>
    </p:spTree>
    <p:extLst>
      <p:ext uri="{BB962C8B-B14F-4D97-AF65-F5344CB8AC3E}">
        <p14:creationId xmlns:p14="http://schemas.microsoft.com/office/powerpoint/2010/main" val="2367467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381000" y="501650"/>
            <a:ext cx="10820376" cy="1325563"/>
          </a:xfrm>
        </p:spPr>
        <p:txBody>
          <a:bodyPr/>
          <a:lstStyle/>
          <a:p>
            <a:r>
              <a:rPr lang="en-US" dirty="0"/>
              <a:t>NGN Case Study #1: Generate Solutions</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nvPr>
        </p:nvGraphicFramePr>
        <p:xfrm>
          <a:off x="1428089" y="2608420"/>
          <a:ext cx="9267876" cy="3278876"/>
        </p:xfrm>
        <a:graphic>
          <a:graphicData uri="http://schemas.openxmlformats.org/drawingml/2006/table">
            <a:tbl>
              <a:tblPr firstRow="1" bandRow="1">
                <a:tableStyleId>{5C22544A-7EE6-4342-B048-85BDC9FD1C3A}</a:tableStyleId>
              </a:tblPr>
              <a:tblGrid>
                <a:gridCol w="2316969">
                  <a:extLst>
                    <a:ext uri="{9D8B030D-6E8A-4147-A177-3AD203B41FA5}">
                      <a16:colId xmlns:a16="http://schemas.microsoft.com/office/drawing/2014/main" val="1689330750"/>
                    </a:ext>
                  </a:extLst>
                </a:gridCol>
                <a:gridCol w="2316969">
                  <a:extLst>
                    <a:ext uri="{9D8B030D-6E8A-4147-A177-3AD203B41FA5}">
                      <a16:colId xmlns:a16="http://schemas.microsoft.com/office/drawing/2014/main" val="1778612558"/>
                    </a:ext>
                  </a:extLst>
                </a:gridCol>
                <a:gridCol w="2316969">
                  <a:extLst>
                    <a:ext uri="{9D8B030D-6E8A-4147-A177-3AD203B41FA5}">
                      <a16:colId xmlns:a16="http://schemas.microsoft.com/office/drawing/2014/main" val="1941371918"/>
                    </a:ext>
                  </a:extLst>
                </a:gridCol>
                <a:gridCol w="2316969">
                  <a:extLst>
                    <a:ext uri="{9D8B030D-6E8A-4147-A177-3AD203B41FA5}">
                      <a16:colId xmlns:a16="http://schemas.microsoft.com/office/drawing/2014/main" val="3203875853"/>
                    </a:ext>
                  </a:extLst>
                </a:gridCol>
              </a:tblGrid>
              <a:tr h="548801">
                <a:tc>
                  <a:txBody>
                    <a:bodyPr/>
                    <a:lstStyle/>
                    <a:p>
                      <a:pPr algn="ctr"/>
                      <a:r>
                        <a:rPr lang="en-US" b="1" dirty="0">
                          <a:latin typeface="Tenorite" pitchFamily="2" charset="0"/>
                        </a:rPr>
                        <a:t>Body System</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Choice 1</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Choice 2</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Choice 3</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666185">
                <a:tc>
                  <a:txBody>
                    <a:bodyPr/>
                    <a:lstStyle/>
                    <a:p>
                      <a:pPr algn="ctr"/>
                      <a:r>
                        <a:rPr lang="en-US" sz="1400" dirty="0">
                          <a:solidFill>
                            <a:schemeClr val="tx2">
                              <a:lumMod val="75000"/>
                            </a:schemeClr>
                          </a:solidFill>
                          <a:latin typeface="Tenorite" pitchFamily="2" charset="0"/>
                        </a:rPr>
                        <a:t>Nervous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Monitor for changes in level of consciousness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Administer prescribed seizure medications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Prepare for MRI</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666185">
                <a:tc>
                  <a:txBody>
                    <a:bodyPr/>
                    <a:lstStyle/>
                    <a:p>
                      <a:pPr algn="ctr"/>
                      <a:r>
                        <a:rPr lang="en-US" sz="1400" dirty="0">
                          <a:solidFill>
                            <a:schemeClr val="tx2">
                              <a:lumMod val="75000"/>
                            </a:schemeClr>
                          </a:solidFill>
                          <a:latin typeface="Tenorite" pitchFamily="2" charset="0"/>
                        </a:rPr>
                        <a:t>Cardiovascular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Prepare for cardioversion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Place client on cardiac monitor</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Assess for deep vein thrombosis (DVT) q 4 hours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666185">
                <a:tc>
                  <a:txBody>
                    <a:bodyPr/>
                    <a:lstStyle/>
                    <a:p>
                      <a:pPr algn="ctr"/>
                      <a:r>
                        <a:rPr lang="en-US" sz="1400" dirty="0">
                          <a:solidFill>
                            <a:schemeClr val="tx2">
                              <a:lumMod val="75000"/>
                            </a:schemeClr>
                          </a:solidFill>
                          <a:latin typeface="Tenorite" pitchFamily="2" charset="0"/>
                        </a:rPr>
                        <a:t>Respiratory</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Prepare for continuous positive airway pressure (CPAP)</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Place client in semi- Fowler’s position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Monitor arterial blood gases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666185">
                <a:tc>
                  <a:txBody>
                    <a:bodyPr/>
                    <a:lstStyle/>
                    <a:p>
                      <a:pPr algn="ctr"/>
                      <a:r>
                        <a:rPr lang="en-US" sz="1400" dirty="0">
                          <a:solidFill>
                            <a:schemeClr val="tx2">
                              <a:lumMod val="75000"/>
                            </a:schemeClr>
                          </a:solidFill>
                          <a:latin typeface="Tenorite" pitchFamily="2" charset="0"/>
                        </a:rPr>
                        <a:t>Endocrine</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Administer continuous IV regular insulin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Administer IM glucagon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2">
                              <a:lumMod val="75000"/>
                            </a:schemeClr>
                          </a:solidFill>
                          <a:latin typeface="Tenorite" pitchFamily="2" charset="0"/>
                        </a:rPr>
                        <a:t>Monitor blood glucose every 4 hours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bl>
          </a:graphicData>
        </a:graphic>
      </p:graphicFrame>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p:txBody>
          <a:bodyPr/>
          <a:lstStyle/>
          <a:p>
            <a:r>
              <a:rPr lang="en-US"/>
              <a:t>(NGN Bootcamp, 2023)</a:t>
            </a:r>
            <a:endParaRPr lang="en-US" dirty="0"/>
          </a:p>
        </p:txBody>
      </p:sp>
      <p:sp>
        <p:nvSpPr>
          <p:cNvPr id="7" name="TextBox 6">
            <a:extLst>
              <a:ext uri="{FF2B5EF4-FFF2-40B4-BE49-F238E27FC236}">
                <a16:creationId xmlns:a16="http://schemas.microsoft.com/office/drawing/2014/main" id="{87D4FA85-8D18-45D0-069F-A218399A604F}"/>
              </a:ext>
            </a:extLst>
          </p:cNvPr>
          <p:cNvSpPr txBox="1"/>
          <p:nvPr/>
        </p:nvSpPr>
        <p:spPr>
          <a:xfrm>
            <a:off x="381000" y="1837104"/>
            <a:ext cx="11943078" cy="646331"/>
          </a:xfrm>
          <a:prstGeom prst="rect">
            <a:avLst/>
          </a:prstGeom>
          <a:noFill/>
        </p:spPr>
        <p:txBody>
          <a:bodyPr wrap="none" rtlCol="0">
            <a:spAutoFit/>
          </a:bodyPr>
          <a:lstStyle/>
          <a:p>
            <a:r>
              <a:rPr lang="en-US" dirty="0"/>
              <a:t>For each body system below, choose the best potential nursing interventions that would be considered for this client:</a:t>
            </a:r>
          </a:p>
          <a:p>
            <a:endParaRPr lang="en-US" dirty="0"/>
          </a:p>
        </p:txBody>
      </p:sp>
    </p:spTree>
    <p:extLst>
      <p:ext uri="{BB962C8B-B14F-4D97-AF65-F5344CB8AC3E}">
        <p14:creationId xmlns:p14="http://schemas.microsoft.com/office/powerpoint/2010/main" val="3646421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381000" y="501650"/>
            <a:ext cx="10820376" cy="1325563"/>
          </a:xfrm>
        </p:spPr>
        <p:txBody>
          <a:bodyPr/>
          <a:lstStyle/>
          <a:p>
            <a:r>
              <a:rPr lang="en-US" dirty="0"/>
              <a:t>NGN Case Study #1: Take Action</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nvPr>
        </p:nvGraphicFramePr>
        <p:xfrm>
          <a:off x="6671665" y="2647258"/>
          <a:ext cx="4695418" cy="3884928"/>
        </p:xfrm>
        <a:graphic>
          <a:graphicData uri="http://schemas.openxmlformats.org/drawingml/2006/table">
            <a:tbl>
              <a:tblPr firstRow="1" bandRow="1">
                <a:tableStyleId>{5C22544A-7EE6-4342-B048-85BDC9FD1C3A}</a:tableStyleId>
              </a:tblPr>
              <a:tblGrid>
                <a:gridCol w="2465759">
                  <a:extLst>
                    <a:ext uri="{9D8B030D-6E8A-4147-A177-3AD203B41FA5}">
                      <a16:colId xmlns:a16="http://schemas.microsoft.com/office/drawing/2014/main" val="1689330750"/>
                    </a:ext>
                  </a:extLst>
                </a:gridCol>
                <a:gridCol w="2229659">
                  <a:extLst>
                    <a:ext uri="{9D8B030D-6E8A-4147-A177-3AD203B41FA5}">
                      <a16:colId xmlns:a16="http://schemas.microsoft.com/office/drawing/2014/main" val="1778612558"/>
                    </a:ext>
                  </a:extLst>
                </a:gridCol>
              </a:tblGrid>
              <a:tr h="545199">
                <a:tc>
                  <a:txBody>
                    <a:bodyPr/>
                    <a:lstStyle/>
                    <a:p>
                      <a:pPr algn="ctr"/>
                      <a:r>
                        <a:rPr lang="en-US" b="1" dirty="0">
                          <a:latin typeface="Tenorite" pitchFamily="2" charset="0"/>
                        </a:rPr>
                        <a:t>Potential Interventions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Completed Interventions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315504">
                <a:tc>
                  <a:txBody>
                    <a:bodyPr/>
                    <a:lstStyle/>
                    <a:p>
                      <a:pPr algn="ctr"/>
                      <a:r>
                        <a:rPr lang="en-US" sz="1400" dirty="0">
                          <a:solidFill>
                            <a:schemeClr val="tx2">
                              <a:lumMod val="75000"/>
                            </a:schemeClr>
                          </a:solidFill>
                          <a:latin typeface="Tenorite" pitchFamily="2" charset="0"/>
                        </a:rPr>
                        <a:t>Administer IV labetalol</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315504">
                <a:tc>
                  <a:txBody>
                    <a:bodyPr/>
                    <a:lstStyle/>
                    <a:p>
                      <a:pPr algn="ctr"/>
                      <a:r>
                        <a:rPr lang="en-US" sz="1400" dirty="0">
                          <a:solidFill>
                            <a:schemeClr val="tx2">
                              <a:lumMod val="75000"/>
                            </a:schemeClr>
                          </a:solidFill>
                          <a:latin typeface="Tenorite" pitchFamily="2" charset="0"/>
                        </a:rPr>
                        <a:t>Administer IV potassium</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315504">
                <a:tc>
                  <a:txBody>
                    <a:bodyPr/>
                    <a:lstStyle/>
                    <a:p>
                      <a:pPr algn="ctr"/>
                      <a:r>
                        <a:rPr lang="en-US" sz="1400" dirty="0">
                          <a:solidFill>
                            <a:schemeClr val="tx2">
                              <a:lumMod val="75000"/>
                            </a:schemeClr>
                          </a:solidFill>
                          <a:latin typeface="Tenorite" pitchFamily="2" charset="0"/>
                        </a:rPr>
                        <a:t>Prepare for cardioversion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315504">
                <a:tc>
                  <a:txBody>
                    <a:bodyPr/>
                    <a:lstStyle/>
                    <a:p>
                      <a:pPr algn="ctr"/>
                      <a:r>
                        <a:rPr lang="en-US" sz="1400" dirty="0">
                          <a:solidFill>
                            <a:schemeClr val="tx2">
                              <a:lumMod val="75000"/>
                            </a:schemeClr>
                          </a:solidFill>
                          <a:latin typeface="Tenorite" pitchFamily="2" charset="0"/>
                        </a:rPr>
                        <a:t>Obtain a troponin level</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r h="315504">
                <a:tc>
                  <a:txBody>
                    <a:bodyPr/>
                    <a:lstStyle/>
                    <a:p>
                      <a:pPr algn="ctr"/>
                      <a:r>
                        <a:rPr lang="en-US" sz="1400" dirty="0">
                          <a:solidFill>
                            <a:schemeClr val="tx2">
                              <a:lumMod val="75000"/>
                            </a:schemeClr>
                          </a:solidFill>
                          <a:latin typeface="Tenorite" pitchFamily="2" charset="0"/>
                        </a:rPr>
                        <a:t>Stop the IV insulin infusion </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2830336"/>
                  </a:ext>
                </a:extLst>
              </a:tr>
              <a:tr h="315504">
                <a:tc>
                  <a:txBody>
                    <a:bodyPr/>
                    <a:lstStyle/>
                    <a:p>
                      <a:pPr algn="ctr"/>
                      <a:r>
                        <a:rPr lang="en-US" sz="1400" dirty="0">
                          <a:solidFill>
                            <a:schemeClr val="tx2">
                              <a:lumMod val="75000"/>
                            </a:schemeClr>
                          </a:solidFill>
                          <a:latin typeface="Tenorite" pitchFamily="2" charset="0"/>
                        </a:rPr>
                        <a:t>Administer IV ondansetron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36311704"/>
                  </a:ext>
                </a:extLst>
              </a:tr>
              <a:tr h="315504">
                <a:tc>
                  <a:txBody>
                    <a:bodyPr/>
                    <a:lstStyle/>
                    <a:p>
                      <a:pPr algn="ctr"/>
                      <a:r>
                        <a:rPr lang="en-US" sz="1400" dirty="0">
                          <a:solidFill>
                            <a:schemeClr val="tx2">
                              <a:lumMod val="75000"/>
                            </a:schemeClr>
                          </a:solidFill>
                          <a:latin typeface="Tenorite" pitchFamily="2" charset="0"/>
                        </a:rPr>
                        <a:t>Start subcutaneous insulin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1651968"/>
                  </a:ext>
                </a:extLst>
              </a:tr>
              <a:tr h="441352">
                <a:tc>
                  <a:txBody>
                    <a:bodyPr/>
                    <a:lstStyle/>
                    <a:p>
                      <a:pPr algn="ctr"/>
                      <a:r>
                        <a:rPr lang="en-US" sz="1400" dirty="0">
                          <a:solidFill>
                            <a:schemeClr val="tx2">
                              <a:lumMod val="75000"/>
                            </a:schemeClr>
                          </a:solidFill>
                          <a:latin typeface="Tenorite" pitchFamily="2" charset="0"/>
                        </a:rPr>
                        <a:t>Obtain a basic metabolic panel</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951001"/>
                  </a:ext>
                </a:extLst>
              </a:tr>
              <a:tr h="441352">
                <a:tc>
                  <a:txBody>
                    <a:bodyPr/>
                    <a:lstStyle/>
                    <a:p>
                      <a:pPr algn="ctr"/>
                      <a:r>
                        <a:rPr lang="en-US" sz="1400" dirty="0">
                          <a:solidFill>
                            <a:schemeClr val="tx2">
                              <a:lumMod val="75000"/>
                            </a:schemeClr>
                          </a:solidFill>
                          <a:latin typeface="Tenorite" pitchFamily="2" charset="0"/>
                        </a:rPr>
                        <a:t>Start IV dextrose 5% in sodium chloride 0.9%</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7467293"/>
                  </a:ext>
                </a:extLst>
              </a:tr>
            </a:tbl>
          </a:graphicData>
        </a:graphic>
      </p:graphicFrame>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p:txBody>
          <a:bodyPr/>
          <a:lstStyle/>
          <a:p>
            <a:r>
              <a:rPr lang="en-US"/>
              <a:t>(NGN Bootcamp, 2023)</a:t>
            </a:r>
            <a:endParaRPr lang="en-US" dirty="0"/>
          </a:p>
        </p:txBody>
      </p:sp>
      <p:sp>
        <p:nvSpPr>
          <p:cNvPr id="7" name="TextBox 6">
            <a:extLst>
              <a:ext uri="{FF2B5EF4-FFF2-40B4-BE49-F238E27FC236}">
                <a16:creationId xmlns:a16="http://schemas.microsoft.com/office/drawing/2014/main" id="{87D4FA85-8D18-45D0-069F-A218399A604F}"/>
              </a:ext>
            </a:extLst>
          </p:cNvPr>
          <p:cNvSpPr txBox="1"/>
          <p:nvPr/>
        </p:nvSpPr>
        <p:spPr>
          <a:xfrm>
            <a:off x="281652" y="1752286"/>
            <a:ext cx="11628696" cy="646331"/>
          </a:xfrm>
          <a:prstGeom prst="rect">
            <a:avLst/>
          </a:prstGeom>
          <a:noFill/>
        </p:spPr>
        <p:txBody>
          <a:bodyPr wrap="none" rtlCol="0">
            <a:spAutoFit/>
          </a:bodyPr>
          <a:lstStyle/>
          <a:p>
            <a:r>
              <a:rPr lang="en-US" sz="1800" b="0" i="0" dirty="0">
                <a:effectLst/>
              </a:rPr>
              <a:t>The nurse reviews the updated Laboratory Results from 1500 through 1800, and Nurses’ Notes from 1430 and 1815.</a:t>
            </a:r>
          </a:p>
          <a:p>
            <a:endParaRPr lang="en-US" dirty="0"/>
          </a:p>
        </p:txBody>
      </p:sp>
      <p:pic>
        <p:nvPicPr>
          <p:cNvPr id="8" name="Picture 7">
            <a:extLst>
              <a:ext uri="{FF2B5EF4-FFF2-40B4-BE49-F238E27FC236}">
                <a16:creationId xmlns:a16="http://schemas.microsoft.com/office/drawing/2014/main" id="{B0AA63EC-4B03-9C2D-272F-62C21FFE116F}"/>
              </a:ext>
            </a:extLst>
          </p:cNvPr>
          <p:cNvPicPr>
            <a:picLocks noChangeAspect="1"/>
          </p:cNvPicPr>
          <p:nvPr/>
        </p:nvPicPr>
        <p:blipFill>
          <a:blip r:embed="rId2"/>
          <a:stretch>
            <a:fillRect/>
          </a:stretch>
        </p:blipFill>
        <p:spPr>
          <a:xfrm>
            <a:off x="650286" y="2313045"/>
            <a:ext cx="4945171" cy="4225867"/>
          </a:xfrm>
          <a:prstGeom prst="rect">
            <a:avLst/>
          </a:prstGeom>
        </p:spPr>
      </p:pic>
      <p:sp>
        <p:nvSpPr>
          <p:cNvPr id="9" name="TextBox 8">
            <a:extLst>
              <a:ext uri="{FF2B5EF4-FFF2-40B4-BE49-F238E27FC236}">
                <a16:creationId xmlns:a16="http://schemas.microsoft.com/office/drawing/2014/main" id="{F2A03D64-8752-D777-7A81-CE45D19E066B}"/>
              </a:ext>
            </a:extLst>
          </p:cNvPr>
          <p:cNvSpPr txBox="1"/>
          <p:nvPr/>
        </p:nvSpPr>
        <p:spPr>
          <a:xfrm>
            <a:off x="6414092" y="2176763"/>
            <a:ext cx="5127622" cy="646331"/>
          </a:xfrm>
          <a:prstGeom prst="rect">
            <a:avLst/>
          </a:prstGeom>
          <a:noFill/>
        </p:spPr>
        <p:txBody>
          <a:bodyPr wrap="none" rtlCol="0">
            <a:spAutoFit/>
          </a:bodyPr>
          <a:lstStyle/>
          <a:p>
            <a:r>
              <a:rPr lang="en-US" sz="1800" b="0" i="0" dirty="0">
                <a:effectLst/>
              </a:rPr>
              <a:t>Which actions should the nurse take at this time? </a:t>
            </a:r>
            <a:endParaRPr lang="en-US" dirty="0"/>
          </a:p>
          <a:p>
            <a:endParaRPr lang="en-US" dirty="0"/>
          </a:p>
        </p:txBody>
      </p:sp>
    </p:spTree>
    <p:extLst>
      <p:ext uri="{BB962C8B-B14F-4D97-AF65-F5344CB8AC3E}">
        <p14:creationId xmlns:p14="http://schemas.microsoft.com/office/powerpoint/2010/main" val="2737708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381000" y="501650"/>
            <a:ext cx="10820376" cy="1325563"/>
          </a:xfrm>
        </p:spPr>
        <p:txBody>
          <a:bodyPr/>
          <a:lstStyle/>
          <a:p>
            <a:r>
              <a:rPr lang="en-US" dirty="0"/>
              <a:t>NGN Case Study #1: Take Action</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nvPr>
        </p:nvGraphicFramePr>
        <p:xfrm>
          <a:off x="6737240" y="2647258"/>
          <a:ext cx="4695418" cy="3884928"/>
        </p:xfrm>
        <a:graphic>
          <a:graphicData uri="http://schemas.openxmlformats.org/drawingml/2006/table">
            <a:tbl>
              <a:tblPr firstRow="1" bandRow="1">
                <a:tableStyleId>{5C22544A-7EE6-4342-B048-85BDC9FD1C3A}</a:tableStyleId>
              </a:tblPr>
              <a:tblGrid>
                <a:gridCol w="2465759">
                  <a:extLst>
                    <a:ext uri="{9D8B030D-6E8A-4147-A177-3AD203B41FA5}">
                      <a16:colId xmlns:a16="http://schemas.microsoft.com/office/drawing/2014/main" val="1689330750"/>
                    </a:ext>
                  </a:extLst>
                </a:gridCol>
                <a:gridCol w="2229659">
                  <a:extLst>
                    <a:ext uri="{9D8B030D-6E8A-4147-A177-3AD203B41FA5}">
                      <a16:colId xmlns:a16="http://schemas.microsoft.com/office/drawing/2014/main" val="1778612558"/>
                    </a:ext>
                  </a:extLst>
                </a:gridCol>
              </a:tblGrid>
              <a:tr h="545199">
                <a:tc>
                  <a:txBody>
                    <a:bodyPr/>
                    <a:lstStyle/>
                    <a:p>
                      <a:pPr algn="ctr"/>
                      <a:r>
                        <a:rPr lang="en-US" b="1" dirty="0">
                          <a:latin typeface="Tenorite" pitchFamily="2" charset="0"/>
                        </a:rPr>
                        <a:t>Potential Interventions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latin typeface="Tenorite" pitchFamily="2" charset="0"/>
                        </a:rPr>
                        <a:t>Completed Interventions</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315504">
                <a:tc>
                  <a:txBody>
                    <a:bodyPr/>
                    <a:lstStyle/>
                    <a:p>
                      <a:pPr algn="ctr"/>
                      <a:r>
                        <a:rPr lang="en-US" sz="1400" dirty="0">
                          <a:solidFill>
                            <a:schemeClr val="tx2">
                              <a:lumMod val="75000"/>
                            </a:schemeClr>
                          </a:solidFill>
                          <a:latin typeface="Tenorite" pitchFamily="2" charset="0"/>
                        </a:rPr>
                        <a:t>Administer IV labetalol</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315504">
                <a:tc>
                  <a:txBody>
                    <a:bodyPr/>
                    <a:lstStyle/>
                    <a:p>
                      <a:pPr algn="ctr"/>
                      <a:r>
                        <a:rPr lang="en-US" sz="1400" dirty="0">
                          <a:solidFill>
                            <a:schemeClr val="tx2">
                              <a:lumMod val="75000"/>
                            </a:schemeClr>
                          </a:solidFill>
                          <a:latin typeface="Tenorite" pitchFamily="2" charset="0"/>
                        </a:rPr>
                        <a:t>Administer IV potassium</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315504">
                <a:tc>
                  <a:txBody>
                    <a:bodyPr/>
                    <a:lstStyle/>
                    <a:p>
                      <a:pPr algn="ctr"/>
                      <a:r>
                        <a:rPr lang="en-US" sz="1400" dirty="0">
                          <a:solidFill>
                            <a:schemeClr val="tx2">
                              <a:lumMod val="75000"/>
                            </a:schemeClr>
                          </a:solidFill>
                          <a:latin typeface="Tenorite" pitchFamily="2" charset="0"/>
                        </a:rPr>
                        <a:t>Prepare for cardioversion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315504">
                <a:tc>
                  <a:txBody>
                    <a:bodyPr/>
                    <a:lstStyle/>
                    <a:p>
                      <a:pPr algn="ctr"/>
                      <a:r>
                        <a:rPr lang="en-US" sz="1400" dirty="0">
                          <a:solidFill>
                            <a:schemeClr val="tx2">
                              <a:lumMod val="75000"/>
                            </a:schemeClr>
                          </a:solidFill>
                          <a:latin typeface="Tenorite" pitchFamily="2" charset="0"/>
                        </a:rPr>
                        <a:t>Obtain a troponin level</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r h="315504">
                <a:tc>
                  <a:txBody>
                    <a:bodyPr/>
                    <a:lstStyle/>
                    <a:p>
                      <a:pPr algn="ctr"/>
                      <a:r>
                        <a:rPr lang="en-US" sz="1400" dirty="0">
                          <a:solidFill>
                            <a:schemeClr val="tx2">
                              <a:lumMod val="75000"/>
                            </a:schemeClr>
                          </a:solidFill>
                          <a:latin typeface="Tenorite" pitchFamily="2" charset="0"/>
                        </a:rPr>
                        <a:t>Stop the IV insulin infusion </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2830336"/>
                  </a:ext>
                </a:extLst>
              </a:tr>
              <a:tr h="315504">
                <a:tc>
                  <a:txBody>
                    <a:bodyPr/>
                    <a:lstStyle/>
                    <a:p>
                      <a:pPr algn="ctr"/>
                      <a:r>
                        <a:rPr lang="en-US" sz="1400" dirty="0">
                          <a:solidFill>
                            <a:schemeClr val="tx2">
                              <a:lumMod val="75000"/>
                            </a:schemeClr>
                          </a:solidFill>
                          <a:latin typeface="Tenorite" pitchFamily="2" charset="0"/>
                        </a:rPr>
                        <a:t>Administer IV ondansetron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36311704"/>
                  </a:ext>
                </a:extLst>
              </a:tr>
              <a:tr h="315504">
                <a:tc>
                  <a:txBody>
                    <a:bodyPr/>
                    <a:lstStyle/>
                    <a:p>
                      <a:pPr algn="ctr"/>
                      <a:r>
                        <a:rPr lang="en-US" sz="1400" dirty="0">
                          <a:solidFill>
                            <a:schemeClr val="tx2">
                              <a:lumMod val="75000"/>
                            </a:schemeClr>
                          </a:solidFill>
                          <a:latin typeface="Tenorite" pitchFamily="2" charset="0"/>
                        </a:rPr>
                        <a:t>Start subcutaneous insulin</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400" dirty="0">
                        <a:solidFill>
                          <a:schemeClr val="tx2">
                            <a:lumMod val="75000"/>
                          </a:schemeClr>
                        </a:solidFill>
                        <a:latin typeface="Tenorite" pitchFamily="2"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1651968"/>
                  </a:ext>
                </a:extLst>
              </a:tr>
              <a:tr h="441352">
                <a:tc>
                  <a:txBody>
                    <a:bodyPr/>
                    <a:lstStyle/>
                    <a:p>
                      <a:pPr algn="ctr"/>
                      <a:r>
                        <a:rPr lang="en-US" sz="1400" dirty="0">
                          <a:solidFill>
                            <a:schemeClr val="tx2">
                              <a:lumMod val="75000"/>
                            </a:schemeClr>
                          </a:solidFill>
                          <a:latin typeface="Tenorite" pitchFamily="2" charset="0"/>
                        </a:rPr>
                        <a:t>Obtain a basic metabolic panel</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951001"/>
                  </a:ext>
                </a:extLst>
              </a:tr>
              <a:tr h="441352">
                <a:tc>
                  <a:txBody>
                    <a:bodyPr/>
                    <a:lstStyle/>
                    <a:p>
                      <a:pPr algn="ctr"/>
                      <a:r>
                        <a:rPr lang="en-US" sz="1400" dirty="0">
                          <a:solidFill>
                            <a:schemeClr val="tx2">
                              <a:lumMod val="75000"/>
                            </a:schemeClr>
                          </a:solidFill>
                          <a:latin typeface="Tenorite" pitchFamily="2" charset="0"/>
                        </a:rPr>
                        <a:t>Start IV dextrose 5% in sodium chloride 0.9%</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rgbClr val="FF0000"/>
                          </a:solidFill>
                          <a:latin typeface="Tenorite" pitchFamily="2" charset="0"/>
                        </a:rPr>
                        <a:t>X</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7467293"/>
                  </a:ext>
                </a:extLst>
              </a:tr>
            </a:tbl>
          </a:graphicData>
        </a:graphic>
      </p:graphicFrame>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p:txBody>
          <a:bodyPr/>
          <a:lstStyle/>
          <a:p>
            <a:r>
              <a:rPr lang="en-US"/>
              <a:t>(NGN Bootcamp, 2023)</a:t>
            </a:r>
            <a:endParaRPr lang="en-US" dirty="0"/>
          </a:p>
        </p:txBody>
      </p:sp>
      <p:sp>
        <p:nvSpPr>
          <p:cNvPr id="7" name="TextBox 6">
            <a:extLst>
              <a:ext uri="{FF2B5EF4-FFF2-40B4-BE49-F238E27FC236}">
                <a16:creationId xmlns:a16="http://schemas.microsoft.com/office/drawing/2014/main" id="{87D4FA85-8D18-45D0-069F-A218399A604F}"/>
              </a:ext>
            </a:extLst>
          </p:cNvPr>
          <p:cNvSpPr txBox="1"/>
          <p:nvPr/>
        </p:nvSpPr>
        <p:spPr>
          <a:xfrm>
            <a:off x="281652" y="1752286"/>
            <a:ext cx="11628696" cy="646331"/>
          </a:xfrm>
          <a:prstGeom prst="rect">
            <a:avLst/>
          </a:prstGeom>
          <a:noFill/>
        </p:spPr>
        <p:txBody>
          <a:bodyPr wrap="none" rtlCol="0">
            <a:spAutoFit/>
          </a:bodyPr>
          <a:lstStyle/>
          <a:p>
            <a:r>
              <a:rPr lang="en-US" sz="1800" b="0" i="0" dirty="0">
                <a:effectLst/>
              </a:rPr>
              <a:t>The nurse reviews the updated Laboratory Results from 1500 through 1700, and Nurses’ Notes from 1430 and 1815.</a:t>
            </a:r>
          </a:p>
          <a:p>
            <a:endParaRPr lang="en-US" dirty="0"/>
          </a:p>
        </p:txBody>
      </p:sp>
      <p:pic>
        <p:nvPicPr>
          <p:cNvPr id="8" name="Picture 7">
            <a:extLst>
              <a:ext uri="{FF2B5EF4-FFF2-40B4-BE49-F238E27FC236}">
                <a16:creationId xmlns:a16="http://schemas.microsoft.com/office/drawing/2014/main" id="{B0AA63EC-4B03-9C2D-272F-62C21FFE116F}"/>
              </a:ext>
            </a:extLst>
          </p:cNvPr>
          <p:cNvPicPr>
            <a:picLocks noChangeAspect="1"/>
          </p:cNvPicPr>
          <p:nvPr/>
        </p:nvPicPr>
        <p:blipFill>
          <a:blip r:embed="rId3"/>
          <a:stretch>
            <a:fillRect/>
          </a:stretch>
        </p:blipFill>
        <p:spPr>
          <a:xfrm>
            <a:off x="650286" y="2313045"/>
            <a:ext cx="4945171" cy="4225867"/>
          </a:xfrm>
          <a:prstGeom prst="rect">
            <a:avLst/>
          </a:prstGeom>
        </p:spPr>
      </p:pic>
      <p:sp>
        <p:nvSpPr>
          <p:cNvPr id="9" name="TextBox 8">
            <a:extLst>
              <a:ext uri="{FF2B5EF4-FFF2-40B4-BE49-F238E27FC236}">
                <a16:creationId xmlns:a16="http://schemas.microsoft.com/office/drawing/2014/main" id="{F2A03D64-8752-D777-7A81-CE45D19E066B}"/>
              </a:ext>
            </a:extLst>
          </p:cNvPr>
          <p:cNvSpPr txBox="1"/>
          <p:nvPr/>
        </p:nvSpPr>
        <p:spPr>
          <a:xfrm>
            <a:off x="6414092" y="2176763"/>
            <a:ext cx="5127622" cy="646331"/>
          </a:xfrm>
          <a:prstGeom prst="rect">
            <a:avLst/>
          </a:prstGeom>
          <a:noFill/>
        </p:spPr>
        <p:txBody>
          <a:bodyPr wrap="none" rtlCol="0">
            <a:spAutoFit/>
          </a:bodyPr>
          <a:lstStyle/>
          <a:p>
            <a:r>
              <a:rPr lang="en-US" sz="1800" b="0" i="0" dirty="0">
                <a:effectLst/>
              </a:rPr>
              <a:t>Which actions should the nurse take at this time? </a:t>
            </a:r>
            <a:endParaRPr lang="en-US" dirty="0"/>
          </a:p>
          <a:p>
            <a:endParaRPr lang="en-US" dirty="0"/>
          </a:p>
        </p:txBody>
      </p:sp>
    </p:spTree>
    <p:extLst>
      <p:ext uri="{BB962C8B-B14F-4D97-AF65-F5344CB8AC3E}">
        <p14:creationId xmlns:p14="http://schemas.microsoft.com/office/powerpoint/2010/main" val="2015738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p:txBody>
          <a:bodyPr anchor="b">
            <a:normAutofit fontScale="90000"/>
          </a:bodyPr>
          <a:lstStyle/>
          <a:p>
            <a:r>
              <a:rPr lang="en-US" dirty="0"/>
              <a:t>NGN Case Study #1: Evaluate Outcomes</a:t>
            </a:r>
          </a:p>
        </p:txBody>
      </p:sp>
      <p:pic>
        <p:nvPicPr>
          <p:cNvPr id="5" name="Content Placeholder 4">
            <a:extLst>
              <a:ext uri="{FF2B5EF4-FFF2-40B4-BE49-F238E27FC236}">
                <a16:creationId xmlns:a16="http://schemas.microsoft.com/office/drawing/2014/main" id="{34626048-E26A-8038-E8C0-4A257A7FE19D}"/>
              </a:ext>
            </a:extLst>
          </p:cNvPr>
          <p:cNvPicPr>
            <a:picLocks noGrp="1" noChangeAspect="1"/>
          </p:cNvPicPr>
          <p:nvPr>
            <p:ph idx="1"/>
          </p:nvPr>
        </p:nvPicPr>
        <p:blipFill>
          <a:blip r:embed="rId2"/>
          <a:stretch>
            <a:fillRect/>
          </a:stretch>
        </p:blipFill>
        <p:spPr>
          <a:xfrm>
            <a:off x="1325379" y="1706563"/>
            <a:ext cx="9463407" cy="4479633"/>
          </a:xfrm>
        </p:spPr>
      </p:pic>
      <p:sp>
        <p:nvSpPr>
          <p:cNvPr id="12" name="Footer Placeholder 4">
            <a:extLst>
              <a:ext uri="{FF2B5EF4-FFF2-40B4-BE49-F238E27FC236}">
                <a16:creationId xmlns:a16="http://schemas.microsoft.com/office/drawing/2014/main" id="{D9EBCD1A-1CFB-B582-46F1-11216E778415}"/>
              </a:ext>
            </a:extLst>
          </p:cNvPr>
          <p:cNvSpPr>
            <a:spLocks noGrp="1"/>
          </p:cNvSpPr>
          <p:nvPr>
            <p:ph type="ftr" sz="quarter" idx="3"/>
          </p:nvPr>
        </p:nvSpPr>
        <p:spPr/>
        <p:txBody>
          <a:bodyPr/>
          <a:lstStyle/>
          <a:p>
            <a:pPr>
              <a:spcAft>
                <a:spcPts val="600"/>
              </a:spcAft>
            </a:pPr>
            <a:r>
              <a:rPr lang="en-US"/>
              <a:t>(NGN Bootcamp, 2023)</a:t>
            </a:r>
          </a:p>
        </p:txBody>
      </p:sp>
    </p:spTree>
    <p:extLst>
      <p:ext uri="{BB962C8B-B14F-4D97-AF65-F5344CB8AC3E}">
        <p14:creationId xmlns:p14="http://schemas.microsoft.com/office/powerpoint/2010/main" val="3446797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1167492" y="381000"/>
            <a:ext cx="9779183" cy="1325563"/>
          </a:xfrm>
        </p:spPr>
        <p:txBody>
          <a:bodyPr anchor="b">
            <a:normAutofit/>
          </a:bodyPr>
          <a:lstStyle/>
          <a:p>
            <a:r>
              <a:rPr lang="en-US" sz="4400" dirty="0"/>
              <a:t>NGN Case Study #1: Evaluate Outcomes</a:t>
            </a:r>
          </a:p>
        </p:txBody>
      </p:sp>
      <p:sp>
        <p:nvSpPr>
          <p:cNvPr id="12" name="Footer Placeholder 4">
            <a:extLst>
              <a:ext uri="{FF2B5EF4-FFF2-40B4-BE49-F238E27FC236}">
                <a16:creationId xmlns:a16="http://schemas.microsoft.com/office/drawing/2014/main" id="{D9EBCD1A-1CFB-B582-46F1-11216E778415}"/>
              </a:ext>
            </a:extLst>
          </p:cNvPr>
          <p:cNvSpPr>
            <a:spLocks noGrp="1"/>
          </p:cNvSpPr>
          <p:nvPr>
            <p:ph type="ftr" sz="quarter" idx="3"/>
          </p:nvPr>
        </p:nvSpPr>
        <p:spPr>
          <a:xfrm>
            <a:off x="4038600" y="6356350"/>
            <a:ext cx="4114800" cy="365125"/>
          </a:xfrm>
        </p:spPr>
        <p:txBody>
          <a:bodyPr anchor="ctr">
            <a:normAutofit/>
          </a:bodyPr>
          <a:lstStyle/>
          <a:p>
            <a:pPr>
              <a:spcAft>
                <a:spcPts val="600"/>
              </a:spcAft>
            </a:pPr>
            <a:r>
              <a:rPr lang="en-US"/>
              <a:t>(NGN Bootcamp, 2023)</a:t>
            </a:r>
          </a:p>
        </p:txBody>
      </p:sp>
      <p:graphicFrame>
        <p:nvGraphicFramePr>
          <p:cNvPr id="16" name="Content Placeholder 3">
            <a:extLst>
              <a:ext uri="{FF2B5EF4-FFF2-40B4-BE49-F238E27FC236}">
                <a16:creationId xmlns:a16="http://schemas.microsoft.com/office/drawing/2014/main" id="{7F9EDE43-E07F-42B5-FD42-F91BBDF73AC1}"/>
              </a:ext>
            </a:extLst>
          </p:cNvPr>
          <p:cNvGraphicFramePr>
            <a:graphicFrameLocks noGrp="1"/>
          </p:cNvGraphicFramePr>
          <p:nvPr>
            <p:ph idx="1"/>
          </p:nvPr>
        </p:nvGraphicFramePr>
        <p:xfrm>
          <a:off x="1167493" y="2087561"/>
          <a:ext cx="9779182" cy="3366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6">
            <a:extLst>
              <a:ext uri="{FF2B5EF4-FFF2-40B4-BE49-F238E27FC236}">
                <a16:creationId xmlns:a16="http://schemas.microsoft.com/office/drawing/2014/main" id="{32BBE878-F920-D303-3625-D4C6B1591633}"/>
              </a:ext>
            </a:extLst>
          </p:cNvPr>
          <p:cNvGraphicFramePr>
            <a:graphicFrameLocks noGrp="1"/>
          </p:cNvGraphicFramePr>
          <p:nvPr/>
        </p:nvGraphicFramePr>
        <p:xfrm>
          <a:off x="1375795" y="2640931"/>
          <a:ext cx="9999678" cy="3769360"/>
        </p:xfrm>
        <a:graphic>
          <a:graphicData uri="http://schemas.openxmlformats.org/drawingml/2006/table">
            <a:tbl>
              <a:tblPr firstRow="1" bandRow="1">
                <a:tableStyleId>{5C22544A-7EE6-4342-B048-85BDC9FD1C3A}</a:tableStyleId>
              </a:tblPr>
              <a:tblGrid>
                <a:gridCol w="5259249">
                  <a:extLst>
                    <a:ext uri="{9D8B030D-6E8A-4147-A177-3AD203B41FA5}">
                      <a16:colId xmlns:a16="http://schemas.microsoft.com/office/drawing/2014/main" val="1302807412"/>
                    </a:ext>
                  </a:extLst>
                </a:gridCol>
                <a:gridCol w="2188003">
                  <a:extLst>
                    <a:ext uri="{9D8B030D-6E8A-4147-A177-3AD203B41FA5}">
                      <a16:colId xmlns:a16="http://schemas.microsoft.com/office/drawing/2014/main" val="2095773932"/>
                    </a:ext>
                  </a:extLst>
                </a:gridCol>
                <a:gridCol w="2552426">
                  <a:extLst>
                    <a:ext uri="{9D8B030D-6E8A-4147-A177-3AD203B41FA5}">
                      <a16:colId xmlns:a16="http://schemas.microsoft.com/office/drawing/2014/main" val="1226096722"/>
                    </a:ext>
                  </a:extLst>
                </a:gridCol>
              </a:tblGrid>
              <a:tr h="370840">
                <a:tc>
                  <a:txBody>
                    <a:bodyPr/>
                    <a:lstStyle/>
                    <a:p>
                      <a:r>
                        <a:rPr lang="en-US" dirty="0"/>
                        <a:t>Client statements</a:t>
                      </a:r>
                    </a:p>
                  </a:txBody>
                  <a:tcPr/>
                </a:tc>
                <a:tc>
                  <a:txBody>
                    <a:bodyPr/>
                    <a:lstStyle/>
                    <a:p>
                      <a:r>
                        <a:rPr lang="en-US" dirty="0"/>
                        <a:t>Understanding</a:t>
                      </a:r>
                    </a:p>
                  </a:txBody>
                  <a:tcPr/>
                </a:tc>
                <a:tc>
                  <a:txBody>
                    <a:bodyPr/>
                    <a:lstStyle/>
                    <a:p>
                      <a:r>
                        <a:rPr lang="en-US" dirty="0"/>
                        <a:t>No understanding</a:t>
                      </a:r>
                    </a:p>
                  </a:txBody>
                  <a:tcPr/>
                </a:tc>
                <a:extLst>
                  <a:ext uri="{0D108BD9-81ED-4DB2-BD59-A6C34878D82A}">
                    <a16:rowId xmlns:a16="http://schemas.microsoft.com/office/drawing/2014/main" val="1036206910"/>
                  </a:ext>
                </a:extLst>
              </a:tr>
              <a:tr h="3708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mn-lt"/>
                        </a:rPr>
                        <a:t>“If I am sick and not eating, I should skip my insulin dose.”</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21674609"/>
                  </a:ext>
                </a:extLst>
              </a:tr>
              <a:tr h="370840">
                <a:tc>
                  <a:txBody>
                    <a:bodyPr/>
                    <a:lstStyle/>
                    <a:p>
                      <a:r>
                        <a:rPr lang="en-US" sz="1200" i="1" dirty="0"/>
                        <a:t>“Healthy diet and exercise changes can reverse my Type 1 diabetes.”</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56706582"/>
                  </a:ext>
                </a:extLst>
              </a:tr>
              <a:tr h="370840">
                <a:tc>
                  <a:txBody>
                    <a:bodyPr/>
                    <a:lstStyle/>
                    <a:p>
                      <a:r>
                        <a:rPr lang="en-US" sz="1200" i="1" dirty="0"/>
                        <a:t>“I should bring snacks when I go to dance class or tennis practice.”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01172451"/>
                  </a:ext>
                </a:extLst>
              </a:tr>
              <a:tr h="370840">
                <a:tc>
                  <a:txBody>
                    <a:bodyPr/>
                    <a:lstStyle/>
                    <a:p>
                      <a:r>
                        <a:rPr lang="en-US" sz="1200" i="1" dirty="0"/>
                        <a:t>“If I feel super tired for no reason, it may be a good idea to check my blood sugar.”</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142570738"/>
                  </a:ext>
                </a:extLst>
              </a:tr>
              <a:tr h="370840">
                <a:tc>
                  <a:txBody>
                    <a:bodyPr/>
                    <a:lstStyle/>
                    <a:p>
                      <a:r>
                        <a:rPr lang="en-US" sz="1200" i="1" dirty="0"/>
                        <a:t>“I should foods like whole wheat bread and fruits rather than white bread and jam.”</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25669365"/>
                  </a:ext>
                </a:extLst>
              </a:tr>
              <a:tr h="370840">
                <a:tc>
                  <a:txBody>
                    <a:bodyPr/>
                    <a:lstStyle/>
                    <a:p>
                      <a:r>
                        <a:rPr lang="en-US" sz="1200" i="1" dirty="0"/>
                        <a:t>“I need to have a snack if I feel sweaty, nauseous, and my heart is beating fast.”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02338323"/>
                  </a:ext>
                </a:extLst>
              </a:tr>
              <a:tr h="370840">
                <a:tc>
                  <a:txBody>
                    <a:bodyPr/>
                    <a:lstStyle/>
                    <a:p>
                      <a:r>
                        <a:rPr lang="en-US" sz="1200" i="1" dirty="0"/>
                        <a:t>“If my blood sugar is under 60 mg/dl, I can drink a ½ can of diet soda to increase my sugar.”</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020563626"/>
                  </a:ext>
                </a:extLst>
              </a:tr>
              <a:tr h="370840">
                <a:tc>
                  <a:txBody>
                    <a:bodyPr/>
                    <a:lstStyle/>
                    <a:p>
                      <a:r>
                        <a:rPr lang="en-US" sz="1200" i="1" dirty="0"/>
                        <a:t>“When I throw out my insulin needle, I should put the cap back on the needle before I throw it in the trash.”</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104861884"/>
                  </a:ext>
                </a:extLst>
              </a:tr>
            </a:tbl>
          </a:graphicData>
        </a:graphic>
      </p:graphicFrame>
      <p:sp>
        <p:nvSpPr>
          <p:cNvPr id="8" name="Rectangle 1">
            <a:extLst>
              <a:ext uri="{FF2B5EF4-FFF2-40B4-BE49-F238E27FC236}">
                <a16:creationId xmlns:a16="http://schemas.microsoft.com/office/drawing/2014/main" id="{84DA456C-D31C-2F1E-0423-E62B20D52B08}"/>
              </a:ext>
            </a:extLst>
          </p:cNvPr>
          <p:cNvSpPr>
            <a:spLocks noChangeArrowheads="1"/>
          </p:cNvSpPr>
          <p:nvPr/>
        </p:nvSpPr>
        <p:spPr bwMode="auto">
          <a:xfrm>
            <a:off x="381000" y="1703202"/>
            <a:ext cx="11103528" cy="1164389"/>
          </a:xfrm>
          <a:prstGeom prst="rect">
            <a:avLst/>
          </a:prstGeom>
          <a:noFill/>
          <a:ln>
            <a:noFill/>
          </a:ln>
          <a:effectLst/>
        </p:spPr>
        <p:txBody>
          <a:bodyPr vert="horz" wrap="square" lIns="91440" tIns="45720" rIns="9144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dirty="0">
                <a:solidFill>
                  <a:schemeClr val="bg1"/>
                </a:solidFill>
                <a:latin typeface="+mn-lt"/>
              </a:rPr>
              <a:t>The nurse and diabetic educator have provided discharge teaching to the client and her mother. The nurse has reviewed the Nurses’ Note from Day 3 at 1115.</a:t>
            </a:r>
            <a:r>
              <a:rPr lang="en-US" altLang="en-US" dirty="0">
                <a:solidFill>
                  <a:srgbClr val="252E33"/>
                </a:solidFill>
                <a:latin typeface="+mn-lt"/>
              </a:rPr>
              <a:t>  </a:t>
            </a:r>
            <a:r>
              <a:rPr lang="en-US" altLang="en-US" dirty="0">
                <a:solidFill>
                  <a:schemeClr val="bg1"/>
                </a:solidFill>
                <a:latin typeface="+mn-lt"/>
              </a:rPr>
              <a:t>Which statements reflect </a:t>
            </a:r>
            <a:r>
              <a:rPr lang="en-US" altLang="en-US" dirty="0">
                <a:solidFill>
                  <a:srgbClr val="FFFF00"/>
                </a:solidFill>
                <a:latin typeface="+mn-lt"/>
              </a:rPr>
              <a:t>understanding</a:t>
            </a:r>
            <a:r>
              <a:rPr lang="en-US" altLang="en-US" dirty="0">
                <a:solidFill>
                  <a:schemeClr val="bg1"/>
                </a:solidFill>
                <a:latin typeface="+mn-lt"/>
              </a:rPr>
              <a:t> or need further education (</a:t>
            </a:r>
            <a:r>
              <a:rPr lang="en-US" altLang="en-US" dirty="0">
                <a:solidFill>
                  <a:srgbClr val="FFFF00"/>
                </a:solidFill>
                <a:latin typeface="+mn-lt"/>
              </a:rPr>
              <a:t>no understanding</a:t>
            </a:r>
            <a:r>
              <a:rPr lang="en-US" altLang="en-US" dirty="0">
                <a:solidFill>
                  <a:schemeClr val="bg1"/>
                </a:solidFill>
                <a:latin typeface="+mn-lt"/>
              </a:rPr>
              <a:t>)?</a:t>
            </a:r>
          </a:p>
          <a:p>
            <a:pPr lvl="0"/>
            <a:r>
              <a:rPr lang="en-US" altLang="en-US" sz="1200" dirty="0">
                <a:solidFill>
                  <a:srgbClr val="252E33"/>
                </a:solidFill>
                <a:latin typeface="+mn-lt"/>
              </a:rPr>
              <a:t>.</a:t>
            </a:r>
            <a:endParaRPr lang="en-US" altLang="en-US" sz="1200" dirty="0">
              <a:latin typeface="+mn-lt"/>
            </a:endParaRPr>
          </a:p>
        </p:txBody>
      </p:sp>
    </p:spTree>
    <p:extLst>
      <p:ext uri="{BB962C8B-B14F-4D97-AF65-F5344CB8AC3E}">
        <p14:creationId xmlns:p14="http://schemas.microsoft.com/office/powerpoint/2010/main" val="243858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1167492" y="381000"/>
            <a:ext cx="9779183" cy="1325563"/>
          </a:xfrm>
        </p:spPr>
        <p:txBody>
          <a:bodyPr anchor="b">
            <a:normAutofit/>
          </a:bodyPr>
          <a:lstStyle/>
          <a:p>
            <a:r>
              <a:rPr lang="en-US" sz="4400" dirty="0"/>
              <a:t>NGN Case Study #1: Evaluate Outcomes</a:t>
            </a:r>
          </a:p>
        </p:txBody>
      </p:sp>
      <p:sp>
        <p:nvSpPr>
          <p:cNvPr id="12" name="Footer Placeholder 4">
            <a:extLst>
              <a:ext uri="{FF2B5EF4-FFF2-40B4-BE49-F238E27FC236}">
                <a16:creationId xmlns:a16="http://schemas.microsoft.com/office/drawing/2014/main" id="{D9EBCD1A-1CFB-B582-46F1-11216E778415}"/>
              </a:ext>
            </a:extLst>
          </p:cNvPr>
          <p:cNvSpPr>
            <a:spLocks noGrp="1"/>
          </p:cNvSpPr>
          <p:nvPr>
            <p:ph type="ftr" sz="quarter" idx="3"/>
          </p:nvPr>
        </p:nvSpPr>
        <p:spPr>
          <a:xfrm>
            <a:off x="4038600" y="6356350"/>
            <a:ext cx="4114800" cy="365125"/>
          </a:xfrm>
        </p:spPr>
        <p:txBody>
          <a:bodyPr anchor="ctr">
            <a:normAutofit/>
          </a:bodyPr>
          <a:lstStyle/>
          <a:p>
            <a:pPr>
              <a:spcAft>
                <a:spcPts val="600"/>
              </a:spcAft>
            </a:pPr>
            <a:r>
              <a:rPr lang="en-US"/>
              <a:t>(NGN Bootcamp, 2023)</a:t>
            </a:r>
          </a:p>
        </p:txBody>
      </p:sp>
      <p:graphicFrame>
        <p:nvGraphicFramePr>
          <p:cNvPr id="16" name="Content Placeholder 3">
            <a:extLst>
              <a:ext uri="{FF2B5EF4-FFF2-40B4-BE49-F238E27FC236}">
                <a16:creationId xmlns:a16="http://schemas.microsoft.com/office/drawing/2014/main" id="{7F9EDE43-E07F-42B5-FD42-F91BBDF73AC1}"/>
              </a:ext>
            </a:extLst>
          </p:cNvPr>
          <p:cNvGraphicFramePr>
            <a:graphicFrameLocks noGrp="1"/>
          </p:cNvGraphicFramePr>
          <p:nvPr>
            <p:ph idx="1"/>
          </p:nvPr>
        </p:nvGraphicFramePr>
        <p:xfrm>
          <a:off x="1167493" y="2087561"/>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Table 6">
            <a:extLst>
              <a:ext uri="{FF2B5EF4-FFF2-40B4-BE49-F238E27FC236}">
                <a16:creationId xmlns:a16="http://schemas.microsoft.com/office/drawing/2014/main" id="{32BBE878-F920-D303-3625-D4C6B1591633}"/>
              </a:ext>
            </a:extLst>
          </p:cNvPr>
          <p:cNvGraphicFramePr>
            <a:graphicFrameLocks noGrp="1"/>
          </p:cNvGraphicFramePr>
          <p:nvPr/>
        </p:nvGraphicFramePr>
        <p:xfrm>
          <a:off x="1105261" y="2707640"/>
          <a:ext cx="9903644" cy="3769360"/>
        </p:xfrm>
        <a:graphic>
          <a:graphicData uri="http://schemas.openxmlformats.org/drawingml/2006/table">
            <a:tbl>
              <a:tblPr firstRow="1" bandRow="1">
                <a:tableStyleId>{5C22544A-7EE6-4342-B048-85BDC9FD1C3A}</a:tableStyleId>
              </a:tblPr>
              <a:tblGrid>
                <a:gridCol w="5208741">
                  <a:extLst>
                    <a:ext uri="{9D8B030D-6E8A-4147-A177-3AD203B41FA5}">
                      <a16:colId xmlns:a16="http://schemas.microsoft.com/office/drawing/2014/main" val="1302807412"/>
                    </a:ext>
                  </a:extLst>
                </a:gridCol>
                <a:gridCol w="2166990">
                  <a:extLst>
                    <a:ext uri="{9D8B030D-6E8A-4147-A177-3AD203B41FA5}">
                      <a16:colId xmlns:a16="http://schemas.microsoft.com/office/drawing/2014/main" val="2095773932"/>
                    </a:ext>
                  </a:extLst>
                </a:gridCol>
                <a:gridCol w="2527913">
                  <a:extLst>
                    <a:ext uri="{9D8B030D-6E8A-4147-A177-3AD203B41FA5}">
                      <a16:colId xmlns:a16="http://schemas.microsoft.com/office/drawing/2014/main" val="1226096722"/>
                    </a:ext>
                  </a:extLst>
                </a:gridCol>
              </a:tblGrid>
              <a:tr h="370840">
                <a:tc>
                  <a:txBody>
                    <a:bodyPr/>
                    <a:lstStyle/>
                    <a:p>
                      <a:r>
                        <a:rPr lang="en-US" dirty="0"/>
                        <a:t>Client statements</a:t>
                      </a:r>
                    </a:p>
                  </a:txBody>
                  <a:tcPr/>
                </a:tc>
                <a:tc>
                  <a:txBody>
                    <a:bodyPr/>
                    <a:lstStyle/>
                    <a:p>
                      <a:r>
                        <a:rPr lang="en-US" dirty="0"/>
                        <a:t>Understanding</a:t>
                      </a:r>
                    </a:p>
                  </a:txBody>
                  <a:tcPr/>
                </a:tc>
                <a:tc>
                  <a:txBody>
                    <a:bodyPr/>
                    <a:lstStyle/>
                    <a:p>
                      <a:r>
                        <a:rPr lang="en-US" dirty="0"/>
                        <a:t>No understanding</a:t>
                      </a:r>
                    </a:p>
                  </a:txBody>
                  <a:tcPr/>
                </a:tc>
                <a:extLst>
                  <a:ext uri="{0D108BD9-81ED-4DB2-BD59-A6C34878D82A}">
                    <a16:rowId xmlns:a16="http://schemas.microsoft.com/office/drawing/2014/main" val="1036206910"/>
                  </a:ext>
                </a:extLst>
              </a:tr>
              <a:tr h="3708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mn-lt"/>
                        </a:rPr>
                        <a:t>“If I am sick and not eating, I should skip my insulin dose.”</a:t>
                      </a:r>
                      <a:endParaRPr lang="en-US" dirty="0"/>
                    </a:p>
                  </a:txBody>
                  <a:tcPr/>
                </a:tc>
                <a:tc>
                  <a:txBody>
                    <a:bodyPr/>
                    <a:lstStyle/>
                    <a:p>
                      <a:endParaRPr lang="en-US"/>
                    </a:p>
                  </a:txBody>
                  <a:tcPr/>
                </a:tc>
                <a:tc>
                  <a:txBody>
                    <a:bodyPr/>
                    <a:lstStyle/>
                    <a:p>
                      <a:pPr algn="ctr"/>
                      <a:r>
                        <a:rPr lang="en-US" sz="1600" dirty="0"/>
                        <a:t>X</a:t>
                      </a:r>
                    </a:p>
                  </a:txBody>
                  <a:tcPr/>
                </a:tc>
                <a:extLst>
                  <a:ext uri="{0D108BD9-81ED-4DB2-BD59-A6C34878D82A}">
                    <a16:rowId xmlns:a16="http://schemas.microsoft.com/office/drawing/2014/main" val="2621674609"/>
                  </a:ext>
                </a:extLst>
              </a:tr>
              <a:tr h="370840">
                <a:tc>
                  <a:txBody>
                    <a:bodyPr/>
                    <a:lstStyle/>
                    <a:p>
                      <a:r>
                        <a:rPr lang="en-US" sz="1200" i="1" dirty="0"/>
                        <a:t>“Healthy diet and exercise changes can reverse my Type 1 diabetes.”</a:t>
                      </a:r>
                    </a:p>
                  </a:txBody>
                  <a:tcPr/>
                </a:tc>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extLst>
                  <a:ext uri="{0D108BD9-81ED-4DB2-BD59-A6C34878D82A}">
                    <a16:rowId xmlns:a16="http://schemas.microsoft.com/office/drawing/2014/main" val="656706582"/>
                  </a:ext>
                </a:extLst>
              </a:tr>
              <a:tr h="370840">
                <a:tc>
                  <a:txBody>
                    <a:bodyPr/>
                    <a:lstStyle/>
                    <a:p>
                      <a:r>
                        <a:rPr lang="en-US" sz="1200" i="1" dirty="0"/>
                        <a:t>“I should bring snacks when I go to dance class or tennis practice.”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tc>
                  <a:txBody>
                    <a:bodyPr/>
                    <a:lstStyle/>
                    <a:p>
                      <a:endParaRPr lang="en-US" dirty="0"/>
                    </a:p>
                  </a:txBody>
                  <a:tcPr/>
                </a:tc>
                <a:extLst>
                  <a:ext uri="{0D108BD9-81ED-4DB2-BD59-A6C34878D82A}">
                    <a16:rowId xmlns:a16="http://schemas.microsoft.com/office/drawing/2014/main" val="3001172451"/>
                  </a:ext>
                </a:extLst>
              </a:tr>
              <a:tr h="370840">
                <a:tc>
                  <a:txBody>
                    <a:bodyPr/>
                    <a:lstStyle/>
                    <a:p>
                      <a:r>
                        <a:rPr lang="en-US" sz="1200" i="1" dirty="0"/>
                        <a:t>“If I feel super tired for no reason, it may be a good idea to check my blood sugar.”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tc>
                  <a:txBody>
                    <a:bodyPr/>
                    <a:lstStyle/>
                    <a:p>
                      <a:endParaRPr lang="en-US"/>
                    </a:p>
                  </a:txBody>
                  <a:tcPr/>
                </a:tc>
                <a:extLst>
                  <a:ext uri="{0D108BD9-81ED-4DB2-BD59-A6C34878D82A}">
                    <a16:rowId xmlns:a16="http://schemas.microsoft.com/office/drawing/2014/main" val="2142570738"/>
                  </a:ext>
                </a:extLst>
              </a:tr>
              <a:tr h="370840">
                <a:tc>
                  <a:txBody>
                    <a:bodyPr/>
                    <a:lstStyle/>
                    <a:p>
                      <a:r>
                        <a:rPr lang="en-US" sz="1200" i="1" dirty="0"/>
                        <a:t>“I should foods like whole wheat bread and fruits rather than white bread and jam.”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tc>
                  <a:txBody>
                    <a:bodyPr/>
                    <a:lstStyle/>
                    <a:p>
                      <a:endParaRPr lang="en-US"/>
                    </a:p>
                  </a:txBody>
                  <a:tcPr/>
                </a:tc>
                <a:extLst>
                  <a:ext uri="{0D108BD9-81ED-4DB2-BD59-A6C34878D82A}">
                    <a16:rowId xmlns:a16="http://schemas.microsoft.com/office/drawing/2014/main" val="1825669365"/>
                  </a:ext>
                </a:extLst>
              </a:tr>
              <a:tr h="370840">
                <a:tc>
                  <a:txBody>
                    <a:bodyPr/>
                    <a:lstStyle/>
                    <a:p>
                      <a:r>
                        <a:rPr lang="en-US" sz="1200" i="1" dirty="0"/>
                        <a:t>“I need to have a snack if I feel sweaty, nauseous, and my heart is beating fast.”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tc>
                  <a:txBody>
                    <a:bodyPr/>
                    <a:lstStyle/>
                    <a:p>
                      <a:endParaRPr lang="en-US"/>
                    </a:p>
                  </a:txBody>
                  <a:tcPr/>
                </a:tc>
                <a:extLst>
                  <a:ext uri="{0D108BD9-81ED-4DB2-BD59-A6C34878D82A}">
                    <a16:rowId xmlns:a16="http://schemas.microsoft.com/office/drawing/2014/main" val="3602338323"/>
                  </a:ext>
                </a:extLst>
              </a:tr>
              <a:tr h="370840">
                <a:tc>
                  <a:txBody>
                    <a:bodyPr/>
                    <a:lstStyle/>
                    <a:p>
                      <a:r>
                        <a:rPr lang="en-US" sz="1200" i="1" dirty="0"/>
                        <a:t>“If my blood sugar is under 60 mg/dl, I can drink a ½ can of diet soda to increase my sugar.”</a:t>
                      </a:r>
                    </a:p>
                  </a:txBody>
                  <a:tcPr/>
                </a:tc>
                <a:tc>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extLst>
                  <a:ext uri="{0D108BD9-81ED-4DB2-BD59-A6C34878D82A}">
                    <a16:rowId xmlns:a16="http://schemas.microsoft.com/office/drawing/2014/main" val="3020563626"/>
                  </a:ext>
                </a:extLst>
              </a:tr>
              <a:tr h="370840">
                <a:tc>
                  <a:txBody>
                    <a:bodyPr/>
                    <a:lstStyle/>
                    <a:p>
                      <a:r>
                        <a:rPr lang="en-US" sz="1200" i="1" dirty="0"/>
                        <a:t>“When I throw out my insulin needle, I should put the cap back on the needle before I throw it in the trash.”</a:t>
                      </a:r>
                    </a:p>
                  </a:txBody>
                  <a:tcPr/>
                </a:tc>
                <a:tc>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X</a:t>
                      </a:r>
                    </a:p>
                  </a:txBody>
                  <a:tcPr/>
                </a:tc>
                <a:extLst>
                  <a:ext uri="{0D108BD9-81ED-4DB2-BD59-A6C34878D82A}">
                    <a16:rowId xmlns:a16="http://schemas.microsoft.com/office/drawing/2014/main" val="1104861884"/>
                  </a:ext>
                </a:extLst>
              </a:tr>
            </a:tbl>
          </a:graphicData>
        </a:graphic>
      </p:graphicFrame>
      <p:sp>
        <p:nvSpPr>
          <p:cNvPr id="8" name="Rectangle 1">
            <a:extLst>
              <a:ext uri="{FF2B5EF4-FFF2-40B4-BE49-F238E27FC236}">
                <a16:creationId xmlns:a16="http://schemas.microsoft.com/office/drawing/2014/main" id="{84DA456C-D31C-2F1E-0423-E62B20D52B08}"/>
              </a:ext>
            </a:extLst>
          </p:cNvPr>
          <p:cNvSpPr>
            <a:spLocks noChangeArrowheads="1"/>
          </p:cNvSpPr>
          <p:nvPr/>
        </p:nvSpPr>
        <p:spPr bwMode="auto">
          <a:xfrm>
            <a:off x="381000" y="1703202"/>
            <a:ext cx="11103528" cy="1164389"/>
          </a:xfrm>
          <a:prstGeom prst="rect">
            <a:avLst/>
          </a:prstGeom>
          <a:noFill/>
          <a:ln>
            <a:noFill/>
          </a:ln>
          <a:effectLst/>
        </p:spPr>
        <p:txBody>
          <a:bodyPr vert="horz" wrap="square" lIns="91440" tIns="45720" rIns="9144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dirty="0">
                <a:solidFill>
                  <a:schemeClr val="bg1"/>
                </a:solidFill>
                <a:latin typeface="+mn-lt"/>
              </a:rPr>
              <a:t>The nurse and diabetic educator have provided discharge teaching to the client and her mother. The nurse has reviewed the Nurses’ Note from Day 3 at 1115.</a:t>
            </a:r>
            <a:r>
              <a:rPr lang="en-US" altLang="en-US" dirty="0">
                <a:solidFill>
                  <a:srgbClr val="252E33"/>
                </a:solidFill>
                <a:latin typeface="+mn-lt"/>
              </a:rPr>
              <a:t>  </a:t>
            </a:r>
            <a:r>
              <a:rPr lang="en-US" altLang="en-US" dirty="0">
                <a:solidFill>
                  <a:schemeClr val="bg1"/>
                </a:solidFill>
                <a:latin typeface="+mn-lt"/>
              </a:rPr>
              <a:t>Which statements reflect </a:t>
            </a:r>
            <a:r>
              <a:rPr lang="en-US" altLang="en-US" dirty="0">
                <a:solidFill>
                  <a:srgbClr val="FFFF00"/>
                </a:solidFill>
                <a:latin typeface="+mn-lt"/>
              </a:rPr>
              <a:t>understanding</a:t>
            </a:r>
            <a:r>
              <a:rPr lang="en-US" altLang="en-US" dirty="0">
                <a:solidFill>
                  <a:schemeClr val="bg1"/>
                </a:solidFill>
                <a:latin typeface="+mn-lt"/>
              </a:rPr>
              <a:t> or need further education (</a:t>
            </a:r>
            <a:r>
              <a:rPr lang="en-US" altLang="en-US" dirty="0">
                <a:solidFill>
                  <a:srgbClr val="FFFF00"/>
                </a:solidFill>
                <a:latin typeface="+mn-lt"/>
              </a:rPr>
              <a:t>no understanding</a:t>
            </a:r>
            <a:r>
              <a:rPr lang="en-US" altLang="en-US" dirty="0">
                <a:solidFill>
                  <a:schemeClr val="bg1"/>
                </a:solidFill>
                <a:latin typeface="+mn-lt"/>
              </a:rPr>
              <a:t>)?</a:t>
            </a:r>
          </a:p>
          <a:p>
            <a:pPr lvl="0"/>
            <a:r>
              <a:rPr lang="en-US" altLang="en-US" sz="1200" dirty="0">
                <a:solidFill>
                  <a:srgbClr val="252E33"/>
                </a:solidFill>
                <a:latin typeface="+mn-lt"/>
              </a:rPr>
              <a:t>.</a:t>
            </a:r>
            <a:endParaRPr lang="en-US" altLang="en-US" sz="1200" dirty="0">
              <a:latin typeface="+mn-lt"/>
            </a:endParaRPr>
          </a:p>
        </p:txBody>
      </p:sp>
    </p:spTree>
    <p:extLst>
      <p:ext uri="{BB962C8B-B14F-4D97-AF65-F5344CB8AC3E}">
        <p14:creationId xmlns:p14="http://schemas.microsoft.com/office/powerpoint/2010/main" val="1017224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CDB102C-E453-3A8F-86BC-ABFAE5F6164B}"/>
              </a:ext>
            </a:extLst>
          </p:cNvPr>
          <p:cNvSpPr>
            <a:spLocks noGrp="1"/>
          </p:cNvSpPr>
          <p:nvPr>
            <p:ph type="title"/>
          </p:nvPr>
        </p:nvSpPr>
        <p:spPr>
          <a:xfrm>
            <a:off x="2555631" y="1441938"/>
            <a:ext cx="7080738" cy="3974124"/>
          </a:xfrm>
        </p:spPr>
        <p:txBody>
          <a:bodyPr>
            <a:normAutofit/>
          </a:bodyPr>
          <a:lstStyle/>
          <a:p>
            <a:pPr algn="ctr"/>
            <a:r>
              <a:rPr lang="en-US" sz="5400">
                <a:solidFill>
                  <a:schemeClr val="bg1">
                    <a:lumMod val="95000"/>
                    <a:lumOff val="5000"/>
                  </a:schemeClr>
                </a:solidFill>
              </a:rPr>
              <a:t>More questions… </a:t>
            </a:r>
          </a:p>
        </p:txBody>
      </p:sp>
    </p:spTree>
    <p:extLst>
      <p:ext uri="{BB962C8B-B14F-4D97-AF65-F5344CB8AC3E}">
        <p14:creationId xmlns:p14="http://schemas.microsoft.com/office/powerpoint/2010/main" val="4035401384"/>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35F6B2-3171-AAB0-C9AC-AD3D370A5696}"/>
              </a:ext>
            </a:extLst>
          </p:cNvPr>
          <p:cNvSpPr>
            <a:spLocks noGrp="1"/>
          </p:cNvSpPr>
          <p:nvPr>
            <p:ph idx="1"/>
          </p:nvPr>
        </p:nvSpPr>
        <p:spPr>
          <a:xfrm>
            <a:off x="1028700" y="1017270"/>
            <a:ext cx="10134600" cy="5113975"/>
          </a:xfrm>
        </p:spPr>
        <p:txBody>
          <a:bodyPr/>
          <a:lstStyle/>
          <a:p>
            <a:pPr marL="0" marR="0">
              <a:lnSpc>
                <a:spcPct val="107000"/>
              </a:lnSpc>
              <a:spcBef>
                <a:spcPts val="0"/>
              </a:spcBef>
              <a:spcAft>
                <a:spcPts val="800"/>
              </a:spcAft>
            </a:pPr>
            <a:r>
              <a:rPr lang="en-US" sz="2400" dirty="0"/>
              <a:t>The nurse is seeing a new client in the clinic who reports polyuria and polydipsia. These conditions are indicative of which endocrine disorder?</a:t>
            </a:r>
          </a:p>
          <a:p>
            <a:pPr marL="0" marR="0">
              <a:lnSpc>
                <a:spcPct val="107000"/>
              </a:lnSpc>
              <a:spcBef>
                <a:spcPts val="0"/>
              </a:spcBef>
              <a:spcAft>
                <a:spcPts val="800"/>
              </a:spcAft>
            </a:pPr>
            <a:endParaRPr lang="en-US" sz="2400" dirty="0"/>
          </a:p>
          <a:p>
            <a:pPr marL="0" marR="0">
              <a:lnSpc>
                <a:spcPct val="107000"/>
              </a:lnSpc>
              <a:spcBef>
                <a:spcPts val="0"/>
              </a:spcBef>
              <a:spcAft>
                <a:spcPts val="800"/>
              </a:spcAft>
            </a:pPr>
            <a:r>
              <a:rPr lang="en-US" sz="2400" dirty="0"/>
              <a:t>a. Syndrome of inappropriate antidiuretic hormone (SIADH) secretion</a:t>
            </a:r>
          </a:p>
          <a:p>
            <a:pPr marL="0" marR="0">
              <a:lnSpc>
                <a:spcPct val="107000"/>
              </a:lnSpc>
              <a:spcBef>
                <a:spcPts val="0"/>
              </a:spcBef>
              <a:spcAft>
                <a:spcPts val="800"/>
              </a:spcAft>
            </a:pPr>
            <a:r>
              <a:rPr lang="en-US" sz="2400" dirty="0"/>
              <a:t>b. Hypopituitarism</a:t>
            </a:r>
          </a:p>
          <a:p>
            <a:pPr marL="0" marR="0">
              <a:lnSpc>
                <a:spcPct val="107000"/>
              </a:lnSpc>
              <a:spcBef>
                <a:spcPts val="0"/>
              </a:spcBef>
              <a:spcAft>
                <a:spcPts val="800"/>
              </a:spcAft>
            </a:pPr>
            <a:r>
              <a:rPr lang="en-US" sz="2400" dirty="0"/>
              <a:t>c. Diabetes insipidus (DI)</a:t>
            </a:r>
          </a:p>
          <a:p>
            <a:pPr marL="0" marR="0">
              <a:lnSpc>
                <a:spcPct val="107000"/>
              </a:lnSpc>
              <a:spcBef>
                <a:spcPts val="0"/>
              </a:spcBef>
              <a:spcAft>
                <a:spcPts val="800"/>
              </a:spcAft>
            </a:pPr>
            <a:r>
              <a:rPr lang="en-US" sz="2400" dirty="0"/>
              <a:t>d. Precocious puberty</a:t>
            </a:r>
          </a:p>
          <a:p>
            <a:endParaRPr lang="en-US" dirty="0"/>
          </a:p>
        </p:txBody>
      </p:sp>
    </p:spTree>
    <p:extLst>
      <p:ext uri="{BB962C8B-B14F-4D97-AF65-F5344CB8AC3E}">
        <p14:creationId xmlns:p14="http://schemas.microsoft.com/office/powerpoint/2010/main" val="3495435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86AB4-C3DD-00AB-AB21-FD570F7621FD}"/>
              </a:ext>
            </a:extLst>
          </p:cNvPr>
          <p:cNvSpPr>
            <a:spLocks noGrp="1"/>
          </p:cNvSpPr>
          <p:nvPr>
            <p:ph idx="1"/>
          </p:nvPr>
        </p:nvSpPr>
        <p:spPr>
          <a:xfrm>
            <a:off x="483477" y="800100"/>
            <a:ext cx="11204026" cy="5331145"/>
          </a:xfrm>
        </p:spPr>
        <p:txBody>
          <a:bodyPr/>
          <a:lstStyle/>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The nurse is caring for a child diagnosed with low functioning parathyroid. Which is a treatment goal of a child with hypoparathyroidism?</a:t>
            </a:r>
          </a:p>
          <a:p>
            <a:pPr marL="0" marR="0">
              <a:lnSpc>
                <a:spcPct val="107000"/>
              </a:lnSpc>
              <a:spcBef>
                <a:spcPts val="0"/>
              </a:spcBef>
              <a:spcAft>
                <a:spcPts val="800"/>
              </a:spcAft>
            </a:pPr>
            <a:endParaRPr lang="en-US" sz="24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a. Maintain the child's calcium level at a normal level with calcium replacement as prescribed. </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b. Assure the parents have a plan in place for periods of low glucose levels if noted.</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c. Provide the child and parent with a referral to a pediatric gastrointestinal specialist.</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d. Provide the parents a specific dietary plan for high-phosphorus foods to be eaten.</a:t>
            </a:r>
          </a:p>
          <a:p>
            <a:endParaRPr lang="en-US" dirty="0"/>
          </a:p>
        </p:txBody>
      </p:sp>
    </p:spTree>
    <p:extLst>
      <p:ext uri="{BB962C8B-B14F-4D97-AF65-F5344CB8AC3E}">
        <p14:creationId xmlns:p14="http://schemas.microsoft.com/office/powerpoint/2010/main" val="427849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BEFAE5-5496-6CAE-3273-09C39C04E1A0}"/>
              </a:ext>
            </a:extLst>
          </p:cNvPr>
          <p:cNvSpPr>
            <a:spLocks noGrp="1"/>
          </p:cNvSpPr>
          <p:nvPr>
            <p:ph idx="1"/>
          </p:nvPr>
        </p:nvSpPr>
        <p:spPr>
          <a:xfrm>
            <a:off x="1028700" y="811530"/>
            <a:ext cx="10134600" cy="5319715"/>
          </a:xfrm>
        </p:spPr>
        <p:txBody>
          <a:bodyPr>
            <a:normAutofit/>
          </a:bodyPr>
          <a:lstStyle/>
          <a:p>
            <a:r>
              <a:rPr lang="en-US" sz="2400" dirty="0"/>
              <a:t>A nurse is providing teaching to a 13-year-old client who has type 1 diabetes mellitus. Which of the following client statements indicates an understanding of diabetes mellitus management?</a:t>
            </a:r>
          </a:p>
          <a:p>
            <a:endParaRPr lang="en-US" sz="2400" dirty="0"/>
          </a:p>
          <a:p>
            <a:pPr marL="457200" indent="-457200">
              <a:buAutoNum type="alphaLcPeriod"/>
            </a:pPr>
            <a:r>
              <a:rPr lang="en-US" sz="2400" dirty="0"/>
              <a:t>“I will need to avoid snacks between meals.”</a:t>
            </a:r>
          </a:p>
          <a:p>
            <a:pPr marL="457200" indent="-457200">
              <a:buAutoNum type="alphaLcPeriod"/>
            </a:pPr>
            <a:r>
              <a:rPr lang="en-US" sz="2400" dirty="0"/>
              <a:t>“I should check my blood glucose levels more often when I am sick.”</a:t>
            </a:r>
          </a:p>
          <a:p>
            <a:pPr marL="457200" indent="-457200">
              <a:buAutoNum type="alphaLcPeriod"/>
            </a:pPr>
            <a:r>
              <a:rPr lang="en-US" sz="2400" dirty="0"/>
              <a:t>“I will need to limit my exercise to 1 hour per day.”</a:t>
            </a:r>
          </a:p>
          <a:p>
            <a:pPr marL="457200" indent="-457200">
              <a:buAutoNum type="alphaLcPeriod"/>
            </a:pPr>
            <a:r>
              <a:rPr lang="en-US" sz="2400" dirty="0"/>
              <a:t>“I should consume 30 g of simple carbohydrates if I feel shaky.” </a:t>
            </a:r>
          </a:p>
        </p:txBody>
      </p:sp>
    </p:spTree>
    <p:extLst>
      <p:ext uri="{BB962C8B-B14F-4D97-AF65-F5344CB8AC3E}">
        <p14:creationId xmlns:p14="http://schemas.microsoft.com/office/powerpoint/2010/main" val="4175973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467A4-9ABA-6719-B619-1294CDA06E5D}"/>
              </a:ext>
            </a:extLst>
          </p:cNvPr>
          <p:cNvSpPr>
            <a:spLocks noGrp="1"/>
          </p:cNvSpPr>
          <p:nvPr>
            <p:ph idx="1"/>
          </p:nvPr>
        </p:nvSpPr>
        <p:spPr>
          <a:xfrm>
            <a:off x="1028700" y="937260"/>
            <a:ext cx="10134600" cy="5193985"/>
          </a:xfrm>
        </p:spPr>
        <p:txBody>
          <a:bodyPr/>
          <a:lstStyle/>
          <a:p>
            <a:pPr marL="0" marR="0">
              <a:lnSpc>
                <a:spcPct val="107000"/>
              </a:lnSpc>
              <a:spcBef>
                <a:spcPts val="0"/>
              </a:spcBef>
              <a:spcAft>
                <a:spcPts val="800"/>
              </a:spcAft>
            </a:pPr>
            <a:r>
              <a:rPr lang="en-US" dirty="0"/>
              <a:t>The nurse is caring for a child with type 1 diabetes mellitus. The nurse notes the child is drowsy, has flushed cheeks and dry lips, a fruity smell to the breath, and there has been an increase in the rate and depth of the child's respirations. Which prescription from the primary health care provider will the nurse question?</a:t>
            </a:r>
          </a:p>
          <a:p>
            <a:pPr marL="0" marR="0">
              <a:lnSpc>
                <a:spcPct val="107000"/>
              </a:lnSpc>
              <a:spcBef>
                <a:spcPts val="0"/>
              </a:spcBef>
              <a:spcAft>
                <a:spcPts val="800"/>
              </a:spcAft>
            </a:pPr>
            <a:endParaRPr lang="en-US" dirty="0"/>
          </a:p>
          <a:p>
            <a:pPr marL="0" marR="0">
              <a:lnSpc>
                <a:spcPct val="107000"/>
              </a:lnSpc>
              <a:spcBef>
                <a:spcPts val="0"/>
              </a:spcBef>
              <a:spcAft>
                <a:spcPts val="800"/>
              </a:spcAft>
            </a:pPr>
            <a:r>
              <a:rPr lang="en-US" dirty="0"/>
              <a:t>a. intravenous fluid replacement</a:t>
            </a:r>
          </a:p>
          <a:p>
            <a:pPr marL="0" marR="0">
              <a:lnSpc>
                <a:spcPct val="107000"/>
              </a:lnSpc>
              <a:spcBef>
                <a:spcPts val="0"/>
              </a:spcBef>
              <a:spcAft>
                <a:spcPts val="800"/>
              </a:spcAft>
            </a:pPr>
            <a:r>
              <a:rPr lang="en-US" dirty="0"/>
              <a:t>b. regular insulin IV</a:t>
            </a:r>
          </a:p>
          <a:p>
            <a:pPr marL="0" marR="0">
              <a:lnSpc>
                <a:spcPct val="107000"/>
              </a:lnSpc>
              <a:spcBef>
                <a:spcPts val="0"/>
              </a:spcBef>
              <a:spcAft>
                <a:spcPts val="800"/>
              </a:spcAft>
            </a:pPr>
            <a:r>
              <a:rPr lang="en-US" dirty="0"/>
              <a:t>c. serum ketone testing</a:t>
            </a:r>
          </a:p>
          <a:p>
            <a:pPr marL="0" marR="0">
              <a:lnSpc>
                <a:spcPct val="107000"/>
              </a:lnSpc>
              <a:spcBef>
                <a:spcPts val="0"/>
              </a:spcBef>
              <a:spcAft>
                <a:spcPts val="800"/>
              </a:spcAft>
            </a:pPr>
            <a:r>
              <a:rPr lang="en-US" dirty="0"/>
              <a:t>d. monitor glucose level every 3 hour</a:t>
            </a:r>
          </a:p>
        </p:txBody>
      </p:sp>
    </p:spTree>
    <p:extLst>
      <p:ext uri="{BB962C8B-B14F-4D97-AF65-F5344CB8AC3E}">
        <p14:creationId xmlns:p14="http://schemas.microsoft.com/office/powerpoint/2010/main" val="2769521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19880E-C792-5379-D6B9-D5AC1FDE5499}"/>
              </a:ext>
            </a:extLst>
          </p:cNvPr>
          <p:cNvSpPr>
            <a:spLocks noGrp="1"/>
          </p:cNvSpPr>
          <p:nvPr>
            <p:ph idx="1"/>
          </p:nvPr>
        </p:nvSpPr>
        <p:spPr>
          <a:xfrm>
            <a:off x="1028700" y="982980"/>
            <a:ext cx="10134600" cy="5148265"/>
          </a:xfrm>
        </p:spPr>
        <p:txBody>
          <a:bodyPr>
            <a:normAutofit/>
          </a:bodyPr>
          <a:lstStyle/>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A newborn has just been diagnosed with phenylketonuria (PKU). The physician and nurse have taught the parents about the defect. What statement by the parents demonstrates a need for further instruction?</a:t>
            </a:r>
          </a:p>
          <a:p>
            <a:pPr marL="0" marR="0">
              <a:lnSpc>
                <a:spcPct val="107000"/>
              </a:lnSpc>
              <a:spcBef>
                <a:spcPts val="0"/>
              </a:spcBef>
              <a:spcAft>
                <a:spcPts val="800"/>
              </a:spcAft>
            </a:pPr>
            <a:endParaRPr lang="en-US" sz="24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a. "Nothing can be done medically to manage this condition."</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b. "PKU can lead to severe damage to the central nervous system."</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c. "Both of us must have carried the gene for PKU."</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d. "My child will have this diagnosis for the rest of their life.” </a:t>
            </a:r>
          </a:p>
        </p:txBody>
      </p:sp>
    </p:spTree>
    <p:extLst>
      <p:ext uri="{BB962C8B-B14F-4D97-AF65-F5344CB8AC3E}">
        <p14:creationId xmlns:p14="http://schemas.microsoft.com/office/powerpoint/2010/main" val="516373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al Color Block_Win32_AP_v2" id="{3EA4D81A-EBDE-431D-8B15-A5A6F500D5A4}" vid="{8EBF5489-0BE1-418D-A69C-2193D304C7E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3081</Words>
  <Application>Microsoft Office PowerPoint</Application>
  <PresentationFormat>Widescreen</PresentationFormat>
  <Paragraphs>342</Paragraphs>
  <Slides>24</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-apple-system</vt:lpstr>
      <vt:lpstr>Aptos</vt:lpstr>
      <vt:lpstr>Aptos Display</vt:lpstr>
      <vt:lpstr>Arial</vt:lpstr>
      <vt:lpstr>Calibri</vt:lpstr>
      <vt:lpstr>Tenorite</vt:lpstr>
      <vt:lpstr>Office Theme</vt:lpstr>
      <vt:lpstr>1_Office Theme</vt:lpstr>
      <vt:lpstr>Endocrine Case Study and Questions </vt:lpstr>
      <vt:lpstr>NGN Case Study #1</vt:lpstr>
      <vt:lpstr>NGN Case Study #1: Recognize Cues</vt:lpstr>
      <vt:lpstr>NGN Case Study #1: Recognize Cues</vt:lpstr>
      <vt:lpstr>NGN Case Study #1: Recognize Cues</vt:lpstr>
      <vt:lpstr>NGN Case Study #1: Recognize Cues</vt:lpstr>
      <vt:lpstr>NGN Case Study #1: Analyze Cues</vt:lpstr>
      <vt:lpstr>NGN Case Study #1: Analyze Cues</vt:lpstr>
      <vt:lpstr>NGN Case Study #1: Analyze Cues</vt:lpstr>
      <vt:lpstr>NGN Case Study #1: Prioritize hypotheses</vt:lpstr>
      <vt:lpstr>NGN Case Study #1: Prioritize hypotheses</vt:lpstr>
      <vt:lpstr>NGN Case Study #1: Generate Solutions</vt:lpstr>
      <vt:lpstr>NGN Case Study #1: Generate Solutions</vt:lpstr>
      <vt:lpstr>NGN Case Study #1: Take Action</vt:lpstr>
      <vt:lpstr>NGN Case Study #1: Take Action</vt:lpstr>
      <vt:lpstr>NGN Case Study #1: Evaluate Outcomes</vt:lpstr>
      <vt:lpstr>NGN Case Study #1: Evaluate Outcomes</vt:lpstr>
      <vt:lpstr>NGN Case Study #1: Evaluate Outcomes</vt:lpstr>
      <vt:lpstr>More questions…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Ellie Fuller</dc:creator>
  <cp:lastModifiedBy>Ellie Fuller</cp:lastModifiedBy>
  <cp:revision>1</cp:revision>
  <dcterms:created xsi:type="dcterms:W3CDTF">2025-04-10T18:11:52Z</dcterms:created>
  <dcterms:modified xsi:type="dcterms:W3CDTF">2025-04-10T18:17:20Z</dcterms:modified>
</cp:coreProperties>
</file>