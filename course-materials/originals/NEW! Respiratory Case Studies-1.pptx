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7"/>
  </p:notesMasterIdLst>
  <p:sldIdLst>
    <p:sldId id="256" r:id="rId2"/>
    <p:sldId id="360" r:id="rId3"/>
    <p:sldId id="359" r:id="rId4"/>
    <p:sldId id="365" r:id="rId5"/>
    <p:sldId id="257" r:id="rId6"/>
    <p:sldId id="377" r:id="rId7"/>
    <p:sldId id="376" r:id="rId8"/>
    <p:sldId id="522" r:id="rId9"/>
    <p:sldId id="361" r:id="rId10"/>
    <p:sldId id="523" r:id="rId11"/>
    <p:sldId id="373" r:id="rId12"/>
    <p:sldId id="366" r:id="rId13"/>
    <p:sldId id="363" r:id="rId14"/>
    <p:sldId id="378" r:id="rId15"/>
    <p:sldId id="521" r:id="rId1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51D4180-040A-439B-882E-71452DD62B61}" v="33" dt="2025-06-24T19:37:04.391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987" autoAdjust="0"/>
    <p:restoredTop sz="77556" autoAdjust="0"/>
  </p:normalViewPr>
  <p:slideViewPr>
    <p:cSldViewPr snapToGrid="0">
      <p:cViewPr varScale="1">
        <p:scale>
          <a:sx n="83" d="100"/>
          <a:sy n="83" d="100"/>
        </p:scale>
        <p:origin x="1614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microsoft.com/office/2015/10/relationships/revisionInfo" Target="revisionInfo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Ellie Fuller" userId="e034bfba-bc31-4476-bf06-cfa524cc5850" providerId="ADAL" clId="{051D4180-040A-439B-882E-71452DD62B61}"/>
    <pc:docChg chg="custSel modSld">
      <pc:chgData name="Ellie Fuller" userId="e034bfba-bc31-4476-bf06-cfa524cc5850" providerId="ADAL" clId="{051D4180-040A-439B-882E-71452DD62B61}" dt="2025-06-24T19:37:04.391" v="93" actId="20577"/>
      <pc:docMkLst>
        <pc:docMk/>
      </pc:docMkLst>
      <pc:sldChg chg="modSp mod">
        <pc:chgData name="Ellie Fuller" userId="e034bfba-bc31-4476-bf06-cfa524cc5850" providerId="ADAL" clId="{051D4180-040A-439B-882E-71452DD62B61}" dt="2025-06-24T19:36:53.741" v="74" actId="20577"/>
        <pc:sldMkLst>
          <pc:docMk/>
          <pc:sldMk cId="1127534126" sldId="361"/>
        </pc:sldMkLst>
        <pc:spChg chg="mod">
          <ac:chgData name="Ellie Fuller" userId="e034bfba-bc31-4476-bf06-cfa524cc5850" providerId="ADAL" clId="{051D4180-040A-439B-882E-71452DD62B61}" dt="2025-06-24T19:36:53.741" v="74" actId="20577"/>
          <ac:spMkLst>
            <pc:docMk/>
            <pc:sldMk cId="1127534126" sldId="361"/>
            <ac:spMk id="3" creationId="{17A7C8DE-3F00-4AE7-AC83-1AEB7C80A9A7}"/>
          </ac:spMkLst>
        </pc:spChg>
      </pc:sldChg>
      <pc:sldChg chg="modSp">
        <pc:chgData name="Ellie Fuller" userId="e034bfba-bc31-4476-bf06-cfa524cc5850" providerId="ADAL" clId="{051D4180-040A-439B-882E-71452DD62B61}" dt="2025-06-24T19:37:04.391" v="93" actId="20577"/>
        <pc:sldMkLst>
          <pc:docMk/>
          <pc:sldMk cId="2545868510" sldId="523"/>
        </pc:sldMkLst>
        <pc:spChg chg="mod">
          <ac:chgData name="Ellie Fuller" userId="e034bfba-bc31-4476-bf06-cfa524cc5850" providerId="ADAL" clId="{051D4180-040A-439B-882E-71452DD62B61}" dt="2025-06-24T19:37:04.391" v="93" actId="20577"/>
          <ac:spMkLst>
            <pc:docMk/>
            <pc:sldMk cId="2545868510" sldId="523"/>
            <ac:spMk id="3" creationId="{17A7C8DE-3F00-4AE7-AC83-1AEB7C80A9A7}"/>
          </ac:spMkLst>
        </pc:spChg>
      </pc:sldChg>
    </pc:docChg>
  </pc:docChgLst>
  <pc:docChgLst>
    <pc:chgData name="Ellie Fuller" userId="e034bfba-bc31-4476-bf06-cfa524cc5850" providerId="ADAL" clId="{04E920AF-AF16-4887-A2F3-7526ED07542A}"/>
    <pc:docChg chg="modSld">
      <pc:chgData name="Ellie Fuller" userId="e034bfba-bc31-4476-bf06-cfa524cc5850" providerId="ADAL" clId="{04E920AF-AF16-4887-A2F3-7526ED07542A}" dt="2024-10-21T11:40:03.910" v="1" actId="729"/>
      <pc:docMkLst>
        <pc:docMk/>
      </pc:docMkLst>
      <pc:sldChg chg="mod modShow">
        <pc:chgData name="Ellie Fuller" userId="e034bfba-bc31-4476-bf06-cfa524cc5850" providerId="ADAL" clId="{04E920AF-AF16-4887-A2F3-7526ED07542A}" dt="2024-10-21T11:38:42.478" v="0" actId="729"/>
        <pc:sldMkLst>
          <pc:docMk/>
          <pc:sldMk cId="1592526428" sldId="257"/>
        </pc:sldMkLst>
      </pc:sldChg>
      <pc:sldChg chg="mod modShow">
        <pc:chgData name="Ellie Fuller" userId="e034bfba-bc31-4476-bf06-cfa524cc5850" providerId="ADAL" clId="{04E920AF-AF16-4887-A2F3-7526ED07542A}" dt="2024-10-21T11:40:03.910" v="1" actId="729"/>
        <pc:sldMkLst>
          <pc:docMk/>
          <pc:sldMk cId="0" sldId="521"/>
        </pc:sldMkLst>
      </pc:sldChg>
    </pc:docChg>
  </pc:docChgLst>
</pc:chgInfo>
</file>

<file path=ppt/diagrams/_rels/data1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svg"/><Relationship Id="rId3" Type="http://schemas.openxmlformats.org/officeDocument/2006/relationships/image" Target="../media/image4.png"/><Relationship Id="rId7" Type="http://schemas.openxmlformats.org/officeDocument/2006/relationships/image" Target="../media/image8.png"/><Relationship Id="rId12" Type="http://schemas.openxmlformats.org/officeDocument/2006/relationships/image" Target="../media/image13.svg"/><Relationship Id="rId2" Type="http://schemas.openxmlformats.org/officeDocument/2006/relationships/image" Target="../media/image3.svg"/><Relationship Id="rId1" Type="http://schemas.openxmlformats.org/officeDocument/2006/relationships/image" Target="../media/image2.png"/><Relationship Id="rId6" Type="http://schemas.openxmlformats.org/officeDocument/2006/relationships/image" Target="../media/image7.svg"/><Relationship Id="rId11" Type="http://schemas.openxmlformats.org/officeDocument/2006/relationships/image" Target="../media/image12.png"/><Relationship Id="rId5" Type="http://schemas.openxmlformats.org/officeDocument/2006/relationships/image" Target="../media/image6.png"/><Relationship Id="rId10" Type="http://schemas.openxmlformats.org/officeDocument/2006/relationships/image" Target="../media/image11.svg"/><Relationship Id="rId4" Type="http://schemas.openxmlformats.org/officeDocument/2006/relationships/image" Target="../media/image5.svg"/><Relationship Id="rId9" Type="http://schemas.openxmlformats.org/officeDocument/2006/relationships/image" Target="../media/image10.png"/></Relationships>
</file>

<file path=ppt/diagrams/_rels/drawing1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svg"/><Relationship Id="rId3" Type="http://schemas.openxmlformats.org/officeDocument/2006/relationships/image" Target="../media/image4.png"/><Relationship Id="rId7" Type="http://schemas.openxmlformats.org/officeDocument/2006/relationships/image" Target="../media/image8.png"/><Relationship Id="rId12" Type="http://schemas.openxmlformats.org/officeDocument/2006/relationships/image" Target="../media/image13.svg"/><Relationship Id="rId2" Type="http://schemas.openxmlformats.org/officeDocument/2006/relationships/image" Target="../media/image3.svg"/><Relationship Id="rId1" Type="http://schemas.openxmlformats.org/officeDocument/2006/relationships/image" Target="../media/image2.png"/><Relationship Id="rId6" Type="http://schemas.openxmlformats.org/officeDocument/2006/relationships/image" Target="../media/image7.svg"/><Relationship Id="rId11" Type="http://schemas.openxmlformats.org/officeDocument/2006/relationships/image" Target="../media/image12.png"/><Relationship Id="rId5" Type="http://schemas.openxmlformats.org/officeDocument/2006/relationships/image" Target="../media/image6.png"/><Relationship Id="rId10" Type="http://schemas.openxmlformats.org/officeDocument/2006/relationships/image" Target="../media/image11.svg"/><Relationship Id="rId4" Type="http://schemas.openxmlformats.org/officeDocument/2006/relationships/image" Target="../media/image5.svg"/><Relationship Id="rId9" Type="http://schemas.openxmlformats.org/officeDocument/2006/relationships/image" Target="../media/image10.pn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18/5/colors/Iconchunking_neutralbg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F5DFE59B-9541-4670-A6B6-C466E85F27CC}" type="doc">
      <dgm:prSet loTypeId="urn:microsoft.com/office/officeart/2018/5/layout/CenteredIconLabelDescriptionList" loCatId="icon" qsTypeId="urn:microsoft.com/office/officeart/2005/8/quickstyle/simple1" qsCatId="simple" csTypeId="urn:microsoft.com/office/officeart/2018/5/colors/Iconchunking_neutralbg_colorful1" csCatId="colorful" phldr="1"/>
      <dgm:spPr/>
      <dgm:t>
        <a:bodyPr/>
        <a:lstStyle/>
        <a:p>
          <a:endParaRPr lang="en-US"/>
        </a:p>
      </dgm:t>
    </dgm:pt>
    <dgm:pt modelId="{50116A3C-A68D-45F6-AADB-E9D9A71C744C}">
      <dgm:prSet/>
      <dgm:spPr/>
      <dgm:t>
        <a:bodyPr/>
        <a:lstStyle/>
        <a:p>
          <a:pPr>
            <a:defRPr b="1"/>
          </a:pPr>
          <a:r>
            <a:rPr lang="en-US"/>
            <a:t>Recognize Cues</a:t>
          </a:r>
        </a:p>
      </dgm:t>
    </dgm:pt>
    <dgm:pt modelId="{EDCE0EE5-C1BA-4B01-864B-CC81A2CD5DF0}" type="parTrans" cxnId="{4AE5239F-B5B2-4667-8458-133D797AD1E3}">
      <dgm:prSet/>
      <dgm:spPr/>
      <dgm:t>
        <a:bodyPr/>
        <a:lstStyle/>
        <a:p>
          <a:endParaRPr lang="en-US"/>
        </a:p>
      </dgm:t>
    </dgm:pt>
    <dgm:pt modelId="{F7FC8E63-DC0E-43C7-8CA0-7A7E939E4357}" type="sibTrans" cxnId="{4AE5239F-B5B2-4667-8458-133D797AD1E3}">
      <dgm:prSet/>
      <dgm:spPr/>
      <dgm:t>
        <a:bodyPr/>
        <a:lstStyle/>
        <a:p>
          <a:endParaRPr lang="en-US"/>
        </a:p>
      </dgm:t>
    </dgm:pt>
    <dgm:pt modelId="{0D02ED9F-D223-4880-8DF1-1704FE355C4F}">
      <dgm:prSet/>
      <dgm:spPr/>
      <dgm:t>
        <a:bodyPr/>
        <a:lstStyle/>
        <a:p>
          <a:r>
            <a:rPr lang="en-US"/>
            <a:t>What assessment findings require follow-up?</a:t>
          </a:r>
        </a:p>
      </dgm:t>
    </dgm:pt>
    <dgm:pt modelId="{E05746DA-129D-476B-86A6-72C39B410825}" type="parTrans" cxnId="{FD30B3FB-C694-456C-A3FD-20A3967B3DB8}">
      <dgm:prSet/>
      <dgm:spPr/>
      <dgm:t>
        <a:bodyPr/>
        <a:lstStyle/>
        <a:p>
          <a:endParaRPr lang="en-US"/>
        </a:p>
      </dgm:t>
    </dgm:pt>
    <dgm:pt modelId="{89B629FB-4073-415A-B100-8160DB4A048F}" type="sibTrans" cxnId="{FD30B3FB-C694-456C-A3FD-20A3967B3DB8}">
      <dgm:prSet/>
      <dgm:spPr/>
      <dgm:t>
        <a:bodyPr/>
        <a:lstStyle/>
        <a:p>
          <a:endParaRPr lang="en-US"/>
        </a:p>
      </dgm:t>
    </dgm:pt>
    <dgm:pt modelId="{E3C5DA0D-9EAF-4311-B6DD-08D773BDAC65}">
      <dgm:prSet/>
      <dgm:spPr/>
      <dgm:t>
        <a:bodyPr/>
        <a:lstStyle/>
        <a:p>
          <a:pPr>
            <a:defRPr b="1"/>
          </a:pPr>
          <a:r>
            <a:rPr lang="en-US"/>
            <a:t>Analyze Cues</a:t>
          </a:r>
        </a:p>
      </dgm:t>
    </dgm:pt>
    <dgm:pt modelId="{9C4F04C1-CE16-44D3-9AF2-A9E6E790B2D4}" type="parTrans" cxnId="{08135FB6-E022-4993-802A-099FF967DE33}">
      <dgm:prSet/>
      <dgm:spPr/>
      <dgm:t>
        <a:bodyPr/>
        <a:lstStyle/>
        <a:p>
          <a:endParaRPr lang="en-US"/>
        </a:p>
      </dgm:t>
    </dgm:pt>
    <dgm:pt modelId="{62DD97F2-B0FB-43A4-A044-A34ACC2FC39A}" type="sibTrans" cxnId="{08135FB6-E022-4993-802A-099FF967DE33}">
      <dgm:prSet/>
      <dgm:spPr/>
      <dgm:t>
        <a:bodyPr/>
        <a:lstStyle/>
        <a:p>
          <a:endParaRPr lang="en-US"/>
        </a:p>
      </dgm:t>
    </dgm:pt>
    <dgm:pt modelId="{82D3BB75-8E56-46A7-8B2C-80D0695E5937}">
      <dgm:prSet/>
      <dgm:spPr/>
      <dgm:t>
        <a:bodyPr/>
        <a:lstStyle/>
        <a:p>
          <a:r>
            <a:rPr lang="en-US"/>
            <a:t>What are the potential complications for this client?</a:t>
          </a:r>
        </a:p>
      </dgm:t>
    </dgm:pt>
    <dgm:pt modelId="{2EAF900E-8361-481A-9320-24A8C399DD40}" type="parTrans" cxnId="{C3772900-D0B4-4F2C-B49B-CA1761F43F4A}">
      <dgm:prSet/>
      <dgm:spPr/>
      <dgm:t>
        <a:bodyPr/>
        <a:lstStyle/>
        <a:p>
          <a:endParaRPr lang="en-US"/>
        </a:p>
      </dgm:t>
    </dgm:pt>
    <dgm:pt modelId="{D9096636-E3BA-4884-A543-205707EA62DC}" type="sibTrans" cxnId="{C3772900-D0B4-4F2C-B49B-CA1761F43F4A}">
      <dgm:prSet/>
      <dgm:spPr/>
      <dgm:t>
        <a:bodyPr/>
        <a:lstStyle/>
        <a:p>
          <a:endParaRPr lang="en-US"/>
        </a:p>
      </dgm:t>
    </dgm:pt>
    <dgm:pt modelId="{DA143E8D-8884-4B54-854A-44E7B2E7DAD5}">
      <dgm:prSet/>
      <dgm:spPr/>
      <dgm:t>
        <a:bodyPr/>
        <a:lstStyle/>
        <a:p>
          <a:pPr>
            <a:defRPr b="1"/>
          </a:pPr>
          <a:r>
            <a:rPr lang="en-US"/>
            <a:t>Prioritize Hypotheses</a:t>
          </a:r>
        </a:p>
      </dgm:t>
    </dgm:pt>
    <dgm:pt modelId="{CA51645F-854F-4186-B17E-0EDDE27E8DA1}" type="parTrans" cxnId="{AC0392A1-2B31-4FEF-91E8-89A8102D8A7C}">
      <dgm:prSet/>
      <dgm:spPr/>
      <dgm:t>
        <a:bodyPr/>
        <a:lstStyle/>
        <a:p>
          <a:endParaRPr lang="en-US"/>
        </a:p>
      </dgm:t>
    </dgm:pt>
    <dgm:pt modelId="{AE05E3FC-4030-457B-B5B4-A6406CD474C9}" type="sibTrans" cxnId="{AC0392A1-2B31-4FEF-91E8-89A8102D8A7C}">
      <dgm:prSet/>
      <dgm:spPr/>
      <dgm:t>
        <a:bodyPr/>
        <a:lstStyle/>
        <a:p>
          <a:endParaRPr lang="en-US"/>
        </a:p>
      </dgm:t>
    </dgm:pt>
    <dgm:pt modelId="{4F1C72CD-D8DB-41A7-AC69-B59A8549C4BC}">
      <dgm:prSet/>
      <dgm:spPr/>
      <dgm:t>
        <a:bodyPr/>
        <a:lstStyle/>
        <a:p>
          <a:r>
            <a:rPr lang="en-US"/>
            <a:t>What is the client at highest risk for due to which findings?</a:t>
          </a:r>
        </a:p>
      </dgm:t>
    </dgm:pt>
    <dgm:pt modelId="{6A98AB08-1E97-430A-A1B5-3D21F70DF093}" type="parTrans" cxnId="{E6FC7EFE-8763-4D5F-8AD4-11E916A7CC9B}">
      <dgm:prSet/>
      <dgm:spPr/>
      <dgm:t>
        <a:bodyPr/>
        <a:lstStyle/>
        <a:p>
          <a:endParaRPr lang="en-US"/>
        </a:p>
      </dgm:t>
    </dgm:pt>
    <dgm:pt modelId="{E0B357F6-544B-4F5B-AFE9-22A69211C1A5}" type="sibTrans" cxnId="{E6FC7EFE-8763-4D5F-8AD4-11E916A7CC9B}">
      <dgm:prSet/>
      <dgm:spPr/>
      <dgm:t>
        <a:bodyPr/>
        <a:lstStyle/>
        <a:p>
          <a:endParaRPr lang="en-US"/>
        </a:p>
      </dgm:t>
    </dgm:pt>
    <dgm:pt modelId="{212BC945-C41A-4938-9BF1-686CD2BFC65F}">
      <dgm:prSet/>
      <dgm:spPr/>
      <dgm:t>
        <a:bodyPr/>
        <a:lstStyle/>
        <a:p>
          <a:pPr>
            <a:defRPr b="1"/>
          </a:pPr>
          <a:r>
            <a:rPr lang="en-US"/>
            <a:t>Generate Solutions</a:t>
          </a:r>
        </a:p>
      </dgm:t>
    </dgm:pt>
    <dgm:pt modelId="{5B182AC7-AF60-4237-AD7E-9E662806CD9C}" type="parTrans" cxnId="{B0B784BE-C6A2-4C3E-B344-500710C0D631}">
      <dgm:prSet/>
      <dgm:spPr/>
      <dgm:t>
        <a:bodyPr/>
        <a:lstStyle/>
        <a:p>
          <a:endParaRPr lang="en-US"/>
        </a:p>
      </dgm:t>
    </dgm:pt>
    <dgm:pt modelId="{544F28E1-B3DF-454C-975B-DC76C0D90AC1}" type="sibTrans" cxnId="{B0B784BE-C6A2-4C3E-B344-500710C0D631}">
      <dgm:prSet/>
      <dgm:spPr/>
      <dgm:t>
        <a:bodyPr/>
        <a:lstStyle/>
        <a:p>
          <a:endParaRPr lang="en-US"/>
        </a:p>
      </dgm:t>
    </dgm:pt>
    <dgm:pt modelId="{B5330802-21D5-4A64-BE9A-7D3B2FD3FD2C}">
      <dgm:prSet/>
      <dgm:spPr/>
      <dgm:t>
        <a:bodyPr/>
        <a:lstStyle/>
        <a:p>
          <a:r>
            <a:rPr lang="en-US"/>
            <a:t>What medications/treatment  do you anticipate for this client?</a:t>
          </a:r>
        </a:p>
      </dgm:t>
    </dgm:pt>
    <dgm:pt modelId="{1B9FDF38-EE58-49F2-972C-B59D0CE2A1C1}" type="parTrans" cxnId="{070E5D12-5ECC-48E2-A10B-244D6D4BE8C2}">
      <dgm:prSet/>
      <dgm:spPr/>
      <dgm:t>
        <a:bodyPr/>
        <a:lstStyle/>
        <a:p>
          <a:endParaRPr lang="en-US"/>
        </a:p>
      </dgm:t>
    </dgm:pt>
    <dgm:pt modelId="{7054FE8A-AEEA-4241-805C-E3BA5FED85B1}" type="sibTrans" cxnId="{070E5D12-5ECC-48E2-A10B-244D6D4BE8C2}">
      <dgm:prSet/>
      <dgm:spPr/>
      <dgm:t>
        <a:bodyPr/>
        <a:lstStyle/>
        <a:p>
          <a:endParaRPr lang="en-US"/>
        </a:p>
      </dgm:t>
    </dgm:pt>
    <dgm:pt modelId="{56380B6A-99B4-4279-A72A-6962E4E3AD5A}">
      <dgm:prSet/>
      <dgm:spPr/>
      <dgm:t>
        <a:bodyPr/>
        <a:lstStyle/>
        <a:p>
          <a:pPr>
            <a:defRPr b="1"/>
          </a:pPr>
          <a:r>
            <a:rPr lang="en-US"/>
            <a:t>Take Action</a:t>
          </a:r>
        </a:p>
      </dgm:t>
    </dgm:pt>
    <dgm:pt modelId="{78AEB7C3-E3E7-413E-9347-BDF238C301C2}" type="parTrans" cxnId="{DD76CB15-52A8-48F8-891B-48E0F03903F8}">
      <dgm:prSet/>
      <dgm:spPr/>
      <dgm:t>
        <a:bodyPr/>
        <a:lstStyle/>
        <a:p>
          <a:endParaRPr lang="en-US"/>
        </a:p>
      </dgm:t>
    </dgm:pt>
    <dgm:pt modelId="{BD691EF2-146C-4241-9BA3-7E086DC1E061}" type="sibTrans" cxnId="{DD76CB15-52A8-48F8-891B-48E0F03903F8}">
      <dgm:prSet/>
      <dgm:spPr/>
      <dgm:t>
        <a:bodyPr/>
        <a:lstStyle/>
        <a:p>
          <a:endParaRPr lang="en-US"/>
        </a:p>
      </dgm:t>
    </dgm:pt>
    <dgm:pt modelId="{12E5C6AB-86C5-43BF-8A2A-23D6D6EDDB96}">
      <dgm:prSet/>
      <dgm:spPr/>
      <dgm:t>
        <a:bodyPr/>
        <a:lstStyle/>
        <a:p>
          <a:r>
            <a:rPr lang="en-US"/>
            <a:t>What actions do you anticipate to prioritize in the plan of care?</a:t>
          </a:r>
        </a:p>
      </dgm:t>
    </dgm:pt>
    <dgm:pt modelId="{A26B05CB-94D5-4EA1-8C83-69172B60919F}" type="parTrans" cxnId="{5F6DF517-EFBC-48B0-8D42-C959C4493BE6}">
      <dgm:prSet/>
      <dgm:spPr/>
      <dgm:t>
        <a:bodyPr/>
        <a:lstStyle/>
        <a:p>
          <a:endParaRPr lang="en-US"/>
        </a:p>
      </dgm:t>
    </dgm:pt>
    <dgm:pt modelId="{5FF29543-E4EB-44A8-B25E-7E5CD70AA099}" type="sibTrans" cxnId="{5F6DF517-EFBC-48B0-8D42-C959C4493BE6}">
      <dgm:prSet/>
      <dgm:spPr/>
      <dgm:t>
        <a:bodyPr/>
        <a:lstStyle/>
        <a:p>
          <a:endParaRPr lang="en-US"/>
        </a:p>
      </dgm:t>
    </dgm:pt>
    <dgm:pt modelId="{28725766-18CA-43E8-9B79-607C07354489}">
      <dgm:prSet/>
      <dgm:spPr/>
      <dgm:t>
        <a:bodyPr/>
        <a:lstStyle/>
        <a:p>
          <a:pPr>
            <a:defRPr b="1"/>
          </a:pPr>
          <a:r>
            <a:rPr lang="en-US"/>
            <a:t>Evaluate Outcomes</a:t>
          </a:r>
        </a:p>
      </dgm:t>
    </dgm:pt>
    <dgm:pt modelId="{726C6516-C4AD-4A4A-B464-5CDD0D6DFDCA}" type="parTrans" cxnId="{27B9C14D-90A2-4E18-B685-6D7AE2E96212}">
      <dgm:prSet/>
      <dgm:spPr/>
      <dgm:t>
        <a:bodyPr/>
        <a:lstStyle/>
        <a:p>
          <a:endParaRPr lang="en-US"/>
        </a:p>
      </dgm:t>
    </dgm:pt>
    <dgm:pt modelId="{72B25A57-AACF-4858-A79B-8D3879C09A99}" type="sibTrans" cxnId="{27B9C14D-90A2-4E18-B685-6D7AE2E96212}">
      <dgm:prSet/>
      <dgm:spPr/>
      <dgm:t>
        <a:bodyPr/>
        <a:lstStyle/>
        <a:p>
          <a:endParaRPr lang="en-US"/>
        </a:p>
      </dgm:t>
    </dgm:pt>
    <dgm:pt modelId="{896357A1-7579-49C8-86A9-407C113E90A9}">
      <dgm:prSet/>
      <dgm:spPr/>
      <dgm:t>
        <a:bodyPr/>
        <a:lstStyle/>
        <a:p>
          <a:r>
            <a:rPr lang="en-US"/>
            <a:t>What parameters should be monitored to evaluate client outcomes?</a:t>
          </a:r>
        </a:p>
      </dgm:t>
    </dgm:pt>
    <dgm:pt modelId="{A1F31AAE-14EF-4FFE-85A3-97B41E0C21EB}" type="parTrans" cxnId="{64BC2372-C6EC-4D1E-8214-B77346448E51}">
      <dgm:prSet/>
      <dgm:spPr/>
      <dgm:t>
        <a:bodyPr/>
        <a:lstStyle/>
        <a:p>
          <a:endParaRPr lang="en-US"/>
        </a:p>
      </dgm:t>
    </dgm:pt>
    <dgm:pt modelId="{13A4A9FE-05D2-43CC-9DFB-BAF73D0DE4F8}" type="sibTrans" cxnId="{64BC2372-C6EC-4D1E-8214-B77346448E51}">
      <dgm:prSet/>
      <dgm:spPr/>
      <dgm:t>
        <a:bodyPr/>
        <a:lstStyle/>
        <a:p>
          <a:endParaRPr lang="en-US"/>
        </a:p>
      </dgm:t>
    </dgm:pt>
    <dgm:pt modelId="{173AA6E4-EF9B-45C3-AF4E-1D0AF4454B50}" type="pres">
      <dgm:prSet presAssocID="{F5DFE59B-9541-4670-A6B6-C466E85F27CC}" presName="root" presStyleCnt="0">
        <dgm:presLayoutVars>
          <dgm:dir/>
          <dgm:resizeHandles val="exact"/>
        </dgm:presLayoutVars>
      </dgm:prSet>
      <dgm:spPr/>
    </dgm:pt>
    <dgm:pt modelId="{9C5296B6-56CE-46D6-83FD-0FA1E4DEE9DD}" type="pres">
      <dgm:prSet presAssocID="{50116A3C-A68D-45F6-AADB-E9D9A71C744C}" presName="compNode" presStyleCnt="0"/>
      <dgm:spPr/>
    </dgm:pt>
    <dgm:pt modelId="{1A679063-8026-484F-8363-3C006581EB2D}" type="pres">
      <dgm:prSet presAssocID="{50116A3C-A68D-45F6-AADB-E9D9A71C744C}" presName="iconRect" presStyleLbl="node1" presStyleIdx="0" presStyleCnt="6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Eye"/>
        </a:ext>
      </dgm:extLst>
    </dgm:pt>
    <dgm:pt modelId="{2695607C-734D-409C-918F-00C3AAACFC96}" type="pres">
      <dgm:prSet presAssocID="{50116A3C-A68D-45F6-AADB-E9D9A71C744C}" presName="iconSpace" presStyleCnt="0"/>
      <dgm:spPr/>
    </dgm:pt>
    <dgm:pt modelId="{A48B6136-B86A-4B32-9C3C-F86000849C75}" type="pres">
      <dgm:prSet presAssocID="{50116A3C-A68D-45F6-AADB-E9D9A71C744C}" presName="parTx" presStyleLbl="revTx" presStyleIdx="0" presStyleCnt="12">
        <dgm:presLayoutVars>
          <dgm:chMax val="0"/>
          <dgm:chPref val="0"/>
        </dgm:presLayoutVars>
      </dgm:prSet>
      <dgm:spPr/>
    </dgm:pt>
    <dgm:pt modelId="{3BB5A1C0-CCDD-49A9-917D-17349836B820}" type="pres">
      <dgm:prSet presAssocID="{50116A3C-A68D-45F6-AADB-E9D9A71C744C}" presName="txSpace" presStyleCnt="0"/>
      <dgm:spPr/>
    </dgm:pt>
    <dgm:pt modelId="{72B354E0-BD25-498C-A498-4C2ED9751F72}" type="pres">
      <dgm:prSet presAssocID="{50116A3C-A68D-45F6-AADB-E9D9A71C744C}" presName="desTx" presStyleLbl="revTx" presStyleIdx="1" presStyleCnt="12">
        <dgm:presLayoutVars/>
      </dgm:prSet>
      <dgm:spPr/>
    </dgm:pt>
    <dgm:pt modelId="{5F613ABD-EE8B-41A7-97B7-9338AB5357B7}" type="pres">
      <dgm:prSet presAssocID="{F7FC8E63-DC0E-43C7-8CA0-7A7E939E4357}" presName="sibTrans" presStyleCnt="0"/>
      <dgm:spPr/>
    </dgm:pt>
    <dgm:pt modelId="{57E5E680-F788-4146-9C5E-CC5402DC6E86}" type="pres">
      <dgm:prSet presAssocID="{E3C5DA0D-9EAF-4311-B6DD-08D773BDAC65}" presName="compNode" presStyleCnt="0"/>
      <dgm:spPr/>
    </dgm:pt>
    <dgm:pt modelId="{48057018-1E9F-4960-867F-D13C4AA24ED7}" type="pres">
      <dgm:prSet presAssocID="{E3C5DA0D-9EAF-4311-B6DD-08D773BDAC65}" presName="iconRect" presStyleLbl="node1" presStyleIdx="1" presStyleCnt="6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Doctor"/>
        </a:ext>
      </dgm:extLst>
    </dgm:pt>
    <dgm:pt modelId="{450D1538-CECC-4F2F-AAC0-E12CC288D246}" type="pres">
      <dgm:prSet presAssocID="{E3C5DA0D-9EAF-4311-B6DD-08D773BDAC65}" presName="iconSpace" presStyleCnt="0"/>
      <dgm:spPr/>
    </dgm:pt>
    <dgm:pt modelId="{6B1E20A3-5875-45BB-9069-70DB65ACE5F8}" type="pres">
      <dgm:prSet presAssocID="{E3C5DA0D-9EAF-4311-B6DD-08D773BDAC65}" presName="parTx" presStyleLbl="revTx" presStyleIdx="2" presStyleCnt="12">
        <dgm:presLayoutVars>
          <dgm:chMax val="0"/>
          <dgm:chPref val="0"/>
        </dgm:presLayoutVars>
      </dgm:prSet>
      <dgm:spPr/>
    </dgm:pt>
    <dgm:pt modelId="{786AF856-3C12-4A87-97FF-28D501C349A4}" type="pres">
      <dgm:prSet presAssocID="{E3C5DA0D-9EAF-4311-B6DD-08D773BDAC65}" presName="txSpace" presStyleCnt="0"/>
      <dgm:spPr/>
    </dgm:pt>
    <dgm:pt modelId="{FFAEF813-31D4-4966-A945-3B25998F968E}" type="pres">
      <dgm:prSet presAssocID="{E3C5DA0D-9EAF-4311-B6DD-08D773BDAC65}" presName="desTx" presStyleLbl="revTx" presStyleIdx="3" presStyleCnt="12">
        <dgm:presLayoutVars/>
      </dgm:prSet>
      <dgm:spPr/>
    </dgm:pt>
    <dgm:pt modelId="{5E32AC7E-402B-4DA3-A22F-CD3711DA1C6A}" type="pres">
      <dgm:prSet presAssocID="{62DD97F2-B0FB-43A4-A044-A34ACC2FC39A}" presName="sibTrans" presStyleCnt="0"/>
      <dgm:spPr/>
    </dgm:pt>
    <dgm:pt modelId="{3A70A1CA-E5B4-43E1-90F1-C72AAD4A954E}" type="pres">
      <dgm:prSet presAssocID="{DA143E8D-8884-4B54-854A-44E7B2E7DAD5}" presName="compNode" presStyleCnt="0"/>
      <dgm:spPr/>
    </dgm:pt>
    <dgm:pt modelId="{53F6CB36-EA4D-4F92-B12B-52EC786628C4}" type="pres">
      <dgm:prSet presAssocID="{DA143E8D-8884-4B54-854A-44E7B2E7DAD5}" presName="iconRect" presStyleLbl="node1" presStyleIdx="2" presStyleCnt="6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Magnifying glass"/>
        </a:ext>
      </dgm:extLst>
    </dgm:pt>
    <dgm:pt modelId="{9ABB0F70-E3BB-44C0-89C1-0944CC7EA405}" type="pres">
      <dgm:prSet presAssocID="{DA143E8D-8884-4B54-854A-44E7B2E7DAD5}" presName="iconSpace" presStyleCnt="0"/>
      <dgm:spPr/>
    </dgm:pt>
    <dgm:pt modelId="{F678EBCE-1365-4496-BBC1-F9AD192112BE}" type="pres">
      <dgm:prSet presAssocID="{DA143E8D-8884-4B54-854A-44E7B2E7DAD5}" presName="parTx" presStyleLbl="revTx" presStyleIdx="4" presStyleCnt="12">
        <dgm:presLayoutVars>
          <dgm:chMax val="0"/>
          <dgm:chPref val="0"/>
        </dgm:presLayoutVars>
      </dgm:prSet>
      <dgm:spPr/>
    </dgm:pt>
    <dgm:pt modelId="{D094DF13-C9DE-4D55-B24B-C5B94F7A3E18}" type="pres">
      <dgm:prSet presAssocID="{DA143E8D-8884-4B54-854A-44E7B2E7DAD5}" presName="txSpace" presStyleCnt="0"/>
      <dgm:spPr/>
    </dgm:pt>
    <dgm:pt modelId="{1B7D4B7F-B901-4CAF-81D9-3176066E29CD}" type="pres">
      <dgm:prSet presAssocID="{DA143E8D-8884-4B54-854A-44E7B2E7DAD5}" presName="desTx" presStyleLbl="revTx" presStyleIdx="5" presStyleCnt="12">
        <dgm:presLayoutVars/>
      </dgm:prSet>
      <dgm:spPr/>
    </dgm:pt>
    <dgm:pt modelId="{0DA0CF59-1E53-496D-BD8A-B3AD954EC3BF}" type="pres">
      <dgm:prSet presAssocID="{AE05E3FC-4030-457B-B5B4-A6406CD474C9}" presName="sibTrans" presStyleCnt="0"/>
      <dgm:spPr/>
    </dgm:pt>
    <dgm:pt modelId="{DE5CD22A-E7B9-4A1E-8A23-95CF351D9CE5}" type="pres">
      <dgm:prSet presAssocID="{212BC945-C41A-4938-9BF1-686CD2BFC65F}" presName="compNode" presStyleCnt="0"/>
      <dgm:spPr/>
    </dgm:pt>
    <dgm:pt modelId="{3C4DC8D5-D8CE-4E2C-8E68-B8E82BFF94A4}" type="pres">
      <dgm:prSet presAssocID="{212BC945-C41A-4938-9BF1-686CD2BFC65F}" presName="iconRect" presStyleLbl="node1" presStyleIdx="3" presStyleCnt="6"/>
      <dgm:spPr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Medicine"/>
        </a:ext>
      </dgm:extLst>
    </dgm:pt>
    <dgm:pt modelId="{65F2BFBC-68A7-41F2-B40C-AD5C6AC54895}" type="pres">
      <dgm:prSet presAssocID="{212BC945-C41A-4938-9BF1-686CD2BFC65F}" presName="iconSpace" presStyleCnt="0"/>
      <dgm:spPr/>
    </dgm:pt>
    <dgm:pt modelId="{669B8068-E150-4D9D-9E54-1005CA293D3E}" type="pres">
      <dgm:prSet presAssocID="{212BC945-C41A-4938-9BF1-686CD2BFC65F}" presName="parTx" presStyleLbl="revTx" presStyleIdx="6" presStyleCnt="12">
        <dgm:presLayoutVars>
          <dgm:chMax val="0"/>
          <dgm:chPref val="0"/>
        </dgm:presLayoutVars>
      </dgm:prSet>
      <dgm:spPr/>
    </dgm:pt>
    <dgm:pt modelId="{759DAFF8-C090-491A-AFE6-89501318F303}" type="pres">
      <dgm:prSet presAssocID="{212BC945-C41A-4938-9BF1-686CD2BFC65F}" presName="txSpace" presStyleCnt="0"/>
      <dgm:spPr/>
    </dgm:pt>
    <dgm:pt modelId="{2EA28A19-1B42-4B29-8AE8-1AD5FFD9A358}" type="pres">
      <dgm:prSet presAssocID="{212BC945-C41A-4938-9BF1-686CD2BFC65F}" presName="desTx" presStyleLbl="revTx" presStyleIdx="7" presStyleCnt="12">
        <dgm:presLayoutVars/>
      </dgm:prSet>
      <dgm:spPr/>
    </dgm:pt>
    <dgm:pt modelId="{E2C4EDE5-4AA7-4268-9989-341D8B712461}" type="pres">
      <dgm:prSet presAssocID="{544F28E1-B3DF-454C-975B-DC76C0D90AC1}" presName="sibTrans" presStyleCnt="0"/>
      <dgm:spPr/>
    </dgm:pt>
    <dgm:pt modelId="{5C9686A8-AAAC-4ABD-9AE5-CCF65E8F0BAA}" type="pres">
      <dgm:prSet presAssocID="{56380B6A-99B4-4279-A72A-6962E4E3AD5A}" presName="compNode" presStyleCnt="0"/>
      <dgm:spPr/>
    </dgm:pt>
    <dgm:pt modelId="{187BABB0-FFCB-4978-BDD7-7E24EED010FF}" type="pres">
      <dgm:prSet presAssocID="{56380B6A-99B4-4279-A72A-6962E4E3AD5A}" presName="iconRect" presStyleLbl="node1" presStyleIdx="4" presStyleCnt="6"/>
      <dgm:spPr>
        <a:blipFill>
          <a:blip xmlns:r="http://schemas.openxmlformats.org/officeDocument/2006/relationships"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Playbook"/>
        </a:ext>
      </dgm:extLst>
    </dgm:pt>
    <dgm:pt modelId="{AB9330F0-53B0-4B51-886D-6D8FB2809A4F}" type="pres">
      <dgm:prSet presAssocID="{56380B6A-99B4-4279-A72A-6962E4E3AD5A}" presName="iconSpace" presStyleCnt="0"/>
      <dgm:spPr/>
    </dgm:pt>
    <dgm:pt modelId="{25FFA979-7C11-4846-9F56-5F32DA514A68}" type="pres">
      <dgm:prSet presAssocID="{56380B6A-99B4-4279-A72A-6962E4E3AD5A}" presName="parTx" presStyleLbl="revTx" presStyleIdx="8" presStyleCnt="12">
        <dgm:presLayoutVars>
          <dgm:chMax val="0"/>
          <dgm:chPref val="0"/>
        </dgm:presLayoutVars>
      </dgm:prSet>
      <dgm:spPr/>
    </dgm:pt>
    <dgm:pt modelId="{B85EFC5A-DE34-4786-BB66-EB5956BA11DC}" type="pres">
      <dgm:prSet presAssocID="{56380B6A-99B4-4279-A72A-6962E4E3AD5A}" presName="txSpace" presStyleCnt="0"/>
      <dgm:spPr/>
    </dgm:pt>
    <dgm:pt modelId="{278C59E5-AEEA-444E-858A-15BEE3AF5622}" type="pres">
      <dgm:prSet presAssocID="{56380B6A-99B4-4279-A72A-6962E4E3AD5A}" presName="desTx" presStyleLbl="revTx" presStyleIdx="9" presStyleCnt="12">
        <dgm:presLayoutVars/>
      </dgm:prSet>
      <dgm:spPr/>
    </dgm:pt>
    <dgm:pt modelId="{728DF5CC-6E10-4776-ADA0-18A38AE91076}" type="pres">
      <dgm:prSet presAssocID="{BD691EF2-146C-4241-9BA3-7E086DC1E061}" presName="sibTrans" presStyleCnt="0"/>
      <dgm:spPr/>
    </dgm:pt>
    <dgm:pt modelId="{37FC7444-CF6D-480B-9B9C-BF43BC9C45DA}" type="pres">
      <dgm:prSet presAssocID="{28725766-18CA-43E8-9B79-607C07354489}" presName="compNode" presStyleCnt="0"/>
      <dgm:spPr/>
    </dgm:pt>
    <dgm:pt modelId="{7D4CA827-0E68-4206-90E9-D8A6E0A20565}" type="pres">
      <dgm:prSet presAssocID="{28725766-18CA-43E8-9B79-607C07354489}" presName="iconRect" presStyleLbl="node1" presStyleIdx="5" presStyleCnt="6"/>
      <dgm:spPr>
        <a:blipFill>
          <a:blip xmlns:r="http://schemas.openxmlformats.org/officeDocument/2006/relationships" r:embed="rId1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Checkmark"/>
        </a:ext>
      </dgm:extLst>
    </dgm:pt>
    <dgm:pt modelId="{141D2732-5164-4A76-A6BE-79ECCBC8C6A6}" type="pres">
      <dgm:prSet presAssocID="{28725766-18CA-43E8-9B79-607C07354489}" presName="iconSpace" presStyleCnt="0"/>
      <dgm:spPr/>
    </dgm:pt>
    <dgm:pt modelId="{135F54AA-C25D-48C7-87C3-CA1759C454DF}" type="pres">
      <dgm:prSet presAssocID="{28725766-18CA-43E8-9B79-607C07354489}" presName="parTx" presStyleLbl="revTx" presStyleIdx="10" presStyleCnt="12">
        <dgm:presLayoutVars>
          <dgm:chMax val="0"/>
          <dgm:chPref val="0"/>
        </dgm:presLayoutVars>
      </dgm:prSet>
      <dgm:spPr/>
    </dgm:pt>
    <dgm:pt modelId="{5219FE07-25E8-4B39-8E0A-B4685C5D292C}" type="pres">
      <dgm:prSet presAssocID="{28725766-18CA-43E8-9B79-607C07354489}" presName="txSpace" presStyleCnt="0"/>
      <dgm:spPr/>
    </dgm:pt>
    <dgm:pt modelId="{7430683D-A6DA-4E81-BF5B-31440CBF3B5B}" type="pres">
      <dgm:prSet presAssocID="{28725766-18CA-43E8-9B79-607C07354489}" presName="desTx" presStyleLbl="revTx" presStyleIdx="11" presStyleCnt="12">
        <dgm:presLayoutVars/>
      </dgm:prSet>
      <dgm:spPr/>
    </dgm:pt>
  </dgm:ptLst>
  <dgm:cxnLst>
    <dgm:cxn modelId="{C3772900-D0B4-4F2C-B49B-CA1761F43F4A}" srcId="{E3C5DA0D-9EAF-4311-B6DD-08D773BDAC65}" destId="{82D3BB75-8E56-46A7-8B2C-80D0695E5937}" srcOrd="0" destOrd="0" parTransId="{2EAF900E-8361-481A-9320-24A8C399DD40}" sibTransId="{D9096636-E3BA-4884-A543-205707EA62DC}"/>
    <dgm:cxn modelId="{69B5660F-3EF7-4AA6-9E7F-CF50F63772C4}" type="presOf" srcId="{F5DFE59B-9541-4670-A6B6-C466E85F27CC}" destId="{173AA6E4-EF9B-45C3-AF4E-1D0AF4454B50}" srcOrd="0" destOrd="0" presId="urn:microsoft.com/office/officeart/2018/5/layout/CenteredIconLabelDescriptionList"/>
    <dgm:cxn modelId="{070E5D12-5ECC-48E2-A10B-244D6D4BE8C2}" srcId="{212BC945-C41A-4938-9BF1-686CD2BFC65F}" destId="{B5330802-21D5-4A64-BE9A-7D3B2FD3FD2C}" srcOrd="0" destOrd="0" parTransId="{1B9FDF38-EE58-49F2-972C-B59D0CE2A1C1}" sibTransId="{7054FE8A-AEEA-4241-805C-E3BA5FED85B1}"/>
    <dgm:cxn modelId="{DD76CB15-52A8-48F8-891B-48E0F03903F8}" srcId="{F5DFE59B-9541-4670-A6B6-C466E85F27CC}" destId="{56380B6A-99B4-4279-A72A-6962E4E3AD5A}" srcOrd="4" destOrd="0" parTransId="{78AEB7C3-E3E7-413E-9347-BDF238C301C2}" sibTransId="{BD691EF2-146C-4241-9BA3-7E086DC1E061}"/>
    <dgm:cxn modelId="{5F6DF517-EFBC-48B0-8D42-C959C4493BE6}" srcId="{56380B6A-99B4-4279-A72A-6962E4E3AD5A}" destId="{12E5C6AB-86C5-43BF-8A2A-23D6D6EDDB96}" srcOrd="0" destOrd="0" parTransId="{A26B05CB-94D5-4EA1-8C83-69172B60919F}" sibTransId="{5FF29543-E4EB-44A8-B25E-7E5CD70AA099}"/>
    <dgm:cxn modelId="{2CDDEA2C-F3B6-4A30-B963-9CE7A02F47B1}" type="presOf" srcId="{82D3BB75-8E56-46A7-8B2C-80D0695E5937}" destId="{FFAEF813-31D4-4966-A945-3B25998F968E}" srcOrd="0" destOrd="0" presId="urn:microsoft.com/office/officeart/2018/5/layout/CenteredIconLabelDescriptionList"/>
    <dgm:cxn modelId="{95C6CF3E-1B19-4533-9FDC-9039C52DCB9B}" type="presOf" srcId="{28725766-18CA-43E8-9B79-607C07354489}" destId="{135F54AA-C25D-48C7-87C3-CA1759C454DF}" srcOrd="0" destOrd="0" presId="urn:microsoft.com/office/officeart/2018/5/layout/CenteredIconLabelDescriptionList"/>
    <dgm:cxn modelId="{446A4862-FBE0-4E16-B373-CB828EB52D18}" type="presOf" srcId="{896357A1-7579-49C8-86A9-407C113E90A9}" destId="{7430683D-A6DA-4E81-BF5B-31440CBF3B5B}" srcOrd="0" destOrd="0" presId="urn:microsoft.com/office/officeart/2018/5/layout/CenteredIconLabelDescriptionList"/>
    <dgm:cxn modelId="{93C0F66B-FD69-4C7D-88B9-1A98D59D3EEE}" type="presOf" srcId="{212BC945-C41A-4938-9BF1-686CD2BFC65F}" destId="{669B8068-E150-4D9D-9E54-1005CA293D3E}" srcOrd="0" destOrd="0" presId="urn:microsoft.com/office/officeart/2018/5/layout/CenteredIconLabelDescriptionList"/>
    <dgm:cxn modelId="{27B9C14D-90A2-4E18-B685-6D7AE2E96212}" srcId="{F5DFE59B-9541-4670-A6B6-C466E85F27CC}" destId="{28725766-18CA-43E8-9B79-607C07354489}" srcOrd="5" destOrd="0" parTransId="{726C6516-C4AD-4A4A-B464-5CDD0D6DFDCA}" sibTransId="{72B25A57-AACF-4858-A79B-8D3879C09A99}"/>
    <dgm:cxn modelId="{DDC1086F-4687-43CB-B1BC-A355FF85920D}" type="presOf" srcId="{56380B6A-99B4-4279-A72A-6962E4E3AD5A}" destId="{25FFA979-7C11-4846-9F56-5F32DA514A68}" srcOrd="0" destOrd="0" presId="urn:microsoft.com/office/officeart/2018/5/layout/CenteredIconLabelDescriptionList"/>
    <dgm:cxn modelId="{64BC2372-C6EC-4D1E-8214-B77346448E51}" srcId="{28725766-18CA-43E8-9B79-607C07354489}" destId="{896357A1-7579-49C8-86A9-407C113E90A9}" srcOrd="0" destOrd="0" parTransId="{A1F31AAE-14EF-4FFE-85A3-97B41E0C21EB}" sibTransId="{13A4A9FE-05D2-43CC-9DFB-BAF73D0DE4F8}"/>
    <dgm:cxn modelId="{49096273-78A3-4F5C-84F6-685988CBA1EB}" type="presOf" srcId="{0D02ED9F-D223-4880-8DF1-1704FE355C4F}" destId="{72B354E0-BD25-498C-A498-4C2ED9751F72}" srcOrd="0" destOrd="0" presId="urn:microsoft.com/office/officeart/2018/5/layout/CenteredIconLabelDescriptionList"/>
    <dgm:cxn modelId="{C739BA55-DE9F-44BF-9BE0-DF89669B7682}" type="presOf" srcId="{50116A3C-A68D-45F6-AADB-E9D9A71C744C}" destId="{A48B6136-B86A-4B32-9C3C-F86000849C75}" srcOrd="0" destOrd="0" presId="urn:microsoft.com/office/officeart/2018/5/layout/CenteredIconLabelDescriptionList"/>
    <dgm:cxn modelId="{A038F658-0D1E-4BC8-AEA2-1B9011924DF2}" type="presOf" srcId="{B5330802-21D5-4A64-BE9A-7D3B2FD3FD2C}" destId="{2EA28A19-1B42-4B29-8AE8-1AD5FFD9A358}" srcOrd="0" destOrd="0" presId="urn:microsoft.com/office/officeart/2018/5/layout/CenteredIconLabelDescriptionList"/>
    <dgm:cxn modelId="{5363DD92-A533-49F1-A054-9FB57E2CB1C1}" type="presOf" srcId="{E3C5DA0D-9EAF-4311-B6DD-08D773BDAC65}" destId="{6B1E20A3-5875-45BB-9069-70DB65ACE5F8}" srcOrd="0" destOrd="0" presId="urn:microsoft.com/office/officeart/2018/5/layout/CenteredIconLabelDescriptionList"/>
    <dgm:cxn modelId="{4AE5239F-B5B2-4667-8458-133D797AD1E3}" srcId="{F5DFE59B-9541-4670-A6B6-C466E85F27CC}" destId="{50116A3C-A68D-45F6-AADB-E9D9A71C744C}" srcOrd="0" destOrd="0" parTransId="{EDCE0EE5-C1BA-4B01-864B-CC81A2CD5DF0}" sibTransId="{F7FC8E63-DC0E-43C7-8CA0-7A7E939E4357}"/>
    <dgm:cxn modelId="{AC0392A1-2B31-4FEF-91E8-89A8102D8A7C}" srcId="{F5DFE59B-9541-4670-A6B6-C466E85F27CC}" destId="{DA143E8D-8884-4B54-854A-44E7B2E7DAD5}" srcOrd="2" destOrd="0" parTransId="{CA51645F-854F-4186-B17E-0EDDE27E8DA1}" sibTransId="{AE05E3FC-4030-457B-B5B4-A6406CD474C9}"/>
    <dgm:cxn modelId="{08135FB6-E022-4993-802A-099FF967DE33}" srcId="{F5DFE59B-9541-4670-A6B6-C466E85F27CC}" destId="{E3C5DA0D-9EAF-4311-B6DD-08D773BDAC65}" srcOrd="1" destOrd="0" parTransId="{9C4F04C1-CE16-44D3-9AF2-A9E6E790B2D4}" sibTransId="{62DD97F2-B0FB-43A4-A044-A34ACC2FC39A}"/>
    <dgm:cxn modelId="{10901BB9-3BF7-4DC6-B908-E4D8939AB9B6}" type="presOf" srcId="{DA143E8D-8884-4B54-854A-44E7B2E7DAD5}" destId="{F678EBCE-1365-4496-BBC1-F9AD192112BE}" srcOrd="0" destOrd="0" presId="urn:microsoft.com/office/officeart/2018/5/layout/CenteredIconLabelDescriptionList"/>
    <dgm:cxn modelId="{136CF9BD-1198-401F-8AC9-B1218F4065DC}" type="presOf" srcId="{4F1C72CD-D8DB-41A7-AC69-B59A8549C4BC}" destId="{1B7D4B7F-B901-4CAF-81D9-3176066E29CD}" srcOrd="0" destOrd="0" presId="urn:microsoft.com/office/officeart/2018/5/layout/CenteredIconLabelDescriptionList"/>
    <dgm:cxn modelId="{B0B784BE-C6A2-4C3E-B344-500710C0D631}" srcId="{F5DFE59B-9541-4670-A6B6-C466E85F27CC}" destId="{212BC945-C41A-4938-9BF1-686CD2BFC65F}" srcOrd="3" destOrd="0" parTransId="{5B182AC7-AF60-4237-AD7E-9E662806CD9C}" sibTransId="{544F28E1-B3DF-454C-975B-DC76C0D90AC1}"/>
    <dgm:cxn modelId="{9DFE9BF3-6110-4A30-B4B1-3ED9AA48DE45}" type="presOf" srcId="{12E5C6AB-86C5-43BF-8A2A-23D6D6EDDB96}" destId="{278C59E5-AEEA-444E-858A-15BEE3AF5622}" srcOrd="0" destOrd="0" presId="urn:microsoft.com/office/officeart/2018/5/layout/CenteredIconLabelDescriptionList"/>
    <dgm:cxn modelId="{FD30B3FB-C694-456C-A3FD-20A3967B3DB8}" srcId="{50116A3C-A68D-45F6-AADB-E9D9A71C744C}" destId="{0D02ED9F-D223-4880-8DF1-1704FE355C4F}" srcOrd="0" destOrd="0" parTransId="{E05746DA-129D-476B-86A6-72C39B410825}" sibTransId="{89B629FB-4073-415A-B100-8160DB4A048F}"/>
    <dgm:cxn modelId="{E6FC7EFE-8763-4D5F-8AD4-11E916A7CC9B}" srcId="{DA143E8D-8884-4B54-854A-44E7B2E7DAD5}" destId="{4F1C72CD-D8DB-41A7-AC69-B59A8549C4BC}" srcOrd="0" destOrd="0" parTransId="{6A98AB08-1E97-430A-A1B5-3D21F70DF093}" sibTransId="{E0B357F6-544B-4F5B-AFE9-22A69211C1A5}"/>
    <dgm:cxn modelId="{F2C94799-8F8D-4F22-8435-93A824738315}" type="presParOf" srcId="{173AA6E4-EF9B-45C3-AF4E-1D0AF4454B50}" destId="{9C5296B6-56CE-46D6-83FD-0FA1E4DEE9DD}" srcOrd="0" destOrd="0" presId="urn:microsoft.com/office/officeart/2018/5/layout/CenteredIconLabelDescriptionList"/>
    <dgm:cxn modelId="{7C1F7131-9282-4C53-BCC7-B877AB08D1BA}" type="presParOf" srcId="{9C5296B6-56CE-46D6-83FD-0FA1E4DEE9DD}" destId="{1A679063-8026-484F-8363-3C006581EB2D}" srcOrd="0" destOrd="0" presId="urn:microsoft.com/office/officeart/2018/5/layout/CenteredIconLabelDescriptionList"/>
    <dgm:cxn modelId="{FFF7512E-56AD-4293-8A03-BA56150573C0}" type="presParOf" srcId="{9C5296B6-56CE-46D6-83FD-0FA1E4DEE9DD}" destId="{2695607C-734D-409C-918F-00C3AAACFC96}" srcOrd="1" destOrd="0" presId="urn:microsoft.com/office/officeart/2018/5/layout/CenteredIconLabelDescriptionList"/>
    <dgm:cxn modelId="{D38235A9-1F5E-4AA0-B7F3-3C4940E94DEC}" type="presParOf" srcId="{9C5296B6-56CE-46D6-83FD-0FA1E4DEE9DD}" destId="{A48B6136-B86A-4B32-9C3C-F86000849C75}" srcOrd="2" destOrd="0" presId="urn:microsoft.com/office/officeart/2018/5/layout/CenteredIconLabelDescriptionList"/>
    <dgm:cxn modelId="{1785AD8E-6AED-4969-82C0-A93BDC1F4571}" type="presParOf" srcId="{9C5296B6-56CE-46D6-83FD-0FA1E4DEE9DD}" destId="{3BB5A1C0-CCDD-49A9-917D-17349836B820}" srcOrd="3" destOrd="0" presId="urn:microsoft.com/office/officeart/2018/5/layout/CenteredIconLabelDescriptionList"/>
    <dgm:cxn modelId="{E55C6172-422A-48D6-97F3-C8FE7984BA27}" type="presParOf" srcId="{9C5296B6-56CE-46D6-83FD-0FA1E4DEE9DD}" destId="{72B354E0-BD25-498C-A498-4C2ED9751F72}" srcOrd="4" destOrd="0" presId="urn:microsoft.com/office/officeart/2018/5/layout/CenteredIconLabelDescriptionList"/>
    <dgm:cxn modelId="{A33ACAB1-BFD2-41D3-8A85-EC9860CA7946}" type="presParOf" srcId="{173AA6E4-EF9B-45C3-AF4E-1D0AF4454B50}" destId="{5F613ABD-EE8B-41A7-97B7-9338AB5357B7}" srcOrd="1" destOrd="0" presId="urn:microsoft.com/office/officeart/2018/5/layout/CenteredIconLabelDescriptionList"/>
    <dgm:cxn modelId="{9BD00A3F-5BDB-4CA2-8BAE-5FB9E308CE98}" type="presParOf" srcId="{173AA6E4-EF9B-45C3-AF4E-1D0AF4454B50}" destId="{57E5E680-F788-4146-9C5E-CC5402DC6E86}" srcOrd="2" destOrd="0" presId="urn:microsoft.com/office/officeart/2018/5/layout/CenteredIconLabelDescriptionList"/>
    <dgm:cxn modelId="{B3C56B8E-20F0-4CCB-AC3E-DFE6A41DB30E}" type="presParOf" srcId="{57E5E680-F788-4146-9C5E-CC5402DC6E86}" destId="{48057018-1E9F-4960-867F-D13C4AA24ED7}" srcOrd="0" destOrd="0" presId="urn:microsoft.com/office/officeart/2018/5/layout/CenteredIconLabelDescriptionList"/>
    <dgm:cxn modelId="{1C5DD1D7-6584-48D1-A1A0-02CC832DF63E}" type="presParOf" srcId="{57E5E680-F788-4146-9C5E-CC5402DC6E86}" destId="{450D1538-CECC-4F2F-AAC0-E12CC288D246}" srcOrd="1" destOrd="0" presId="urn:microsoft.com/office/officeart/2018/5/layout/CenteredIconLabelDescriptionList"/>
    <dgm:cxn modelId="{0123A909-5F65-4B37-A679-D3E4AAF2BA5F}" type="presParOf" srcId="{57E5E680-F788-4146-9C5E-CC5402DC6E86}" destId="{6B1E20A3-5875-45BB-9069-70DB65ACE5F8}" srcOrd="2" destOrd="0" presId="urn:microsoft.com/office/officeart/2018/5/layout/CenteredIconLabelDescriptionList"/>
    <dgm:cxn modelId="{070E519B-B3F2-4ECA-99D8-0BFECBF8A974}" type="presParOf" srcId="{57E5E680-F788-4146-9C5E-CC5402DC6E86}" destId="{786AF856-3C12-4A87-97FF-28D501C349A4}" srcOrd="3" destOrd="0" presId="urn:microsoft.com/office/officeart/2018/5/layout/CenteredIconLabelDescriptionList"/>
    <dgm:cxn modelId="{FB378812-B196-41AC-B815-5636BF277A13}" type="presParOf" srcId="{57E5E680-F788-4146-9C5E-CC5402DC6E86}" destId="{FFAEF813-31D4-4966-A945-3B25998F968E}" srcOrd="4" destOrd="0" presId="urn:microsoft.com/office/officeart/2018/5/layout/CenteredIconLabelDescriptionList"/>
    <dgm:cxn modelId="{4EDA0971-8472-4942-92B1-064D775A295E}" type="presParOf" srcId="{173AA6E4-EF9B-45C3-AF4E-1D0AF4454B50}" destId="{5E32AC7E-402B-4DA3-A22F-CD3711DA1C6A}" srcOrd="3" destOrd="0" presId="urn:microsoft.com/office/officeart/2018/5/layout/CenteredIconLabelDescriptionList"/>
    <dgm:cxn modelId="{C85782FB-8E2C-4E75-995C-DC84D6EC0093}" type="presParOf" srcId="{173AA6E4-EF9B-45C3-AF4E-1D0AF4454B50}" destId="{3A70A1CA-E5B4-43E1-90F1-C72AAD4A954E}" srcOrd="4" destOrd="0" presId="urn:microsoft.com/office/officeart/2018/5/layout/CenteredIconLabelDescriptionList"/>
    <dgm:cxn modelId="{4FEBE056-B826-4E94-B0D3-504093A5F30B}" type="presParOf" srcId="{3A70A1CA-E5B4-43E1-90F1-C72AAD4A954E}" destId="{53F6CB36-EA4D-4F92-B12B-52EC786628C4}" srcOrd="0" destOrd="0" presId="urn:microsoft.com/office/officeart/2018/5/layout/CenteredIconLabelDescriptionList"/>
    <dgm:cxn modelId="{09FBB3E1-F061-4E89-B953-4CAC3B2AD87F}" type="presParOf" srcId="{3A70A1CA-E5B4-43E1-90F1-C72AAD4A954E}" destId="{9ABB0F70-E3BB-44C0-89C1-0944CC7EA405}" srcOrd="1" destOrd="0" presId="urn:microsoft.com/office/officeart/2018/5/layout/CenteredIconLabelDescriptionList"/>
    <dgm:cxn modelId="{90E89403-D4A1-412B-BAAC-3D603F508F08}" type="presParOf" srcId="{3A70A1CA-E5B4-43E1-90F1-C72AAD4A954E}" destId="{F678EBCE-1365-4496-BBC1-F9AD192112BE}" srcOrd="2" destOrd="0" presId="urn:microsoft.com/office/officeart/2018/5/layout/CenteredIconLabelDescriptionList"/>
    <dgm:cxn modelId="{8498E9A2-17F5-4F18-A618-5586CCCA0EE6}" type="presParOf" srcId="{3A70A1CA-E5B4-43E1-90F1-C72AAD4A954E}" destId="{D094DF13-C9DE-4D55-B24B-C5B94F7A3E18}" srcOrd="3" destOrd="0" presId="urn:microsoft.com/office/officeart/2018/5/layout/CenteredIconLabelDescriptionList"/>
    <dgm:cxn modelId="{AA79823B-AD96-4099-B4F0-BCE677465548}" type="presParOf" srcId="{3A70A1CA-E5B4-43E1-90F1-C72AAD4A954E}" destId="{1B7D4B7F-B901-4CAF-81D9-3176066E29CD}" srcOrd="4" destOrd="0" presId="urn:microsoft.com/office/officeart/2018/5/layout/CenteredIconLabelDescriptionList"/>
    <dgm:cxn modelId="{7A1FA46A-2B1D-4FCA-B476-8481664E9A6E}" type="presParOf" srcId="{173AA6E4-EF9B-45C3-AF4E-1D0AF4454B50}" destId="{0DA0CF59-1E53-496D-BD8A-B3AD954EC3BF}" srcOrd="5" destOrd="0" presId="urn:microsoft.com/office/officeart/2018/5/layout/CenteredIconLabelDescriptionList"/>
    <dgm:cxn modelId="{34169D9C-3CF0-4C7E-86A3-A51D6F5FBA37}" type="presParOf" srcId="{173AA6E4-EF9B-45C3-AF4E-1D0AF4454B50}" destId="{DE5CD22A-E7B9-4A1E-8A23-95CF351D9CE5}" srcOrd="6" destOrd="0" presId="urn:microsoft.com/office/officeart/2018/5/layout/CenteredIconLabelDescriptionList"/>
    <dgm:cxn modelId="{AF626CA8-C777-4BC1-A65E-1267EFA4B044}" type="presParOf" srcId="{DE5CD22A-E7B9-4A1E-8A23-95CF351D9CE5}" destId="{3C4DC8D5-D8CE-4E2C-8E68-B8E82BFF94A4}" srcOrd="0" destOrd="0" presId="urn:microsoft.com/office/officeart/2018/5/layout/CenteredIconLabelDescriptionList"/>
    <dgm:cxn modelId="{C0205C5D-F76A-4AEF-B7D7-FA3DFB5357C0}" type="presParOf" srcId="{DE5CD22A-E7B9-4A1E-8A23-95CF351D9CE5}" destId="{65F2BFBC-68A7-41F2-B40C-AD5C6AC54895}" srcOrd="1" destOrd="0" presId="urn:microsoft.com/office/officeart/2018/5/layout/CenteredIconLabelDescriptionList"/>
    <dgm:cxn modelId="{CE389225-5746-410B-94AD-D2AEA5600015}" type="presParOf" srcId="{DE5CD22A-E7B9-4A1E-8A23-95CF351D9CE5}" destId="{669B8068-E150-4D9D-9E54-1005CA293D3E}" srcOrd="2" destOrd="0" presId="urn:microsoft.com/office/officeart/2018/5/layout/CenteredIconLabelDescriptionList"/>
    <dgm:cxn modelId="{17EFBFF8-BDCF-4A40-91F4-6F0668F28CD7}" type="presParOf" srcId="{DE5CD22A-E7B9-4A1E-8A23-95CF351D9CE5}" destId="{759DAFF8-C090-491A-AFE6-89501318F303}" srcOrd="3" destOrd="0" presId="urn:microsoft.com/office/officeart/2018/5/layout/CenteredIconLabelDescriptionList"/>
    <dgm:cxn modelId="{04E46355-8933-4FC3-A235-EC5572A9FB67}" type="presParOf" srcId="{DE5CD22A-E7B9-4A1E-8A23-95CF351D9CE5}" destId="{2EA28A19-1B42-4B29-8AE8-1AD5FFD9A358}" srcOrd="4" destOrd="0" presId="urn:microsoft.com/office/officeart/2018/5/layout/CenteredIconLabelDescriptionList"/>
    <dgm:cxn modelId="{FE25E9D7-FAAE-4DCC-B1DD-9A56093E813A}" type="presParOf" srcId="{173AA6E4-EF9B-45C3-AF4E-1D0AF4454B50}" destId="{E2C4EDE5-4AA7-4268-9989-341D8B712461}" srcOrd="7" destOrd="0" presId="urn:microsoft.com/office/officeart/2018/5/layout/CenteredIconLabelDescriptionList"/>
    <dgm:cxn modelId="{AD4F13B5-ECC8-4441-A296-AB29992F869C}" type="presParOf" srcId="{173AA6E4-EF9B-45C3-AF4E-1D0AF4454B50}" destId="{5C9686A8-AAAC-4ABD-9AE5-CCF65E8F0BAA}" srcOrd="8" destOrd="0" presId="urn:microsoft.com/office/officeart/2018/5/layout/CenteredIconLabelDescriptionList"/>
    <dgm:cxn modelId="{EF02C925-2D47-44E2-9569-220BA52CE656}" type="presParOf" srcId="{5C9686A8-AAAC-4ABD-9AE5-CCF65E8F0BAA}" destId="{187BABB0-FFCB-4978-BDD7-7E24EED010FF}" srcOrd="0" destOrd="0" presId="urn:microsoft.com/office/officeart/2018/5/layout/CenteredIconLabelDescriptionList"/>
    <dgm:cxn modelId="{9C9C2B98-9800-423A-88A2-90E96159FF8C}" type="presParOf" srcId="{5C9686A8-AAAC-4ABD-9AE5-CCF65E8F0BAA}" destId="{AB9330F0-53B0-4B51-886D-6D8FB2809A4F}" srcOrd="1" destOrd="0" presId="urn:microsoft.com/office/officeart/2018/5/layout/CenteredIconLabelDescriptionList"/>
    <dgm:cxn modelId="{3E52FC42-7CBE-4F21-A738-DA2274CCB6A8}" type="presParOf" srcId="{5C9686A8-AAAC-4ABD-9AE5-CCF65E8F0BAA}" destId="{25FFA979-7C11-4846-9F56-5F32DA514A68}" srcOrd="2" destOrd="0" presId="urn:microsoft.com/office/officeart/2018/5/layout/CenteredIconLabelDescriptionList"/>
    <dgm:cxn modelId="{8D62E56D-1CED-472D-97F1-8E5B2DA28D66}" type="presParOf" srcId="{5C9686A8-AAAC-4ABD-9AE5-CCF65E8F0BAA}" destId="{B85EFC5A-DE34-4786-BB66-EB5956BA11DC}" srcOrd="3" destOrd="0" presId="urn:microsoft.com/office/officeart/2018/5/layout/CenteredIconLabelDescriptionList"/>
    <dgm:cxn modelId="{E4E569C3-546B-445E-AC16-807CB1C1456C}" type="presParOf" srcId="{5C9686A8-AAAC-4ABD-9AE5-CCF65E8F0BAA}" destId="{278C59E5-AEEA-444E-858A-15BEE3AF5622}" srcOrd="4" destOrd="0" presId="urn:microsoft.com/office/officeart/2018/5/layout/CenteredIconLabelDescriptionList"/>
    <dgm:cxn modelId="{9A7E9F7B-C2AC-4AE7-A6C0-17180B328605}" type="presParOf" srcId="{173AA6E4-EF9B-45C3-AF4E-1D0AF4454B50}" destId="{728DF5CC-6E10-4776-ADA0-18A38AE91076}" srcOrd="9" destOrd="0" presId="urn:microsoft.com/office/officeart/2018/5/layout/CenteredIconLabelDescriptionList"/>
    <dgm:cxn modelId="{AB7494FF-61FE-4C46-BF3C-50D33EC984A6}" type="presParOf" srcId="{173AA6E4-EF9B-45C3-AF4E-1D0AF4454B50}" destId="{37FC7444-CF6D-480B-9B9C-BF43BC9C45DA}" srcOrd="10" destOrd="0" presId="urn:microsoft.com/office/officeart/2018/5/layout/CenteredIconLabelDescriptionList"/>
    <dgm:cxn modelId="{857D5DCE-A45B-4CF8-9F8E-5C5BBF320DC5}" type="presParOf" srcId="{37FC7444-CF6D-480B-9B9C-BF43BC9C45DA}" destId="{7D4CA827-0E68-4206-90E9-D8A6E0A20565}" srcOrd="0" destOrd="0" presId="urn:microsoft.com/office/officeart/2018/5/layout/CenteredIconLabelDescriptionList"/>
    <dgm:cxn modelId="{D82C9E1C-46F1-4624-BCEC-B77591988618}" type="presParOf" srcId="{37FC7444-CF6D-480B-9B9C-BF43BC9C45DA}" destId="{141D2732-5164-4A76-A6BE-79ECCBC8C6A6}" srcOrd="1" destOrd="0" presId="urn:microsoft.com/office/officeart/2018/5/layout/CenteredIconLabelDescriptionList"/>
    <dgm:cxn modelId="{3CD95B4C-292B-4336-9671-C3B0BF19D4BA}" type="presParOf" srcId="{37FC7444-CF6D-480B-9B9C-BF43BC9C45DA}" destId="{135F54AA-C25D-48C7-87C3-CA1759C454DF}" srcOrd="2" destOrd="0" presId="urn:microsoft.com/office/officeart/2018/5/layout/CenteredIconLabelDescriptionList"/>
    <dgm:cxn modelId="{9BCB332E-86E5-4978-94E5-D8099E334FC7}" type="presParOf" srcId="{37FC7444-CF6D-480B-9B9C-BF43BC9C45DA}" destId="{5219FE07-25E8-4B39-8E0A-B4685C5D292C}" srcOrd="3" destOrd="0" presId="urn:microsoft.com/office/officeart/2018/5/layout/CenteredIconLabelDescriptionList"/>
    <dgm:cxn modelId="{47AF9C6A-6BA5-4C1F-9568-DF28D4890B5F}" type="presParOf" srcId="{37FC7444-CF6D-480B-9B9C-BF43BC9C45DA}" destId="{7430683D-A6DA-4E81-BF5B-31440CBF3B5B}" srcOrd="4" destOrd="0" presId="urn:microsoft.com/office/officeart/2018/5/layout/CenteredIconLabelDescription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64E26952-DC7E-4FD5-AC0C-5C9410FEB9EE}" type="doc">
      <dgm:prSet loTypeId="urn:microsoft.com/office/officeart/2005/8/layout/vList2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CEEEFB1D-8A0E-45F8-9938-4EBAA5CBB44B}">
      <dgm:prSet/>
      <dgm:spPr/>
      <dgm:t>
        <a:bodyPr/>
        <a:lstStyle/>
        <a:p>
          <a:r>
            <a:rPr lang="en-US" dirty="0"/>
            <a:t>A 2-month-old infant brought into the pediatrician’s office for a well-child visit. Mom has additional concerns.</a:t>
          </a:r>
        </a:p>
      </dgm:t>
    </dgm:pt>
    <dgm:pt modelId="{14BA9DD5-D4F7-4A17-A217-F3906B25C1AB}" type="parTrans" cxnId="{A329BB2F-1D66-43AB-A828-6EDE78AE883C}">
      <dgm:prSet/>
      <dgm:spPr/>
      <dgm:t>
        <a:bodyPr/>
        <a:lstStyle/>
        <a:p>
          <a:endParaRPr lang="en-US"/>
        </a:p>
      </dgm:t>
    </dgm:pt>
    <dgm:pt modelId="{6F007490-AD76-48D9-BA5B-8137E6C89F00}" type="sibTrans" cxnId="{A329BB2F-1D66-43AB-A828-6EDE78AE883C}">
      <dgm:prSet/>
      <dgm:spPr/>
      <dgm:t>
        <a:bodyPr/>
        <a:lstStyle/>
        <a:p>
          <a:endParaRPr lang="en-US"/>
        </a:p>
      </dgm:t>
    </dgm:pt>
    <dgm:pt modelId="{A8F9DE9D-AB44-47B1-B02B-82EC7DD9EB22}">
      <dgm:prSet/>
      <dgm:spPr/>
      <dgm:t>
        <a:bodyPr/>
        <a:lstStyle/>
        <a:p>
          <a:r>
            <a:rPr lang="en-US" dirty="0"/>
            <a:t>Which of the assessment findings require follow-up?</a:t>
          </a:r>
        </a:p>
      </dgm:t>
    </dgm:pt>
    <dgm:pt modelId="{C41909A0-C02D-4857-BA04-BB11AC21A756}" type="parTrans" cxnId="{4B7BA340-A677-4637-8BBD-165F5ACD0920}">
      <dgm:prSet/>
      <dgm:spPr/>
      <dgm:t>
        <a:bodyPr/>
        <a:lstStyle/>
        <a:p>
          <a:endParaRPr lang="en-US"/>
        </a:p>
      </dgm:t>
    </dgm:pt>
    <dgm:pt modelId="{C244F86B-43DD-450F-A12B-AC1872F88802}" type="sibTrans" cxnId="{4B7BA340-A677-4637-8BBD-165F5ACD0920}">
      <dgm:prSet/>
      <dgm:spPr/>
      <dgm:t>
        <a:bodyPr/>
        <a:lstStyle/>
        <a:p>
          <a:endParaRPr lang="en-US"/>
        </a:p>
      </dgm:t>
    </dgm:pt>
    <dgm:pt modelId="{5409CD34-C29C-474A-B8F3-E25501EC8C77}" type="pres">
      <dgm:prSet presAssocID="{64E26952-DC7E-4FD5-AC0C-5C9410FEB9EE}" presName="linear" presStyleCnt="0">
        <dgm:presLayoutVars>
          <dgm:animLvl val="lvl"/>
          <dgm:resizeHandles val="exact"/>
        </dgm:presLayoutVars>
      </dgm:prSet>
      <dgm:spPr/>
    </dgm:pt>
    <dgm:pt modelId="{27BD643E-FD35-4BC9-9542-3AA5C2D96C6C}" type="pres">
      <dgm:prSet presAssocID="{CEEEFB1D-8A0E-45F8-9938-4EBAA5CBB44B}" presName="parentText" presStyleLbl="node1" presStyleIdx="0" presStyleCnt="2">
        <dgm:presLayoutVars>
          <dgm:chMax val="0"/>
          <dgm:bulletEnabled val="1"/>
        </dgm:presLayoutVars>
      </dgm:prSet>
      <dgm:spPr/>
    </dgm:pt>
    <dgm:pt modelId="{E821FEA1-35F7-47E2-B7D2-C5BFE87B64C6}" type="pres">
      <dgm:prSet presAssocID="{6F007490-AD76-48D9-BA5B-8137E6C89F00}" presName="spacer" presStyleCnt="0"/>
      <dgm:spPr/>
    </dgm:pt>
    <dgm:pt modelId="{3F0D40FD-D86A-4B4E-96DA-80BFD2392A6E}" type="pres">
      <dgm:prSet presAssocID="{A8F9DE9D-AB44-47B1-B02B-82EC7DD9EB22}" presName="parentText" presStyleLbl="node1" presStyleIdx="1" presStyleCnt="2">
        <dgm:presLayoutVars>
          <dgm:chMax val="0"/>
          <dgm:bulletEnabled val="1"/>
        </dgm:presLayoutVars>
      </dgm:prSet>
      <dgm:spPr/>
    </dgm:pt>
  </dgm:ptLst>
  <dgm:cxnLst>
    <dgm:cxn modelId="{6237DC2B-83AD-4416-A836-9B4EDFAABF08}" type="presOf" srcId="{A8F9DE9D-AB44-47B1-B02B-82EC7DD9EB22}" destId="{3F0D40FD-D86A-4B4E-96DA-80BFD2392A6E}" srcOrd="0" destOrd="0" presId="urn:microsoft.com/office/officeart/2005/8/layout/vList2"/>
    <dgm:cxn modelId="{A329BB2F-1D66-43AB-A828-6EDE78AE883C}" srcId="{64E26952-DC7E-4FD5-AC0C-5C9410FEB9EE}" destId="{CEEEFB1D-8A0E-45F8-9938-4EBAA5CBB44B}" srcOrd="0" destOrd="0" parTransId="{14BA9DD5-D4F7-4A17-A217-F3906B25C1AB}" sibTransId="{6F007490-AD76-48D9-BA5B-8137E6C89F00}"/>
    <dgm:cxn modelId="{997BD436-42E6-488C-8FE5-A789AE2FABEE}" type="presOf" srcId="{64E26952-DC7E-4FD5-AC0C-5C9410FEB9EE}" destId="{5409CD34-C29C-474A-B8F3-E25501EC8C77}" srcOrd="0" destOrd="0" presId="urn:microsoft.com/office/officeart/2005/8/layout/vList2"/>
    <dgm:cxn modelId="{4B7BA340-A677-4637-8BBD-165F5ACD0920}" srcId="{64E26952-DC7E-4FD5-AC0C-5C9410FEB9EE}" destId="{A8F9DE9D-AB44-47B1-B02B-82EC7DD9EB22}" srcOrd="1" destOrd="0" parTransId="{C41909A0-C02D-4857-BA04-BB11AC21A756}" sibTransId="{C244F86B-43DD-450F-A12B-AC1872F88802}"/>
    <dgm:cxn modelId="{A08C81B0-161C-4290-B816-7D4EB68C1E7E}" type="presOf" srcId="{CEEEFB1D-8A0E-45F8-9938-4EBAA5CBB44B}" destId="{27BD643E-FD35-4BC9-9542-3AA5C2D96C6C}" srcOrd="0" destOrd="0" presId="urn:microsoft.com/office/officeart/2005/8/layout/vList2"/>
    <dgm:cxn modelId="{A63C23D1-3E45-46B4-84C3-E0C0BD6C38A1}" type="presParOf" srcId="{5409CD34-C29C-474A-B8F3-E25501EC8C77}" destId="{27BD643E-FD35-4BC9-9542-3AA5C2D96C6C}" srcOrd="0" destOrd="0" presId="urn:microsoft.com/office/officeart/2005/8/layout/vList2"/>
    <dgm:cxn modelId="{E0C12DA9-551F-4C29-87F4-74E21DB3394E}" type="presParOf" srcId="{5409CD34-C29C-474A-B8F3-E25501EC8C77}" destId="{E821FEA1-35F7-47E2-B7D2-C5BFE87B64C6}" srcOrd="1" destOrd="0" presId="urn:microsoft.com/office/officeart/2005/8/layout/vList2"/>
    <dgm:cxn modelId="{0F105246-B480-41FF-AAB1-7ECC0E519ED0}" type="presParOf" srcId="{5409CD34-C29C-474A-B8F3-E25501EC8C77}" destId="{3F0D40FD-D86A-4B4E-96DA-80BFD2392A6E}" srcOrd="2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1A679063-8026-484F-8363-3C006581EB2D}">
      <dsp:nvSpPr>
        <dsp:cNvPr id="0" name=""/>
        <dsp:cNvSpPr/>
      </dsp:nvSpPr>
      <dsp:spPr>
        <a:xfrm>
          <a:off x="497863" y="1196617"/>
          <a:ext cx="535253" cy="535253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48B6136-B86A-4B32-9C3C-F86000849C75}">
      <dsp:nvSpPr>
        <dsp:cNvPr id="0" name=""/>
        <dsp:cNvSpPr/>
      </dsp:nvSpPr>
      <dsp:spPr>
        <a:xfrm>
          <a:off x="841" y="1816070"/>
          <a:ext cx="1529296" cy="39427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en-US" sz="1400" kern="1200"/>
            <a:t>Recognize Cues</a:t>
          </a:r>
        </a:p>
      </dsp:txBody>
      <dsp:txXfrm>
        <a:off x="841" y="1816070"/>
        <a:ext cx="1529296" cy="394271"/>
      </dsp:txXfrm>
    </dsp:sp>
    <dsp:sp modelId="{72B354E0-BD25-498C-A498-4C2ED9751F72}">
      <dsp:nvSpPr>
        <dsp:cNvPr id="0" name=""/>
        <dsp:cNvSpPr/>
      </dsp:nvSpPr>
      <dsp:spPr>
        <a:xfrm>
          <a:off x="841" y="2249504"/>
          <a:ext cx="1529296" cy="90521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/>
            <a:t>What assessment findings require follow-up?</a:t>
          </a:r>
        </a:p>
      </dsp:txBody>
      <dsp:txXfrm>
        <a:off x="841" y="2249504"/>
        <a:ext cx="1529296" cy="905215"/>
      </dsp:txXfrm>
    </dsp:sp>
    <dsp:sp modelId="{48057018-1E9F-4960-867F-D13C4AA24ED7}">
      <dsp:nvSpPr>
        <dsp:cNvPr id="0" name=""/>
        <dsp:cNvSpPr/>
      </dsp:nvSpPr>
      <dsp:spPr>
        <a:xfrm>
          <a:off x="2294787" y="1196617"/>
          <a:ext cx="535253" cy="535253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6B1E20A3-5875-45BB-9069-70DB65ACE5F8}">
      <dsp:nvSpPr>
        <dsp:cNvPr id="0" name=""/>
        <dsp:cNvSpPr/>
      </dsp:nvSpPr>
      <dsp:spPr>
        <a:xfrm>
          <a:off x="1797765" y="1816070"/>
          <a:ext cx="1529296" cy="39427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en-US" sz="1400" kern="1200"/>
            <a:t>Analyze Cues</a:t>
          </a:r>
        </a:p>
      </dsp:txBody>
      <dsp:txXfrm>
        <a:off x="1797765" y="1816070"/>
        <a:ext cx="1529296" cy="394271"/>
      </dsp:txXfrm>
    </dsp:sp>
    <dsp:sp modelId="{FFAEF813-31D4-4966-A945-3B25998F968E}">
      <dsp:nvSpPr>
        <dsp:cNvPr id="0" name=""/>
        <dsp:cNvSpPr/>
      </dsp:nvSpPr>
      <dsp:spPr>
        <a:xfrm>
          <a:off x="1797765" y="2249504"/>
          <a:ext cx="1529296" cy="90521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/>
            <a:t>What are the potential complications for this client?</a:t>
          </a:r>
        </a:p>
      </dsp:txBody>
      <dsp:txXfrm>
        <a:off x="1797765" y="2249504"/>
        <a:ext cx="1529296" cy="905215"/>
      </dsp:txXfrm>
    </dsp:sp>
    <dsp:sp modelId="{53F6CB36-EA4D-4F92-B12B-52EC786628C4}">
      <dsp:nvSpPr>
        <dsp:cNvPr id="0" name=""/>
        <dsp:cNvSpPr/>
      </dsp:nvSpPr>
      <dsp:spPr>
        <a:xfrm>
          <a:off x="4091711" y="1196617"/>
          <a:ext cx="535253" cy="535253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678EBCE-1365-4496-BBC1-F9AD192112BE}">
      <dsp:nvSpPr>
        <dsp:cNvPr id="0" name=""/>
        <dsp:cNvSpPr/>
      </dsp:nvSpPr>
      <dsp:spPr>
        <a:xfrm>
          <a:off x="3594689" y="1816070"/>
          <a:ext cx="1529296" cy="39427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en-US" sz="1400" kern="1200"/>
            <a:t>Prioritize Hypotheses</a:t>
          </a:r>
        </a:p>
      </dsp:txBody>
      <dsp:txXfrm>
        <a:off x="3594689" y="1816070"/>
        <a:ext cx="1529296" cy="394271"/>
      </dsp:txXfrm>
    </dsp:sp>
    <dsp:sp modelId="{1B7D4B7F-B901-4CAF-81D9-3176066E29CD}">
      <dsp:nvSpPr>
        <dsp:cNvPr id="0" name=""/>
        <dsp:cNvSpPr/>
      </dsp:nvSpPr>
      <dsp:spPr>
        <a:xfrm>
          <a:off x="3594689" y="2249504"/>
          <a:ext cx="1529296" cy="90521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/>
            <a:t>What is the client at highest risk for due to which findings?</a:t>
          </a:r>
        </a:p>
      </dsp:txBody>
      <dsp:txXfrm>
        <a:off x="3594689" y="2249504"/>
        <a:ext cx="1529296" cy="905215"/>
      </dsp:txXfrm>
    </dsp:sp>
    <dsp:sp modelId="{3C4DC8D5-D8CE-4E2C-8E68-B8E82BFF94A4}">
      <dsp:nvSpPr>
        <dsp:cNvPr id="0" name=""/>
        <dsp:cNvSpPr/>
      </dsp:nvSpPr>
      <dsp:spPr>
        <a:xfrm>
          <a:off x="5888634" y="1196617"/>
          <a:ext cx="535253" cy="535253"/>
        </a:xfrm>
        <a:prstGeom prst="rect">
          <a:avLst/>
        </a:prstGeom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669B8068-E150-4D9D-9E54-1005CA293D3E}">
      <dsp:nvSpPr>
        <dsp:cNvPr id="0" name=""/>
        <dsp:cNvSpPr/>
      </dsp:nvSpPr>
      <dsp:spPr>
        <a:xfrm>
          <a:off x="5391613" y="1816070"/>
          <a:ext cx="1529296" cy="39427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en-US" sz="1400" kern="1200"/>
            <a:t>Generate Solutions</a:t>
          </a:r>
        </a:p>
      </dsp:txBody>
      <dsp:txXfrm>
        <a:off x="5391613" y="1816070"/>
        <a:ext cx="1529296" cy="394271"/>
      </dsp:txXfrm>
    </dsp:sp>
    <dsp:sp modelId="{2EA28A19-1B42-4B29-8AE8-1AD5FFD9A358}">
      <dsp:nvSpPr>
        <dsp:cNvPr id="0" name=""/>
        <dsp:cNvSpPr/>
      </dsp:nvSpPr>
      <dsp:spPr>
        <a:xfrm>
          <a:off x="5391613" y="2249504"/>
          <a:ext cx="1529296" cy="90521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/>
            <a:t>What medications/treatment  do you anticipate for this client?</a:t>
          </a:r>
        </a:p>
      </dsp:txBody>
      <dsp:txXfrm>
        <a:off x="5391613" y="2249504"/>
        <a:ext cx="1529296" cy="905215"/>
      </dsp:txXfrm>
    </dsp:sp>
    <dsp:sp modelId="{187BABB0-FFCB-4978-BDD7-7E24EED010FF}">
      <dsp:nvSpPr>
        <dsp:cNvPr id="0" name=""/>
        <dsp:cNvSpPr/>
      </dsp:nvSpPr>
      <dsp:spPr>
        <a:xfrm>
          <a:off x="7685558" y="1196617"/>
          <a:ext cx="535253" cy="535253"/>
        </a:xfrm>
        <a:prstGeom prst="rect">
          <a:avLst/>
        </a:prstGeom>
        <a:blipFill>
          <a:blip xmlns:r="http://schemas.openxmlformats.org/officeDocument/2006/relationships"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5FFA979-7C11-4846-9F56-5F32DA514A68}">
      <dsp:nvSpPr>
        <dsp:cNvPr id="0" name=""/>
        <dsp:cNvSpPr/>
      </dsp:nvSpPr>
      <dsp:spPr>
        <a:xfrm>
          <a:off x="7188537" y="1816070"/>
          <a:ext cx="1529296" cy="39427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en-US" sz="1400" kern="1200"/>
            <a:t>Take Action</a:t>
          </a:r>
        </a:p>
      </dsp:txBody>
      <dsp:txXfrm>
        <a:off x="7188537" y="1816070"/>
        <a:ext cx="1529296" cy="394271"/>
      </dsp:txXfrm>
    </dsp:sp>
    <dsp:sp modelId="{278C59E5-AEEA-444E-858A-15BEE3AF5622}">
      <dsp:nvSpPr>
        <dsp:cNvPr id="0" name=""/>
        <dsp:cNvSpPr/>
      </dsp:nvSpPr>
      <dsp:spPr>
        <a:xfrm>
          <a:off x="7188537" y="2249504"/>
          <a:ext cx="1529296" cy="90521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/>
            <a:t>What actions do you anticipate to prioritize in the plan of care?</a:t>
          </a:r>
        </a:p>
      </dsp:txBody>
      <dsp:txXfrm>
        <a:off x="7188537" y="2249504"/>
        <a:ext cx="1529296" cy="905215"/>
      </dsp:txXfrm>
    </dsp:sp>
    <dsp:sp modelId="{7D4CA827-0E68-4206-90E9-D8A6E0A20565}">
      <dsp:nvSpPr>
        <dsp:cNvPr id="0" name=""/>
        <dsp:cNvSpPr/>
      </dsp:nvSpPr>
      <dsp:spPr>
        <a:xfrm>
          <a:off x="9482482" y="1196617"/>
          <a:ext cx="535253" cy="535253"/>
        </a:xfrm>
        <a:prstGeom prst="rect">
          <a:avLst/>
        </a:prstGeom>
        <a:blipFill>
          <a:blip xmlns:r="http://schemas.openxmlformats.org/officeDocument/2006/relationships" r:embed="rId1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35F54AA-C25D-48C7-87C3-CA1759C454DF}">
      <dsp:nvSpPr>
        <dsp:cNvPr id="0" name=""/>
        <dsp:cNvSpPr/>
      </dsp:nvSpPr>
      <dsp:spPr>
        <a:xfrm>
          <a:off x="8985461" y="1816070"/>
          <a:ext cx="1529296" cy="39427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en-US" sz="1400" kern="1200"/>
            <a:t>Evaluate Outcomes</a:t>
          </a:r>
        </a:p>
      </dsp:txBody>
      <dsp:txXfrm>
        <a:off x="8985461" y="1816070"/>
        <a:ext cx="1529296" cy="394271"/>
      </dsp:txXfrm>
    </dsp:sp>
    <dsp:sp modelId="{7430683D-A6DA-4E81-BF5B-31440CBF3B5B}">
      <dsp:nvSpPr>
        <dsp:cNvPr id="0" name=""/>
        <dsp:cNvSpPr/>
      </dsp:nvSpPr>
      <dsp:spPr>
        <a:xfrm>
          <a:off x="8985461" y="2249504"/>
          <a:ext cx="1529296" cy="90521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/>
            <a:t>What parameters should be monitored to evaluate client outcomes?</a:t>
          </a:r>
        </a:p>
      </dsp:txBody>
      <dsp:txXfrm>
        <a:off x="8985461" y="2249504"/>
        <a:ext cx="1529296" cy="905215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27BD643E-FD35-4BC9-9542-3AA5C2D96C6C}">
      <dsp:nvSpPr>
        <dsp:cNvPr id="0" name=""/>
        <dsp:cNvSpPr/>
      </dsp:nvSpPr>
      <dsp:spPr>
        <a:xfrm>
          <a:off x="0" y="445644"/>
          <a:ext cx="5453543" cy="142974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9060" tIns="99060" rIns="99060" bIns="99060" numCol="1" spcCol="1270" anchor="ctr" anchorCtr="0">
          <a:noAutofit/>
        </a:bodyPr>
        <a:lstStyle/>
        <a:p>
          <a:pPr marL="0" lvl="0" indent="0" algn="l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600" kern="1200" dirty="0"/>
            <a:t>A 2-month-old infant brought into the pediatrician’s office for a well-child visit. Mom has additional concerns.</a:t>
          </a:r>
        </a:p>
      </dsp:txBody>
      <dsp:txXfrm>
        <a:off x="69794" y="515438"/>
        <a:ext cx="5313955" cy="1290152"/>
      </dsp:txXfrm>
    </dsp:sp>
    <dsp:sp modelId="{3F0D40FD-D86A-4B4E-96DA-80BFD2392A6E}">
      <dsp:nvSpPr>
        <dsp:cNvPr id="0" name=""/>
        <dsp:cNvSpPr/>
      </dsp:nvSpPr>
      <dsp:spPr>
        <a:xfrm>
          <a:off x="0" y="1950264"/>
          <a:ext cx="5453543" cy="142974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9060" tIns="99060" rIns="99060" bIns="99060" numCol="1" spcCol="1270" anchor="ctr" anchorCtr="0">
          <a:noAutofit/>
        </a:bodyPr>
        <a:lstStyle/>
        <a:p>
          <a:pPr marL="0" lvl="0" indent="0" algn="l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600" kern="1200" dirty="0"/>
            <a:t>Which of the assessment findings require follow-up?</a:t>
          </a:r>
        </a:p>
      </dsp:txBody>
      <dsp:txXfrm>
        <a:off x="69794" y="2020058"/>
        <a:ext cx="5313955" cy="1290152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18/5/layout/CenteredIconLabelDescriptionList">
  <dgm:title val="Centered Icon Label Description List"/>
  <dgm:desc val="Use to show non-sequential or grouped chunks of information. The placeholder holds an icon or small picture, and corresponding text boxes show Level 1 and Level 2 text respectively. Works well for minimal Level 1 text accompanied by lengthier Level two text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/>
      </dgm:if>
      <dgm:else name="Name2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compNode" refType="h" fact="0.45"/>
      <dgm:constr type="w" for="ch" forName="compNode" val="120"/>
      <dgm:constr type="w" for="ch" forName="sibTrans" refType="w" refFor="ch" refForName="compNode" fact="0.175"/>
      <dgm:constr type="primFontSz" for="des" forName="parTx" val="36"/>
      <dgm:constr type="primFontSz" for="des" forName="desTx" refType="primFontSz" refFor="des" refForName="parTx" op="lte" fact="0.75"/>
      <dgm:constr type="h" for="des" forName="compNode" op="equ"/>
      <dgm:constr type="h" for="des" forName="iconRect" op="equ"/>
      <dgm:constr type="w" for="des" forName="iconRect" op="equ"/>
      <dgm:constr type="h" for="des" forName="iconSpace" op="equ"/>
      <dgm:constr type="h" for="des" forName="parTx" op="equ"/>
      <dgm:constr type="h" for="des" forName="txSpace" op="equ"/>
      <dgm:constr type="h" for="des" forName="desTx" op="equ"/>
    </dgm:constrLst>
    <dgm:ruleLst>
      <dgm:rule type="w" for="ch" forName="compNode" val="0" fact="NaN" max="NaN"/>
    </dgm:ruleLst>
    <dgm:forEach name="Name3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Rect" refType="w" fact="0.35"/>
          <dgm:constr type="h" for="ch" forName="iconRect" refType="w" refFor="ch" refForName="iconRect"/>
          <dgm:constr type="ctrX" for="ch" forName="iconRect" refType="w" fact="0.5"/>
          <dgm:constr type="t" for="ch" forName="iconRect"/>
          <dgm:constr type="w" for="ch" forName="iconSpace" refType="w"/>
          <dgm:constr type="h" for="ch" forName="iconSpace" refType="h" fact="0.043"/>
          <dgm:constr type="l" for="ch" forName="iconSpace"/>
          <dgm:constr type="t" for="ch" forName="iconSpace" refType="b" refFor="ch" refForName="iconRect"/>
          <dgm:constr type="w" for="ch" forName="parTx" refType="w"/>
          <dgm:constr type="h" for="ch" forName="parTx" refType="w" fact="0.15"/>
          <dgm:constr type="l" for="ch" forName="parTx"/>
          <dgm:constr type="t" for="ch" forName="parTx" refType="b" refFor="ch" refForName="iconSpace"/>
          <dgm:constr type="h" for="ch" forName="txSpace" refType="h" fact="0.02"/>
          <dgm:constr type="w" for="ch" forName="txSpace" refType="w"/>
          <dgm:constr type="l" for="ch" forName="txSpace"/>
          <dgm:constr type="t" for="ch" forName="txSpace" refType="b" refFor="ch" refForName="parTx"/>
          <dgm:constr type="w" for="ch" forName="desTx" refType="w"/>
          <dgm:constr type="l" for="ch" forName="desTx"/>
          <dgm:constr type="t" for="ch" forName="desTx" refType="b" refFor="ch" refForName="txSpace"/>
        </dgm:constrLst>
        <dgm:ruleLst>
          <dgm:rule type="h" val="INF" fact="NaN" max="NaN"/>
        </dgm:ruleLst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icon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4" fact="NaN" max="NaN"/>
            <dgm:rule type="h" val="INF" fact="NaN" max="NaN"/>
          </dgm:ruleLst>
        </dgm:layoutNode>
        <dgm:layoutNode name="tx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desTx" styleLbl="revTx">
          <dgm:varLst/>
          <dgm:alg type="tx">
            <dgm:param type="stBulletLvl" val="0"/>
            <dgm:param type="txAnchorVert" val="t"/>
          </dgm:alg>
          <dgm:shape xmlns:r="http://schemas.openxmlformats.org/officeDocument/2006/relationships" type="rect" r:blip="">
            <dgm:adjLst/>
          </dgm:shape>
          <dgm:presOf axis="des" ptType="node"/>
          <dgm:constrLst>
            <dgm:constr type="secFontSz" refType="primFontSz"/>
            <dgm:constr type="lMarg"/>
            <dgm:constr type="rMarg"/>
            <dgm:constr type="tMarg"/>
            <dgm:constr type="bMarg"/>
          </dgm:constrLst>
          <dgm:ruleLst>
            <dgm:rule type="primFontSz" val="NaN" fact="NaN" max="17"/>
            <dgm:rule type="h" val="INF" fact="NaN" max="NaN"/>
          </dgm:ruleLst>
        </dgm:layoutNode>
      </dgm:layoutNode>
      <dgm:forEach name="Name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  <a:defRPr b="1"/>
        </a:lvl1pPr>
        <a:lvl2pPr>
          <a:lnSpc>
            <a:spcPct val="100000"/>
          </a:lnSpc>
        </a:lvl2pPr>
      </dgm1612:lstStyle>
    </a:ext>
  </dgm:extLst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31EE606-6381-4E74-8363-E0D6C02C0502}" type="datetimeFigureOut">
              <a:rPr lang="en-US" smtClean="0"/>
              <a:t>6/24/2025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68A1954-494D-4093-A1F7-E0EFA662196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2330985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youtube.com/watch?v=lIE_UElOk3c" TargetMode="External"/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Added to case study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3ABE178-C9B0-4A01-81A5-DDB9AECB0707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2349536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buFontTx/>
              <a:buNone/>
            </a:pPr>
            <a:r>
              <a:rPr lang="en-GB" sz="1200" i="0" baseline="0" dirty="0"/>
              <a:t>Is the CXR normal?</a:t>
            </a:r>
          </a:p>
          <a:p>
            <a:pPr>
              <a:buFontTx/>
              <a:buNone/>
            </a:pPr>
            <a:r>
              <a:rPr lang="en-GB" sz="1200" i="0" baseline="0" dirty="0"/>
              <a:t>Hyperinflation, patchy infiltrates and a large thymus – the thymus gradually disappears between 2 and 8 years of age.</a:t>
            </a:r>
          </a:p>
          <a:p>
            <a:pPr>
              <a:buFontTx/>
              <a:buNone/>
            </a:pPr>
            <a:endParaRPr lang="en-GB" sz="1200" i="0" baseline="0" dirty="0"/>
          </a:p>
          <a:p>
            <a:pPr>
              <a:buFontTx/>
              <a:buNone/>
            </a:pPr>
            <a:r>
              <a:rPr lang="en-GB" sz="1200" i="0" baseline="0" dirty="0"/>
              <a:t>The likely diagnosis is bronchiolitis.</a:t>
            </a:r>
          </a:p>
          <a:p>
            <a:pPr>
              <a:buFontTx/>
              <a:buNone/>
            </a:pPr>
            <a:endParaRPr lang="en-GB" sz="1200" i="0" baseline="0" dirty="0"/>
          </a:p>
          <a:p>
            <a:pPr>
              <a:buFontTx/>
              <a:buNone/>
            </a:pPr>
            <a:r>
              <a:rPr lang="en-GB" sz="1200" i="0" baseline="0" dirty="0"/>
              <a:t>CXR </a:t>
            </a:r>
            <a:r>
              <a:rPr lang="en-GB" sz="1200" i="1" baseline="0" dirty="0"/>
              <a:t>findings in bronchiolitis include non-specific patchy infiltration and  </a:t>
            </a:r>
            <a:r>
              <a:rPr lang="en-GB" sz="1200" i="1" baseline="0" dirty="0" err="1"/>
              <a:t>hyperinfiltration</a:t>
            </a:r>
            <a:r>
              <a:rPr lang="en-GB" sz="1200" i="1" baseline="0" dirty="0"/>
              <a:t>, focal atelectasis, air trapping and diaphragmatic flattening)</a:t>
            </a:r>
          </a:p>
          <a:p>
            <a:pPr>
              <a:buFontTx/>
              <a:buNone/>
            </a:pPr>
            <a:endParaRPr lang="en-GB" sz="1200" dirty="0"/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68A1954-494D-4093-A1F7-E0EFA6621960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687203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All viral, no bacterial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68A1954-494D-4093-A1F7-E0EFA6621960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27202663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Vital signs, Lab values, hemodynamic status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68A1954-494D-4093-A1F7-E0EFA6621960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82856994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Vital signs, Lab values, hemodynamic status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68A1954-494D-4093-A1F7-E0EFA6621960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9719641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7 </a:t>
            </a:r>
            <a:r>
              <a:rPr lang="en-US" dirty="0" err="1"/>
              <a:t>lb</a:t>
            </a:r>
            <a:r>
              <a:rPr lang="en-US" dirty="0"/>
              <a:t> 9.6 oz = 9.6/16 = 0.6 + 7 = 7.6/2/2 = 3.45 kg 3.45(100) = 345 ml/kg/day divided by 24 = 14.4 ml/</a:t>
            </a:r>
            <a:r>
              <a:rPr lang="en-US" dirty="0" err="1"/>
              <a:t>hr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68A1954-494D-4093-A1F7-E0EFA6621960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3438828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68A1954-494D-4093-A1F7-E0EFA6621960}" type="slidenum">
              <a:rPr lang="en-US" smtClean="0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52845064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68A1954-494D-4093-A1F7-E0EFA6621960}" type="slidenum">
              <a:rPr lang="en-US" smtClean="0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46281540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200" dirty="0">
                <a:hlinkClick r:id="rId3"/>
              </a:rPr>
              <a:t>https://www.youtube.com/watch?v=lIE_UElOk3c</a:t>
            </a:r>
            <a:endParaRPr lang="en-US" sz="1200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sz="1200" dirty="0"/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EAD0A33-0C33-405B-ADA8-BD39D9FECF82}" type="slidenum">
              <a:rPr lang="en-US" smtClean="0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4026067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956C222-9F4F-406A-6D62-0B61B7AE6B1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CEECAFC-C7CC-4891-6ABA-0B999842CA4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14D7705-4469-C4D4-E5B9-A89B151B881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B3C496-6A38-40DC-A392-FB0E1B959F17}" type="datetimeFigureOut">
              <a:rPr lang="en-US" smtClean="0"/>
              <a:t>6/24/2025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6A2FFE3-7C43-8F0C-4E3E-F8308181BB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242B2B6-53FC-3FEE-3294-353FCF4234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B36F79-7669-44B7-ACAB-04A3D1DB420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193470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D0EC186-1353-D50C-954D-7FA40B429FE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0D4332B-218F-4BEA-CDF1-C881DDEB305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3FE83BC-8C07-EC04-A6E5-875A5981E96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B3C496-6A38-40DC-A392-FB0E1B959F17}" type="datetimeFigureOut">
              <a:rPr lang="en-US" smtClean="0"/>
              <a:t>6/24/2025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5D0C5EE-87B6-194A-D5D6-7DC48B0690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B092DFA-83AB-D19A-B431-B554AB9EFD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B36F79-7669-44B7-ACAB-04A3D1DB420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2074968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19820FA-3F04-F4F7-F8C6-1A0B8EF88D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F98789E-FA1C-62E4-B9EF-F6253DD9A9F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DF828AF-8F09-BF05-B5F8-1C53DAB08F1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B3C496-6A38-40DC-A392-FB0E1B959F17}" type="datetimeFigureOut">
              <a:rPr lang="en-US" smtClean="0"/>
              <a:t>6/24/2025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E22938E-859C-EB1E-7104-43036010943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4BA822B-26BC-97D8-D4F6-34E819A1DA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B36F79-7669-44B7-ACAB-04A3D1DB420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0288900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C984132-28AD-73CC-712C-0BBACD86A36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51D8500-E4F2-EEB9-5252-17D9AA634D3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92C9B0E-3463-AAD9-7167-6277D9D8E2A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2DE6373-CF4C-B5AE-F831-2D3B38377AA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B3C496-6A38-40DC-A392-FB0E1B959F17}" type="datetimeFigureOut">
              <a:rPr lang="en-US" smtClean="0"/>
              <a:t>6/24/2025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3708845-645C-69CA-ADE5-9D5DA3C9DD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C8C5041-8EA2-608D-2C70-5992C25398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B36F79-7669-44B7-ACAB-04A3D1DB420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7781311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E692DC-1A74-6144-4E83-8D6BA587311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CFCB5B4-535B-8B97-F33C-E5858476626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614D5F8-EECA-F515-F29B-9F7E0747EFC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D3C5853C-E507-A60D-4339-54BA622A437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A812F2C4-7AA6-121E-C1BB-A92663F6872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D4330183-DEB6-7BC4-C3C5-A69363D8CB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B3C496-6A38-40DC-A392-FB0E1B959F17}" type="datetimeFigureOut">
              <a:rPr lang="en-US" smtClean="0"/>
              <a:t>6/24/2025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8C2C293-4CA4-CD11-CAED-0B04E845A9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615A7DE8-7327-D3C6-EEF0-296B6762ED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B36F79-7669-44B7-ACAB-04A3D1DB420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9925112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0F9104-641A-B23C-CF46-4A6FFB54998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1E8A2F2-CBF4-284B-9ED1-B80F1512CC0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B3C496-6A38-40DC-A392-FB0E1B959F17}" type="datetimeFigureOut">
              <a:rPr lang="en-US" smtClean="0"/>
              <a:t>6/24/2025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C1636E8-7444-37D7-24E0-3CD0588F5F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36C3DDD-62D4-7374-6780-5C5ABD01B0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B36F79-7669-44B7-ACAB-04A3D1DB420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6754666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31591407-CA52-22C1-2D0D-12A31E32232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B3C496-6A38-40DC-A392-FB0E1B959F17}" type="datetimeFigureOut">
              <a:rPr lang="en-US" smtClean="0"/>
              <a:t>6/24/2025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4D0BE2D-DB0A-10A1-3934-0BA0223B67A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9D9138A-306C-E2C4-6050-6DB2CF9B41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B36F79-7669-44B7-ACAB-04A3D1DB420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2742168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16C72D-9AFE-C3F0-AC50-A5873ABAB0D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4C672BC-6168-1F97-4A36-07C47E17120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F5B7A6A-88F9-3901-82F0-4AD981712F5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3C2D6B3-7A36-285F-FCB9-273E24B926B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B3C496-6A38-40DC-A392-FB0E1B959F17}" type="datetimeFigureOut">
              <a:rPr lang="en-US" smtClean="0"/>
              <a:t>6/24/2025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BEE1707-6B0F-0049-CCB0-68C2ACE1B1F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59E3443-17A3-B2E1-C404-DBBE1B5B68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B36F79-7669-44B7-ACAB-04A3D1DB420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1535938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485CDF-969B-A1A6-A564-805918F7596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CED3A673-8ABA-2CC2-7D29-3230D322856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287E051-71A2-6A1C-6131-D816A3576E5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DB9F118-2D76-4767-1FBF-70E1795C363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B3C496-6A38-40DC-A392-FB0E1B959F17}" type="datetimeFigureOut">
              <a:rPr lang="en-US" smtClean="0"/>
              <a:t>6/24/2025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F1796CE-7A6C-F68A-85E5-AA499493F1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DA87E63-88A4-E8E4-80B9-764F09FD72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B36F79-7669-44B7-ACAB-04A3D1DB420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9204231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575BA5-9508-9202-EA5F-BDAF2735F39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F6CD312-E7B8-1DCD-2ABE-E0EB44B5D35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A15258C-E5FA-70F9-0341-BD183A7BA36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B3C496-6A38-40DC-A392-FB0E1B959F17}" type="datetimeFigureOut">
              <a:rPr lang="en-US" smtClean="0"/>
              <a:t>6/24/2025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6F87DD9-7C83-D026-4861-0FF57A4B49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820B794-F5D0-DB31-34DC-89AF88AAE2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B36F79-7669-44B7-ACAB-04A3D1DB420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0805244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8D79FE58-46C0-F404-C2D5-7ECB8EB6689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78D7EB7-A770-C0AA-71A2-76437D79A81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75761F5-240E-C93F-F435-5DD331E260B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B3C496-6A38-40DC-A392-FB0E1B959F17}" type="datetimeFigureOut">
              <a:rPr lang="en-US" smtClean="0"/>
              <a:t>6/24/2025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E1CECCA-F65E-769C-6628-F2A1AAED88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44FD926-8311-3838-4524-59F6E05639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B36F79-7669-44B7-ACAB-04A3D1DB420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0075733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A40BE384-D169-5324-39D8-F7BF6E6BBC3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4638897-27D9-0B8D-F303-312D9B89B2A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84BABF8-14DD-59C9-A005-960BF3F169D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B3C496-6A38-40DC-A392-FB0E1B959F17}" type="datetimeFigureOut">
              <a:rPr lang="en-US" smtClean="0"/>
              <a:t>6/24/2025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2325605-E577-F4DC-AC29-36D572B1F49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C8732CC-00A9-64DA-0DEB-C7F52158304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EB36F79-7669-44B7-ACAB-04A3D1DB420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8922626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6.xml"/><Relationship Id="rId1" Type="http://schemas.openxmlformats.org/officeDocument/2006/relationships/video" Target="https://www.youtube.com/embed/oOrty5PfhTY?feature=oembed" TargetMode="External"/><Relationship Id="rId4" Type="http://schemas.openxmlformats.org/officeDocument/2006/relationships/image" Target="../media/image14.jpe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9.xml"/><Relationship Id="rId2" Type="http://schemas.openxmlformats.org/officeDocument/2006/relationships/slideLayout" Target="../slideLayouts/slideLayout9.xml"/><Relationship Id="rId1" Type="http://schemas.openxmlformats.org/officeDocument/2006/relationships/video" Target="https://www.youtube.com/embed/lIE_UElOk3c?feature=oembed" TargetMode="External"/><Relationship Id="rId4" Type="http://schemas.openxmlformats.org/officeDocument/2006/relationships/image" Target="../media/image17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71B2258F-86CA-4D4D-8270-BC05FCDEBFB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7999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FDD8985F-24FC-757E-88AF-0921AD0350CF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alphaModFix amt="50000"/>
          </a:blip>
          <a:srcRect b="14773"/>
          <a:stretch/>
        </p:blipFill>
        <p:spPr>
          <a:xfrm>
            <a:off x="20" y="1"/>
            <a:ext cx="12191980" cy="6857999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CE935A96-A0C5-E612-B5CB-2DF2545EB0C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2"/>
            <a:ext cx="9144000" cy="2900518"/>
          </a:xfrm>
        </p:spPr>
        <p:txBody>
          <a:bodyPr>
            <a:normAutofit/>
          </a:bodyPr>
          <a:lstStyle/>
          <a:p>
            <a:r>
              <a:rPr lang="en-US">
                <a:solidFill>
                  <a:srgbClr val="FFFFFF"/>
                </a:solidFill>
              </a:rPr>
              <a:t>Pediatric Unfolding Case Study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4253FFB-2F84-8C78-479D-660215E477C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4159404"/>
            <a:ext cx="9144000" cy="1098395"/>
          </a:xfrm>
        </p:spPr>
        <p:txBody>
          <a:bodyPr>
            <a:normAutofit/>
          </a:bodyPr>
          <a:lstStyle/>
          <a:p>
            <a:r>
              <a:rPr lang="en-US" sz="4400" dirty="0">
                <a:solidFill>
                  <a:srgbClr val="FFFF00"/>
                </a:solidFill>
              </a:rPr>
              <a:t>Respiratory</a:t>
            </a:r>
          </a:p>
        </p:txBody>
      </p:sp>
    </p:spTree>
    <p:extLst>
      <p:ext uri="{BB962C8B-B14F-4D97-AF65-F5344CB8AC3E}">
        <p14:creationId xmlns:p14="http://schemas.microsoft.com/office/powerpoint/2010/main" val="3642851289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8">
            <a:extLst>
              <a:ext uri="{FF2B5EF4-FFF2-40B4-BE49-F238E27FC236}">
                <a16:creationId xmlns:a16="http://schemas.microsoft.com/office/drawing/2014/main" id="{AE2B703B-46F9-481A-A605-82E2A828C4F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6C451B2-CAB2-EC9C-5A1B-1FE86AE8183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459863"/>
            <a:ext cx="10515600" cy="1004594"/>
          </a:xfrm>
        </p:spPr>
        <p:txBody>
          <a:bodyPr>
            <a:normAutofit/>
          </a:bodyPr>
          <a:lstStyle/>
          <a:p>
            <a:pPr algn="ctr"/>
            <a:r>
              <a:rPr lang="en-US" dirty="0">
                <a:solidFill>
                  <a:srgbClr val="FFFFFF"/>
                </a:solidFill>
              </a:rPr>
              <a:t>Clinical Judgment</a:t>
            </a:r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F13BE4D7-0C3D-4906-B230-A1C5B4665CC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79496" y="1587970"/>
            <a:ext cx="11033008" cy="4768380"/>
          </a:xfrm>
          <a:prstGeom prst="roundRect">
            <a:avLst>
              <a:gd name="adj" fmla="val 3174"/>
            </a:avLst>
          </a:prstGeom>
          <a:solidFill>
            <a:schemeClr val="bg1">
              <a:alpha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13" name="Content Placeholder 2">
            <a:extLst>
              <a:ext uri="{FF2B5EF4-FFF2-40B4-BE49-F238E27FC236}">
                <a16:creationId xmlns:a16="http://schemas.microsoft.com/office/drawing/2014/main" id="{5ADDD02D-0307-FEEA-D75D-B244BC81924A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158438126"/>
              </p:ext>
            </p:extLst>
          </p:nvPr>
        </p:nvGraphicFramePr>
        <p:xfrm>
          <a:off x="838200" y="1800911"/>
          <a:ext cx="10515600" cy="43513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43979706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A9B9AA-BACA-4110-AF25-BC1E396AEB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Recognize Cues</a:t>
            </a:r>
          </a:p>
        </p:txBody>
      </p:sp>
      <p:graphicFrame>
        <p:nvGraphicFramePr>
          <p:cNvPr id="11" name="Content Placeholder 2">
            <a:extLst>
              <a:ext uri="{FF2B5EF4-FFF2-40B4-BE49-F238E27FC236}">
                <a16:creationId xmlns:a16="http://schemas.microsoft.com/office/drawing/2014/main" id="{C8AFEA46-894D-14C7-A26E-115A0B5ED1A7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837121904"/>
              </p:ext>
            </p:extLst>
          </p:nvPr>
        </p:nvGraphicFramePr>
        <p:xfrm>
          <a:off x="642457" y="2351313"/>
          <a:ext cx="5453543" cy="3825649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1BBF3799-D404-4B39-BC32-4D07B1DFD87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85519533"/>
              </p:ext>
            </p:extLst>
          </p:nvPr>
        </p:nvGraphicFramePr>
        <p:xfrm>
          <a:off x="6497273" y="2192882"/>
          <a:ext cx="1317072" cy="360726"/>
        </p:xfrm>
        <a:graphic>
          <a:graphicData uri="http://schemas.openxmlformats.org/drawingml/2006/table">
            <a:tbl>
              <a:tblPr/>
              <a:tblGrid>
                <a:gridCol w="1317072">
                  <a:extLst>
                    <a:ext uri="{9D8B030D-6E8A-4147-A177-3AD203B41FA5}">
                      <a16:colId xmlns:a16="http://schemas.microsoft.com/office/drawing/2014/main" val="1439442341"/>
                    </a:ext>
                  </a:extLst>
                </a:gridCol>
              </a:tblGrid>
              <a:tr h="360726"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highlight>
                            <a:srgbClr val="00FFFF"/>
                          </a:highlight>
                        </a:rPr>
                        <a:t>Health History</a:t>
                      </a:r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30912633"/>
                  </a:ext>
                </a:extLst>
              </a:tr>
            </a:tbl>
          </a:graphicData>
        </a:graphic>
      </p:graphicFrame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976935D0-3BEF-4F4E-A2F9-11BC1F206B9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23392860"/>
              </p:ext>
            </p:extLst>
          </p:nvPr>
        </p:nvGraphicFramePr>
        <p:xfrm>
          <a:off x="7814345" y="2192882"/>
          <a:ext cx="1283515" cy="360726"/>
        </p:xfrm>
        <a:graphic>
          <a:graphicData uri="http://schemas.openxmlformats.org/drawingml/2006/table">
            <a:tbl>
              <a:tblPr/>
              <a:tblGrid>
                <a:gridCol w="1283515">
                  <a:extLst>
                    <a:ext uri="{9D8B030D-6E8A-4147-A177-3AD203B41FA5}">
                      <a16:colId xmlns:a16="http://schemas.microsoft.com/office/drawing/2014/main" val="2135328920"/>
                    </a:ext>
                  </a:extLst>
                </a:gridCol>
              </a:tblGrid>
              <a:tr h="360726"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Nurse’s Notes</a:t>
                      </a:r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94097254"/>
                  </a:ext>
                </a:extLst>
              </a:tr>
            </a:tbl>
          </a:graphicData>
        </a:graphic>
      </p:graphicFrame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B335FDD8-F681-4054-A661-A0682397D87C}"/>
              </a:ext>
            </a:extLst>
          </p:cNvPr>
          <p:cNvGraphicFramePr>
            <a:graphicFrameLocks noGrp="1"/>
          </p:cNvGraphicFramePr>
          <p:nvPr/>
        </p:nvGraphicFramePr>
        <p:xfrm>
          <a:off x="9097860" y="2192882"/>
          <a:ext cx="1510021" cy="365760"/>
        </p:xfrm>
        <a:graphic>
          <a:graphicData uri="http://schemas.openxmlformats.org/drawingml/2006/table">
            <a:tbl>
              <a:tblPr/>
              <a:tblGrid>
                <a:gridCol w="1510021">
                  <a:extLst>
                    <a:ext uri="{9D8B030D-6E8A-4147-A177-3AD203B41FA5}">
                      <a16:colId xmlns:a16="http://schemas.microsoft.com/office/drawing/2014/main" val="3694925794"/>
                    </a:ext>
                  </a:extLst>
                </a:gridCol>
              </a:tblGrid>
              <a:tr h="365760"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Imaging Studies</a:t>
                      </a:r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610425639"/>
                  </a:ext>
                </a:extLst>
              </a:tr>
            </a:tbl>
          </a:graphicData>
        </a:graphic>
      </p:graphicFrame>
      <p:graphicFrame>
        <p:nvGraphicFramePr>
          <p:cNvPr id="8" name="Table 7">
            <a:extLst>
              <a:ext uri="{FF2B5EF4-FFF2-40B4-BE49-F238E27FC236}">
                <a16:creationId xmlns:a16="http://schemas.microsoft.com/office/drawing/2014/main" id="{F1C41BE7-40CE-45B5-BDE3-4356113659E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72843271"/>
              </p:ext>
            </p:extLst>
          </p:nvPr>
        </p:nvGraphicFramePr>
        <p:xfrm>
          <a:off x="6506936" y="2558642"/>
          <a:ext cx="5610966" cy="3758268"/>
        </p:xfrm>
        <a:graphic>
          <a:graphicData uri="http://schemas.openxmlformats.org/drawingml/2006/table">
            <a:tbl>
              <a:tblPr/>
              <a:tblGrid>
                <a:gridCol w="5610966">
                  <a:extLst>
                    <a:ext uri="{9D8B030D-6E8A-4147-A177-3AD203B41FA5}">
                      <a16:colId xmlns:a16="http://schemas.microsoft.com/office/drawing/2014/main" val="3682952031"/>
                    </a:ext>
                  </a:extLst>
                </a:gridCol>
              </a:tblGrid>
              <a:tr h="3758268">
                <a:tc>
                  <a:txBody>
                    <a:bodyPr/>
                    <a:lstStyle/>
                    <a:p>
                      <a:pPr marL="285750" marR="0" lvl="0" indent="-2857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US" sz="1300" dirty="0"/>
                        <a:t>Born at 32 weeks’ gestation via spontaneous vaginal delivery</a:t>
                      </a:r>
                    </a:p>
                    <a:p>
                      <a:pPr marL="285750" marR="0" lvl="0" indent="-2857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US" sz="1300" dirty="0"/>
                        <a:t>Birth weight = 2054 grams (4 </a:t>
                      </a:r>
                      <a:r>
                        <a:rPr lang="en-US" sz="1300" dirty="0" err="1"/>
                        <a:t>lbs</a:t>
                      </a:r>
                      <a:r>
                        <a:rPr lang="en-US" sz="1300" dirty="0"/>
                        <a:t> 8.3 oz.)</a:t>
                      </a:r>
                    </a:p>
                    <a:p>
                      <a:pPr marL="285750" marR="0" lvl="0" indent="-2857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US" sz="1300" dirty="0"/>
                        <a:t>Current weight = 7 </a:t>
                      </a:r>
                      <a:r>
                        <a:rPr lang="en-US" sz="1300" dirty="0" err="1"/>
                        <a:t>lb</a:t>
                      </a:r>
                      <a:r>
                        <a:rPr lang="en-US" sz="1300" dirty="0"/>
                        <a:t> 9.6 oz</a:t>
                      </a:r>
                    </a:p>
                    <a:p>
                      <a:pPr marL="285750" marR="0" lvl="0" indent="-2857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US" sz="1300" dirty="0"/>
                        <a:t>Uncomplicated NICU stay x 5 weeks</a:t>
                      </a:r>
                    </a:p>
                    <a:p>
                      <a:pPr marL="285750" marR="0" lvl="0" indent="-2857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US" sz="1300" dirty="0"/>
                        <a:t>Mother reports that older sibling has a “cold”</a:t>
                      </a:r>
                    </a:p>
                    <a:p>
                      <a:pPr marL="285750" marR="0" lvl="0" indent="-2857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US" sz="1300" dirty="0"/>
                        <a:t>Mother reports that infant has not eaten well today</a:t>
                      </a:r>
                    </a:p>
                    <a:p>
                      <a:pPr marL="285750" marR="0" lvl="0" indent="-2857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US" sz="1300" dirty="0"/>
                        <a:t>HR = 156 beats/min</a:t>
                      </a:r>
                    </a:p>
                    <a:p>
                      <a:pPr marL="285750" marR="0" lvl="0" indent="-2857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US" sz="1300" dirty="0"/>
                        <a:t>RR = 66 breaths/minute</a:t>
                      </a:r>
                    </a:p>
                    <a:p>
                      <a:pPr marL="285750" marR="0" lvl="0" indent="-2857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US" sz="1300" dirty="0"/>
                        <a:t>Nasal flaring</a:t>
                      </a:r>
                    </a:p>
                    <a:p>
                      <a:pPr marL="285750" marR="0" lvl="0" indent="-2857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US" sz="1300" dirty="0"/>
                        <a:t>Substernal retractions</a:t>
                      </a:r>
                    </a:p>
                    <a:p>
                      <a:pPr marL="285750" marR="0" lvl="0" indent="-2857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US" sz="1300" dirty="0"/>
                        <a:t>Makes soft sounds with each exhalation</a:t>
                      </a:r>
                    </a:p>
                    <a:p>
                      <a:pPr marL="285750" marR="0" lvl="0" indent="-2857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US" sz="1300" dirty="0"/>
                        <a:t>Pale pink mucous membranes</a:t>
                      </a:r>
                    </a:p>
                    <a:p>
                      <a:pPr marL="285750" marR="0" lvl="0" indent="-2857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US" sz="1300" dirty="0"/>
                        <a:t>Anterior fontanel soft and flat</a:t>
                      </a:r>
                    </a:p>
                    <a:p>
                      <a:pPr marL="285750" marR="0" lvl="0" indent="-2857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US" sz="1300" dirty="0"/>
                        <a:t>Quiet and arouses slightly during assessment</a:t>
                      </a:r>
                    </a:p>
                    <a:p>
                      <a:pPr marL="285750" marR="0" lvl="0" indent="-2857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endParaRPr lang="en-US" sz="1300" dirty="0"/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946108236"/>
                  </a:ext>
                </a:extLst>
              </a:tr>
            </a:tbl>
          </a:graphicData>
        </a:graphic>
      </p:graphicFrame>
      <p:graphicFrame>
        <p:nvGraphicFramePr>
          <p:cNvPr id="9" name="Table 8">
            <a:extLst>
              <a:ext uri="{FF2B5EF4-FFF2-40B4-BE49-F238E27FC236}">
                <a16:creationId xmlns:a16="http://schemas.microsoft.com/office/drawing/2014/main" id="{43B69E79-B61A-4E8C-8AD5-82AD0751C8D7}"/>
              </a:ext>
            </a:extLst>
          </p:cNvPr>
          <p:cNvGraphicFramePr>
            <a:graphicFrameLocks noGrp="1"/>
          </p:cNvGraphicFramePr>
          <p:nvPr/>
        </p:nvGraphicFramePr>
        <p:xfrm>
          <a:off x="10607881" y="2192882"/>
          <a:ext cx="1510021" cy="365760"/>
        </p:xfrm>
        <a:graphic>
          <a:graphicData uri="http://schemas.openxmlformats.org/drawingml/2006/table">
            <a:tbl>
              <a:tblPr/>
              <a:tblGrid>
                <a:gridCol w="1510021">
                  <a:extLst>
                    <a:ext uri="{9D8B030D-6E8A-4147-A177-3AD203B41FA5}">
                      <a16:colId xmlns:a16="http://schemas.microsoft.com/office/drawing/2014/main" val="3694925794"/>
                    </a:ext>
                  </a:extLst>
                </a:gridCol>
              </a:tblGrid>
              <a:tr h="365760"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Lab Results</a:t>
                      </a:r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61042563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19837665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4" name="Rectangle 13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F68B3F68-107C-434F-AA38-110D5EA91B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2" y="0"/>
            <a:ext cx="12191998" cy="1575955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AAD0DBB9-1A4B-4391-81D4-CB19F9AB91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8128857" y="0"/>
            <a:ext cx="4063143" cy="1576412"/>
          </a:xfrm>
          <a:prstGeom prst="rect">
            <a:avLst/>
          </a:prstGeom>
          <a:gradFill>
            <a:gsLst>
              <a:gs pos="19000">
                <a:schemeClr val="accent1">
                  <a:lumMod val="50000"/>
                  <a:alpha val="68000"/>
                </a:schemeClr>
              </a:gs>
              <a:gs pos="100000">
                <a:schemeClr val="accent1">
                  <a:alpha val="79000"/>
                </a:schemeClr>
              </a:gs>
            </a:gsLst>
            <a:lin ang="19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063BBA22-50EA-4C4D-BE05-F1CE4E63AA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5307777" y="-5307778"/>
            <a:ext cx="1576446" cy="12192002"/>
          </a:xfrm>
          <a:prstGeom prst="rect">
            <a:avLst/>
          </a:prstGeom>
          <a:gradFill>
            <a:gsLst>
              <a:gs pos="23000">
                <a:schemeClr val="accent1">
                  <a:alpha val="0"/>
                </a:schemeClr>
              </a:gs>
              <a:gs pos="99000">
                <a:srgbClr val="000000">
                  <a:alpha val="74000"/>
                </a:srgbClr>
              </a:gs>
            </a:gsLst>
            <a:lin ang="20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FA9B9AA-BACA-4110-AF25-BC1E396AEB1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597" y="348865"/>
            <a:ext cx="10044023" cy="877729"/>
          </a:xfrm>
        </p:spPr>
        <p:txBody>
          <a:bodyPr anchor="ctr">
            <a:normAutofit/>
          </a:bodyPr>
          <a:lstStyle/>
          <a:p>
            <a:r>
              <a:rPr lang="en-US" sz="4000" dirty="0">
                <a:solidFill>
                  <a:srgbClr val="FFFFFF"/>
                </a:solidFill>
              </a:rPr>
              <a:t>Recognize Cues</a:t>
            </a:r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1076AB1F-E22B-4B99-5CF1-A247BE61B83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16276664"/>
              </p:ext>
            </p:extLst>
          </p:nvPr>
        </p:nvGraphicFramePr>
        <p:xfrm>
          <a:off x="2914651" y="2566806"/>
          <a:ext cx="5657849" cy="3758268"/>
        </p:xfrm>
        <a:graphic>
          <a:graphicData uri="http://schemas.openxmlformats.org/drawingml/2006/table">
            <a:tbl>
              <a:tblPr/>
              <a:tblGrid>
                <a:gridCol w="5657849">
                  <a:extLst>
                    <a:ext uri="{9D8B030D-6E8A-4147-A177-3AD203B41FA5}">
                      <a16:colId xmlns:a16="http://schemas.microsoft.com/office/drawing/2014/main" val="3682952031"/>
                    </a:ext>
                  </a:extLst>
                </a:gridCol>
              </a:tblGrid>
              <a:tr h="3758268">
                <a:tc>
                  <a:txBody>
                    <a:bodyPr/>
                    <a:lstStyle/>
                    <a:p>
                      <a:pPr marL="285750" marR="0" lvl="0" indent="-2857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US" sz="1300" dirty="0">
                          <a:highlight>
                            <a:srgbClr val="FFFF00"/>
                          </a:highlight>
                        </a:rPr>
                        <a:t>Born at 32 weeks’ gestation via spontaneous vaginal delivery</a:t>
                      </a:r>
                    </a:p>
                    <a:p>
                      <a:pPr marL="285750" marR="0" lvl="0" indent="-2857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US" sz="1300" dirty="0"/>
                        <a:t>Birth weight = 2054 grams (4 </a:t>
                      </a:r>
                      <a:r>
                        <a:rPr lang="en-US" sz="1300" dirty="0" err="1"/>
                        <a:t>lbs</a:t>
                      </a:r>
                      <a:r>
                        <a:rPr lang="en-US" sz="1300" dirty="0"/>
                        <a:t> 8.3 oz.)</a:t>
                      </a:r>
                    </a:p>
                    <a:p>
                      <a:pPr marL="285750" marR="0" lvl="0" indent="-2857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US" sz="1300" dirty="0">
                          <a:highlight>
                            <a:srgbClr val="FFFF00"/>
                          </a:highlight>
                        </a:rPr>
                        <a:t>Uncomplicated NICU stay x 5 weeks</a:t>
                      </a:r>
                    </a:p>
                    <a:p>
                      <a:pPr marL="285750" marR="0" lvl="0" indent="-2857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US" sz="1300" dirty="0">
                          <a:highlight>
                            <a:srgbClr val="FFFF00"/>
                          </a:highlight>
                        </a:rPr>
                        <a:t>Mother reports that older sibling has a “cold”</a:t>
                      </a:r>
                    </a:p>
                    <a:p>
                      <a:pPr marL="285750" marR="0" lvl="0" indent="-2857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US" sz="1300" dirty="0">
                          <a:highlight>
                            <a:srgbClr val="FFFF00"/>
                          </a:highlight>
                        </a:rPr>
                        <a:t>Mother reports that infant has not eaten well today</a:t>
                      </a:r>
                    </a:p>
                    <a:p>
                      <a:pPr marL="285750" marR="0" lvl="0" indent="-2857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US" sz="1300" dirty="0"/>
                        <a:t>HR = 156 beats/min (a little high?  What is normal for a 2-month-old?)</a:t>
                      </a:r>
                    </a:p>
                    <a:p>
                      <a:pPr marL="285750" marR="0" lvl="0" indent="-2857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US" sz="1300" dirty="0">
                          <a:highlight>
                            <a:srgbClr val="FFFF00"/>
                          </a:highlight>
                        </a:rPr>
                        <a:t>RR = 66 breaths/minute</a:t>
                      </a:r>
                    </a:p>
                    <a:p>
                      <a:pPr marL="285750" marR="0" lvl="0" indent="-2857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US" sz="1300" dirty="0">
                          <a:highlight>
                            <a:srgbClr val="FFFF00"/>
                          </a:highlight>
                        </a:rPr>
                        <a:t>Nasal flaring</a:t>
                      </a:r>
                    </a:p>
                    <a:p>
                      <a:pPr marL="285750" marR="0" lvl="0" indent="-2857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US" sz="1300" dirty="0">
                          <a:highlight>
                            <a:srgbClr val="FFFF00"/>
                          </a:highlight>
                        </a:rPr>
                        <a:t>Substernal retractions</a:t>
                      </a:r>
                    </a:p>
                    <a:p>
                      <a:pPr marL="285750" marR="0" lvl="0" indent="-2857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US" sz="1300" dirty="0">
                          <a:highlight>
                            <a:srgbClr val="FFFF00"/>
                          </a:highlight>
                        </a:rPr>
                        <a:t>Makes soft sounds with each exhalation</a:t>
                      </a:r>
                    </a:p>
                    <a:p>
                      <a:pPr marL="285750" marR="0" lvl="0" indent="-2857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US" sz="1300" dirty="0">
                          <a:highlight>
                            <a:srgbClr val="FFFF00"/>
                          </a:highlight>
                        </a:rPr>
                        <a:t>Pale pink mucous membranes</a:t>
                      </a:r>
                    </a:p>
                    <a:p>
                      <a:pPr marL="285750" marR="0" lvl="0" indent="-2857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US" sz="1300" dirty="0"/>
                        <a:t>Anterior fontanel soft and flat</a:t>
                      </a:r>
                    </a:p>
                    <a:p>
                      <a:pPr marL="285750" marR="0" lvl="0" indent="-2857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US" sz="1300" dirty="0">
                          <a:highlight>
                            <a:srgbClr val="FFFF00"/>
                          </a:highlight>
                        </a:rPr>
                        <a:t>Very quiet and arouses only slightly during assessment</a:t>
                      </a:r>
                    </a:p>
                    <a:p>
                      <a:pPr marL="285750" marR="0" lvl="0" indent="-2857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endParaRPr lang="en-US" sz="1300" dirty="0"/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946108236"/>
                  </a:ext>
                </a:extLst>
              </a:tr>
            </a:tbl>
          </a:graphicData>
        </a:graphic>
      </p:graphicFrame>
      <p:graphicFrame>
        <p:nvGraphicFramePr>
          <p:cNvPr id="11" name="Table 10">
            <a:extLst>
              <a:ext uri="{FF2B5EF4-FFF2-40B4-BE49-F238E27FC236}">
                <a16:creationId xmlns:a16="http://schemas.microsoft.com/office/drawing/2014/main" id="{F1D822DE-C474-7008-0404-F2CC138FAC5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17068436"/>
              </p:ext>
            </p:extLst>
          </p:nvPr>
        </p:nvGraphicFramePr>
        <p:xfrm>
          <a:off x="5548794" y="2164731"/>
          <a:ext cx="1510021" cy="365760"/>
        </p:xfrm>
        <a:graphic>
          <a:graphicData uri="http://schemas.openxmlformats.org/drawingml/2006/table">
            <a:tbl>
              <a:tblPr/>
              <a:tblGrid>
                <a:gridCol w="1510021">
                  <a:extLst>
                    <a:ext uri="{9D8B030D-6E8A-4147-A177-3AD203B41FA5}">
                      <a16:colId xmlns:a16="http://schemas.microsoft.com/office/drawing/2014/main" val="3694925794"/>
                    </a:ext>
                  </a:extLst>
                </a:gridCol>
              </a:tblGrid>
              <a:tr h="365760"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Imaging Studies</a:t>
                      </a:r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610425639"/>
                  </a:ext>
                </a:extLst>
              </a:tr>
            </a:tbl>
          </a:graphicData>
        </a:graphic>
      </p:graphicFrame>
      <p:graphicFrame>
        <p:nvGraphicFramePr>
          <p:cNvPr id="12" name="Table 11">
            <a:extLst>
              <a:ext uri="{FF2B5EF4-FFF2-40B4-BE49-F238E27FC236}">
                <a16:creationId xmlns:a16="http://schemas.microsoft.com/office/drawing/2014/main" id="{1603152E-FA97-4F99-51DA-937584CBDCE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20672369"/>
              </p:ext>
            </p:extLst>
          </p:nvPr>
        </p:nvGraphicFramePr>
        <p:xfrm>
          <a:off x="2914650" y="2170256"/>
          <a:ext cx="1317072" cy="360726"/>
        </p:xfrm>
        <a:graphic>
          <a:graphicData uri="http://schemas.openxmlformats.org/drawingml/2006/table">
            <a:tbl>
              <a:tblPr/>
              <a:tblGrid>
                <a:gridCol w="1317072">
                  <a:extLst>
                    <a:ext uri="{9D8B030D-6E8A-4147-A177-3AD203B41FA5}">
                      <a16:colId xmlns:a16="http://schemas.microsoft.com/office/drawing/2014/main" val="1439442341"/>
                    </a:ext>
                  </a:extLst>
                </a:gridCol>
              </a:tblGrid>
              <a:tr h="360726"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highlight>
                            <a:srgbClr val="00FFFF"/>
                          </a:highlight>
                        </a:rPr>
                        <a:t>Health History</a:t>
                      </a:r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30912633"/>
                  </a:ext>
                </a:extLst>
              </a:tr>
            </a:tbl>
          </a:graphicData>
        </a:graphic>
      </p:graphicFrame>
      <p:graphicFrame>
        <p:nvGraphicFramePr>
          <p:cNvPr id="13" name="Table 12">
            <a:extLst>
              <a:ext uri="{FF2B5EF4-FFF2-40B4-BE49-F238E27FC236}">
                <a16:creationId xmlns:a16="http://schemas.microsoft.com/office/drawing/2014/main" id="{B44F2B57-14D8-D98B-85C1-CA1717D297A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06743855"/>
              </p:ext>
            </p:extLst>
          </p:nvPr>
        </p:nvGraphicFramePr>
        <p:xfrm>
          <a:off x="4231722" y="2169765"/>
          <a:ext cx="1283515" cy="360726"/>
        </p:xfrm>
        <a:graphic>
          <a:graphicData uri="http://schemas.openxmlformats.org/drawingml/2006/table">
            <a:tbl>
              <a:tblPr/>
              <a:tblGrid>
                <a:gridCol w="1283515">
                  <a:extLst>
                    <a:ext uri="{9D8B030D-6E8A-4147-A177-3AD203B41FA5}">
                      <a16:colId xmlns:a16="http://schemas.microsoft.com/office/drawing/2014/main" val="2135328920"/>
                    </a:ext>
                  </a:extLst>
                </a:gridCol>
              </a:tblGrid>
              <a:tr h="360726"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Nurse’s Notes</a:t>
                      </a:r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94097254"/>
                  </a:ext>
                </a:extLst>
              </a:tr>
            </a:tbl>
          </a:graphicData>
        </a:graphic>
      </p:graphicFrame>
      <p:graphicFrame>
        <p:nvGraphicFramePr>
          <p:cNvPr id="15" name="Table 14">
            <a:extLst>
              <a:ext uri="{FF2B5EF4-FFF2-40B4-BE49-F238E27FC236}">
                <a16:creationId xmlns:a16="http://schemas.microsoft.com/office/drawing/2014/main" id="{E33944E3-AAA3-3FA9-BB5A-26ECCEE131B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05244929"/>
              </p:ext>
            </p:extLst>
          </p:nvPr>
        </p:nvGraphicFramePr>
        <p:xfrm>
          <a:off x="7058815" y="2164731"/>
          <a:ext cx="1510021" cy="365760"/>
        </p:xfrm>
        <a:graphic>
          <a:graphicData uri="http://schemas.openxmlformats.org/drawingml/2006/table">
            <a:tbl>
              <a:tblPr/>
              <a:tblGrid>
                <a:gridCol w="1510021">
                  <a:extLst>
                    <a:ext uri="{9D8B030D-6E8A-4147-A177-3AD203B41FA5}">
                      <a16:colId xmlns:a16="http://schemas.microsoft.com/office/drawing/2014/main" val="3694925794"/>
                    </a:ext>
                  </a:extLst>
                </a:gridCol>
              </a:tblGrid>
              <a:tr h="365760"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Lab Results</a:t>
                      </a:r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61042563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90471065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nline Media 1" title="Symptoms severe Bronchiolitis RSV infection | RSV Awareness Week 2020">
            <a:hlinkClick r:id="" action="ppaction://media"/>
            <a:extLst>
              <a:ext uri="{FF2B5EF4-FFF2-40B4-BE49-F238E27FC236}">
                <a16:creationId xmlns:a16="http://schemas.microsoft.com/office/drawing/2014/main" id="{4EB4267E-C08F-46D5-87D7-795DBE3EB815}"/>
              </a:ext>
            </a:extLst>
          </p:cNvPr>
          <p:cNvPicPr>
            <a:picLocks noRot="1" noChangeAspect="1"/>
          </p:cNvPicPr>
          <p:nvPr>
            <a:videoFile r:link="rId1"/>
          </p:nvPr>
        </p:nvPicPr>
        <p:blipFill>
          <a:blip r:embed="rId4"/>
          <a:stretch>
            <a:fillRect/>
          </a:stretch>
        </p:blipFill>
        <p:spPr>
          <a:xfrm>
            <a:off x="3422705" y="2517159"/>
            <a:ext cx="5535615" cy="3127623"/>
          </a:xfrm>
          <a:prstGeom prst="rect">
            <a:avLst/>
          </a:prstGeom>
        </p:spPr>
      </p:pic>
      <p:sp>
        <p:nvSpPr>
          <p:cNvPr id="3" name="Title 2">
            <a:extLst>
              <a:ext uri="{FF2B5EF4-FFF2-40B4-BE49-F238E27FC236}">
                <a16:creationId xmlns:a16="http://schemas.microsoft.com/office/drawing/2014/main" id="{4E61AAD8-C417-47AB-B3C5-BA2AC4F767C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Bronchiolitis </a:t>
            </a:r>
          </a:p>
        </p:txBody>
      </p:sp>
    </p:spTree>
    <p:extLst>
      <p:ext uri="{BB962C8B-B14F-4D97-AF65-F5344CB8AC3E}">
        <p14:creationId xmlns:p14="http://schemas.microsoft.com/office/powerpoint/2010/main" val="159252642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2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seq concurrent="1" nextAc="seek">
              <p:cTn id="7" restart="whenNotActive" fill="hold" evtFilter="cancelBubble" nodeType="interactiveSeq">
                <p:stCondLst>
                  <p:cond evt="onClick" delay="0">
                    <p:tgtEl>
                      <p:spTgt spid="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8" fill="hold">
                      <p:stCondLst>
                        <p:cond delay="0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1" dur="1" fill="hold"/>
                                        <p:tgtEl>
                                          <p:spTgt spid="2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"/>
                  </p:tgtEl>
                </p:cond>
              </p:nextCondLst>
            </p:seq>
            <p:video>
              <p:cMediaNode vol="80000">
                <p:cTn id="12" fill="hold" display="0">
                  <p:stCondLst>
                    <p:cond delay="indefinite"/>
                  </p:stCondLst>
                </p:cTn>
                <p:tgtEl>
                  <p:spTgt spid="2"/>
                </p:tgtEl>
              </p:cMediaNode>
            </p:video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A4E37431-20F0-4DD6-84A9-ED2B644943A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0AE98B72-66C6-4AB4-AF0D-BA830DE8639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638515" y="639280"/>
            <a:ext cx="6858000" cy="5579440"/>
          </a:xfrm>
          <a:prstGeom prst="rect">
            <a:avLst/>
          </a:prstGeom>
          <a:gradFill>
            <a:gsLst>
              <a:gs pos="800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407EAFC6-733F-403D-BB4D-05A3A28742F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393206" y="395206"/>
            <a:ext cx="6346209" cy="5576080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17A36730-4CB0-4F61-AD11-A44C9765833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1528907" y="2818967"/>
            <a:ext cx="2501979" cy="5576080"/>
          </a:xfrm>
          <a:prstGeom prst="rect">
            <a:avLst/>
          </a:prstGeom>
          <a:gradFill>
            <a:gsLst>
              <a:gs pos="2000">
                <a:schemeClr val="accent1">
                  <a:alpha val="29000"/>
                </a:schemeClr>
              </a:gs>
              <a:gs pos="100000">
                <a:srgbClr val="000000">
                  <a:alpha val="30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C69C79E1-F916-4929-A4F3-DE763D4BFA5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425002" y="852793"/>
            <a:ext cx="6858001" cy="5152412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11000"/>
                </a:scheme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Oval 18">
            <a:extLst>
              <a:ext uri="{FF2B5EF4-FFF2-40B4-BE49-F238E27FC236}">
                <a16:creationId xmlns:a16="http://schemas.microsoft.com/office/drawing/2014/main" id="{767334AB-16BD-4EC7-8C6B-4B517160093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6097846">
            <a:off x="818753" y="1128497"/>
            <a:ext cx="4318303" cy="4318303"/>
          </a:xfrm>
          <a:prstGeom prst="ellipse">
            <a:avLst/>
          </a:prstGeom>
          <a:gradFill>
            <a:gsLst>
              <a:gs pos="39000">
                <a:schemeClr val="accent1">
                  <a:alpha val="0"/>
                </a:schemeClr>
              </a:gs>
              <a:gs pos="100000">
                <a:schemeClr val="accent1">
                  <a:lumMod val="60000"/>
                  <a:lumOff val="40000"/>
                  <a:alpha val="15000"/>
                </a:schemeClr>
              </a:gs>
            </a:gsLst>
            <a:lin ang="17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71C95E1-58F6-881B-29F1-D20E575DE09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0042" y="891652"/>
            <a:ext cx="4412021" cy="3030724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r"/>
            <a:r>
              <a:rPr lang="en-US" sz="4000" kern="120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More Clues….</a:t>
            </a:r>
          </a:p>
        </p:txBody>
      </p:sp>
      <p:pic>
        <p:nvPicPr>
          <p:cNvPr id="4" name="Picture 2" descr="http://images.radiopaedia.org/images/2060183/b0070f251e0a682731ea10aba9a129_big_gallery.jpg">
            <a:extLst>
              <a:ext uri="{FF2B5EF4-FFF2-40B4-BE49-F238E27FC236}">
                <a16:creationId xmlns:a16="http://schemas.microsoft.com/office/drawing/2014/main" id="{B35F6428-B02C-093B-6606-5CA86923D98C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3" cstate="print"/>
          <a:srcRect l="10881" r="5183"/>
          <a:stretch>
            <a:fillRect/>
          </a:stretch>
        </p:blipFill>
        <p:spPr bwMode="auto">
          <a:xfrm>
            <a:off x="6373879" y="457199"/>
            <a:ext cx="5052562" cy="5899152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188007357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A9B9AA-BACA-4110-AF25-BC1E396AEB17}"/>
              </a:ext>
            </a:extLst>
          </p:cNvPr>
          <p:cNvSpPr>
            <a:spLocks noGrp="1"/>
          </p:cNvSpPr>
          <p:nvPr>
            <p:ph type="title"/>
          </p:nvPr>
        </p:nvSpPr>
        <p:spPr>
          <a:solidFill>
            <a:schemeClr val="accent1">
              <a:lumMod val="50000"/>
            </a:schemeClr>
          </a:solidFill>
        </p:spPr>
        <p:txBody>
          <a:bodyPr anchor="ctr">
            <a:normAutofit/>
          </a:bodyPr>
          <a:lstStyle/>
          <a:p>
            <a:r>
              <a:rPr lang="en-US" sz="4000" dirty="0">
                <a:solidFill>
                  <a:schemeClr val="bg1"/>
                </a:solidFill>
              </a:rPr>
              <a:t>     Recognize Cues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18368D2-C346-55DD-B73F-E4DB53BE6C0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endParaRPr lang="en-US" dirty="0"/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1BBF3799-D404-4B39-BC32-4D07B1DFD87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67583021"/>
              </p:ext>
            </p:extLst>
          </p:nvPr>
        </p:nvGraphicFramePr>
        <p:xfrm>
          <a:off x="2715946" y="2893486"/>
          <a:ext cx="1317072" cy="304800"/>
        </p:xfrm>
        <a:graphic>
          <a:graphicData uri="http://schemas.openxmlformats.org/drawingml/2006/table">
            <a:tbl>
              <a:tblPr/>
              <a:tblGrid>
                <a:gridCol w="1317072">
                  <a:extLst>
                    <a:ext uri="{9D8B030D-6E8A-4147-A177-3AD203B41FA5}">
                      <a16:colId xmlns:a16="http://schemas.microsoft.com/office/drawing/2014/main" val="1439442341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Health History</a:t>
                      </a:r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30912633"/>
                  </a:ext>
                </a:extLst>
              </a:tr>
            </a:tbl>
          </a:graphicData>
        </a:graphic>
      </p:graphicFrame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976935D0-3BEF-4F4E-A2F9-11BC1F206B9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80088191"/>
              </p:ext>
            </p:extLst>
          </p:nvPr>
        </p:nvGraphicFramePr>
        <p:xfrm>
          <a:off x="4033018" y="2893486"/>
          <a:ext cx="1283515" cy="304800"/>
        </p:xfrm>
        <a:graphic>
          <a:graphicData uri="http://schemas.openxmlformats.org/drawingml/2006/table">
            <a:tbl>
              <a:tblPr/>
              <a:tblGrid>
                <a:gridCol w="1283515">
                  <a:extLst>
                    <a:ext uri="{9D8B030D-6E8A-4147-A177-3AD203B41FA5}">
                      <a16:colId xmlns:a16="http://schemas.microsoft.com/office/drawing/2014/main" val="2135328920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Nurse’s Notes</a:t>
                      </a:r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94097254"/>
                  </a:ext>
                </a:extLst>
              </a:tr>
            </a:tbl>
          </a:graphicData>
        </a:graphic>
      </p:graphicFrame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B335FDD8-F681-4054-A661-A0682397D87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15327919"/>
              </p:ext>
            </p:extLst>
          </p:nvPr>
        </p:nvGraphicFramePr>
        <p:xfrm>
          <a:off x="5315602" y="2893486"/>
          <a:ext cx="1510021" cy="304800"/>
        </p:xfrm>
        <a:graphic>
          <a:graphicData uri="http://schemas.openxmlformats.org/drawingml/2006/table">
            <a:tbl>
              <a:tblPr/>
              <a:tblGrid>
                <a:gridCol w="1510021">
                  <a:extLst>
                    <a:ext uri="{9D8B030D-6E8A-4147-A177-3AD203B41FA5}">
                      <a16:colId xmlns:a16="http://schemas.microsoft.com/office/drawing/2014/main" val="3694925794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Imaging Studies</a:t>
                      </a:r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610425639"/>
                  </a:ext>
                </a:extLst>
              </a:tr>
            </a:tbl>
          </a:graphicData>
        </a:graphic>
      </p:graphicFrame>
      <p:graphicFrame>
        <p:nvGraphicFramePr>
          <p:cNvPr id="8" name="Table 7">
            <a:extLst>
              <a:ext uri="{FF2B5EF4-FFF2-40B4-BE49-F238E27FC236}">
                <a16:creationId xmlns:a16="http://schemas.microsoft.com/office/drawing/2014/main" id="{F1C41BE7-40CE-45B5-BDE3-4356113659E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87767124"/>
              </p:ext>
            </p:extLst>
          </p:nvPr>
        </p:nvGraphicFramePr>
        <p:xfrm>
          <a:off x="2715015" y="3227878"/>
          <a:ext cx="5620629" cy="2435803"/>
        </p:xfrm>
        <a:graphic>
          <a:graphicData uri="http://schemas.openxmlformats.org/drawingml/2006/table">
            <a:tbl>
              <a:tblPr/>
              <a:tblGrid>
                <a:gridCol w="5620629">
                  <a:extLst>
                    <a:ext uri="{9D8B030D-6E8A-4147-A177-3AD203B41FA5}">
                      <a16:colId xmlns:a16="http://schemas.microsoft.com/office/drawing/2014/main" val="3682952031"/>
                    </a:ext>
                  </a:extLst>
                </a:gridCol>
              </a:tblGrid>
              <a:tr h="2435803">
                <a:tc>
                  <a:txBody>
                    <a:bodyPr/>
                    <a:lstStyle/>
                    <a:p>
                      <a:pPr algn="l"/>
                      <a:r>
                        <a:rPr lang="en-US" sz="1600" b="0" i="0" dirty="0">
                          <a:effectLst/>
                          <a:latin typeface="Fira Sans" panose="020B0503050000020004" pitchFamily="34" charset="0"/>
                        </a:rPr>
                        <a:t>Hgb: 11.6 (12-16 g/dL)</a:t>
                      </a:r>
                    </a:p>
                    <a:p>
                      <a:pPr algn="l"/>
                      <a:r>
                        <a:rPr lang="en-US" sz="1600" b="0" i="0" dirty="0" err="1">
                          <a:effectLst/>
                          <a:latin typeface="Fira Sans" panose="020B0503050000020004" pitchFamily="34" charset="0"/>
                        </a:rPr>
                        <a:t>Hct</a:t>
                      </a:r>
                      <a:r>
                        <a:rPr lang="en-US" sz="1600" b="0" i="0" dirty="0">
                          <a:effectLst/>
                          <a:latin typeface="Fira Sans" panose="020B0503050000020004" pitchFamily="34" charset="0"/>
                        </a:rPr>
                        <a:t>: 33.9 (36-48%)</a:t>
                      </a:r>
                    </a:p>
                    <a:p>
                      <a:pPr algn="l"/>
                      <a:r>
                        <a:rPr lang="en-US" sz="1600" b="0" i="0" dirty="0" err="1">
                          <a:effectLst/>
                          <a:latin typeface="Fira Sans" panose="020B0503050000020004" pitchFamily="34" charset="0"/>
                        </a:rPr>
                        <a:t>Plt</a:t>
                      </a:r>
                      <a:r>
                        <a:rPr lang="en-US" sz="1600" b="0" i="0" dirty="0">
                          <a:effectLst/>
                          <a:latin typeface="Fira Sans" panose="020B0503050000020004" pitchFamily="34" charset="0"/>
                        </a:rPr>
                        <a:t>: 400 (140,000-400,000/</a:t>
                      </a:r>
                      <a:r>
                        <a:rPr lang="en-US" sz="1600" b="0" i="0" dirty="0" err="1">
                          <a:effectLst/>
                          <a:latin typeface="Fira Sans" panose="020B0503050000020004" pitchFamily="34" charset="0"/>
                        </a:rPr>
                        <a:t>mcL</a:t>
                      </a:r>
                      <a:r>
                        <a:rPr lang="en-US" sz="1600" b="0" i="0" dirty="0">
                          <a:effectLst/>
                          <a:latin typeface="Fira Sans" panose="020B0503050000020004" pitchFamily="34" charset="0"/>
                        </a:rPr>
                        <a:t>)</a:t>
                      </a:r>
                    </a:p>
                    <a:p>
                      <a:pPr algn="l"/>
                      <a:r>
                        <a:rPr lang="en-US" sz="1600" b="0" i="0" dirty="0">
                          <a:effectLst/>
                          <a:latin typeface="Fira Sans" panose="020B0503050000020004" pitchFamily="34" charset="0"/>
                        </a:rPr>
                        <a:t>WBC: 17.8 (5,000-10,000/</a:t>
                      </a:r>
                      <a:r>
                        <a:rPr lang="en-US" sz="1600" b="0" i="0" dirty="0" err="1">
                          <a:effectLst/>
                          <a:latin typeface="Fira Sans" panose="020B0503050000020004" pitchFamily="34" charset="0"/>
                        </a:rPr>
                        <a:t>mcL</a:t>
                      </a:r>
                      <a:r>
                        <a:rPr lang="en-US" sz="1600" b="0" i="0" dirty="0">
                          <a:effectLst/>
                          <a:latin typeface="Fira Sans" panose="020B0503050000020004" pitchFamily="34" charset="0"/>
                        </a:rPr>
                        <a:t>)</a:t>
                      </a:r>
                    </a:p>
                    <a:p>
                      <a:pPr algn="l"/>
                      <a:r>
                        <a:rPr lang="en-US" sz="1600" b="0" i="0" dirty="0">
                          <a:effectLst/>
                          <a:latin typeface="Fira Sans" panose="020B0503050000020004" pitchFamily="34" charset="0"/>
                        </a:rPr>
                        <a:t>Viral PCR panel results = (-) adenovirus (-) influenza A &amp; B), (+) respiratory syncytial virus, (-) rhinovirus</a:t>
                      </a:r>
                    </a:p>
                    <a:p>
                      <a:pPr algn="l"/>
                      <a:endParaRPr lang="en-US" dirty="0"/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946108236"/>
                  </a:ext>
                </a:extLst>
              </a:tr>
            </a:tbl>
          </a:graphicData>
        </a:graphic>
      </p:graphicFrame>
      <p:graphicFrame>
        <p:nvGraphicFramePr>
          <p:cNvPr id="9" name="Table 8">
            <a:extLst>
              <a:ext uri="{FF2B5EF4-FFF2-40B4-BE49-F238E27FC236}">
                <a16:creationId xmlns:a16="http://schemas.microsoft.com/office/drawing/2014/main" id="{43B69E79-B61A-4E8C-8AD5-82AD0751C8D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36270978"/>
              </p:ext>
            </p:extLst>
          </p:nvPr>
        </p:nvGraphicFramePr>
        <p:xfrm>
          <a:off x="6825611" y="2893486"/>
          <a:ext cx="1510021" cy="304800"/>
        </p:xfrm>
        <a:graphic>
          <a:graphicData uri="http://schemas.openxmlformats.org/drawingml/2006/table">
            <a:tbl>
              <a:tblPr/>
              <a:tblGrid>
                <a:gridCol w="1510021">
                  <a:extLst>
                    <a:ext uri="{9D8B030D-6E8A-4147-A177-3AD203B41FA5}">
                      <a16:colId xmlns:a16="http://schemas.microsoft.com/office/drawing/2014/main" val="3694925794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highlight>
                            <a:srgbClr val="00FFFF"/>
                          </a:highlight>
                        </a:rPr>
                        <a:t>Lab Results</a:t>
                      </a:r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61042563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13051762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A9B9AA-BACA-4110-AF25-BC1E396AEB17}"/>
              </a:ext>
            </a:extLst>
          </p:cNvPr>
          <p:cNvSpPr>
            <a:spLocks noGrp="1"/>
          </p:cNvSpPr>
          <p:nvPr>
            <p:ph type="title"/>
          </p:nvPr>
        </p:nvSpPr>
        <p:spPr>
          <a:solidFill>
            <a:schemeClr val="accent1">
              <a:lumMod val="50000"/>
            </a:schemeClr>
          </a:solidFill>
        </p:spPr>
        <p:txBody>
          <a:bodyPr anchor="ctr">
            <a:normAutofit/>
          </a:bodyPr>
          <a:lstStyle/>
          <a:p>
            <a:r>
              <a:rPr lang="en-US" sz="4000" dirty="0">
                <a:solidFill>
                  <a:schemeClr val="bg1"/>
                </a:solidFill>
              </a:rPr>
              <a:t>     Recognize Cues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18368D2-C346-55DD-B73F-E4DB53BE6C0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endParaRPr lang="en-US" dirty="0"/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1BBF3799-D404-4B39-BC32-4D07B1DFD877}"/>
              </a:ext>
            </a:extLst>
          </p:cNvPr>
          <p:cNvGraphicFramePr>
            <a:graphicFrameLocks noGrp="1"/>
          </p:cNvGraphicFramePr>
          <p:nvPr/>
        </p:nvGraphicFramePr>
        <p:xfrm>
          <a:off x="2715946" y="2893486"/>
          <a:ext cx="1317072" cy="304800"/>
        </p:xfrm>
        <a:graphic>
          <a:graphicData uri="http://schemas.openxmlformats.org/drawingml/2006/table">
            <a:tbl>
              <a:tblPr/>
              <a:tblGrid>
                <a:gridCol w="1317072">
                  <a:extLst>
                    <a:ext uri="{9D8B030D-6E8A-4147-A177-3AD203B41FA5}">
                      <a16:colId xmlns:a16="http://schemas.microsoft.com/office/drawing/2014/main" val="1439442341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Health History</a:t>
                      </a:r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30912633"/>
                  </a:ext>
                </a:extLst>
              </a:tr>
            </a:tbl>
          </a:graphicData>
        </a:graphic>
      </p:graphicFrame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976935D0-3BEF-4F4E-A2F9-11BC1F206B9B}"/>
              </a:ext>
            </a:extLst>
          </p:cNvPr>
          <p:cNvGraphicFramePr>
            <a:graphicFrameLocks noGrp="1"/>
          </p:cNvGraphicFramePr>
          <p:nvPr/>
        </p:nvGraphicFramePr>
        <p:xfrm>
          <a:off x="4033018" y="2893486"/>
          <a:ext cx="1283515" cy="304800"/>
        </p:xfrm>
        <a:graphic>
          <a:graphicData uri="http://schemas.openxmlformats.org/drawingml/2006/table">
            <a:tbl>
              <a:tblPr/>
              <a:tblGrid>
                <a:gridCol w="1283515">
                  <a:extLst>
                    <a:ext uri="{9D8B030D-6E8A-4147-A177-3AD203B41FA5}">
                      <a16:colId xmlns:a16="http://schemas.microsoft.com/office/drawing/2014/main" val="2135328920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Nurse’s Notes</a:t>
                      </a:r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94097254"/>
                  </a:ext>
                </a:extLst>
              </a:tr>
            </a:tbl>
          </a:graphicData>
        </a:graphic>
      </p:graphicFrame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B335FDD8-F681-4054-A661-A0682397D87C}"/>
              </a:ext>
            </a:extLst>
          </p:cNvPr>
          <p:cNvGraphicFramePr>
            <a:graphicFrameLocks noGrp="1"/>
          </p:cNvGraphicFramePr>
          <p:nvPr/>
        </p:nvGraphicFramePr>
        <p:xfrm>
          <a:off x="5315602" y="2893486"/>
          <a:ext cx="1510021" cy="304800"/>
        </p:xfrm>
        <a:graphic>
          <a:graphicData uri="http://schemas.openxmlformats.org/drawingml/2006/table">
            <a:tbl>
              <a:tblPr/>
              <a:tblGrid>
                <a:gridCol w="1510021">
                  <a:extLst>
                    <a:ext uri="{9D8B030D-6E8A-4147-A177-3AD203B41FA5}">
                      <a16:colId xmlns:a16="http://schemas.microsoft.com/office/drawing/2014/main" val="3694925794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Imaging Studies</a:t>
                      </a:r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610425639"/>
                  </a:ext>
                </a:extLst>
              </a:tr>
            </a:tbl>
          </a:graphicData>
        </a:graphic>
      </p:graphicFrame>
      <p:graphicFrame>
        <p:nvGraphicFramePr>
          <p:cNvPr id="8" name="Table 7">
            <a:extLst>
              <a:ext uri="{FF2B5EF4-FFF2-40B4-BE49-F238E27FC236}">
                <a16:creationId xmlns:a16="http://schemas.microsoft.com/office/drawing/2014/main" id="{F1C41BE7-40CE-45B5-BDE3-4356113659E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31161794"/>
              </p:ext>
            </p:extLst>
          </p:nvPr>
        </p:nvGraphicFramePr>
        <p:xfrm>
          <a:off x="2743200" y="3227878"/>
          <a:ext cx="5592444" cy="2435803"/>
        </p:xfrm>
        <a:graphic>
          <a:graphicData uri="http://schemas.openxmlformats.org/drawingml/2006/table">
            <a:tbl>
              <a:tblPr/>
              <a:tblGrid>
                <a:gridCol w="5592444">
                  <a:extLst>
                    <a:ext uri="{9D8B030D-6E8A-4147-A177-3AD203B41FA5}">
                      <a16:colId xmlns:a16="http://schemas.microsoft.com/office/drawing/2014/main" val="3682952031"/>
                    </a:ext>
                  </a:extLst>
                </a:gridCol>
              </a:tblGrid>
              <a:tr h="2435803">
                <a:tc>
                  <a:txBody>
                    <a:bodyPr/>
                    <a:lstStyle/>
                    <a:p>
                      <a:pPr algn="l"/>
                      <a:r>
                        <a:rPr lang="en-US" sz="1600" b="0" i="0" dirty="0">
                          <a:effectLst/>
                          <a:latin typeface="Fira Sans" panose="020B0503050000020004" pitchFamily="34" charset="0"/>
                        </a:rPr>
                        <a:t>Hgb: 11.6 (12-16 g/dL)</a:t>
                      </a:r>
                    </a:p>
                    <a:p>
                      <a:pPr algn="l"/>
                      <a:r>
                        <a:rPr lang="en-US" sz="1600" b="0" i="0" dirty="0" err="1">
                          <a:effectLst/>
                          <a:latin typeface="Fira Sans" panose="020B0503050000020004" pitchFamily="34" charset="0"/>
                        </a:rPr>
                        <a:t>Hct</a:t>
                      </a:r>
                      <a:r>
                        <a:rPr lang="en-US" sz="1600" b="0" i="0" dirty="0">
                          <a:effectLst/>
                          <a:latin typeface="Fira Sans" panose="020B0503050000020004" pitchFamily="34" charset="0"/>
                        </a:rPr>
                        <a:t>: 33.9 (36-48%)</a:t>
                      </a:r>
                    </a:p>
                    <a:p>
                      <a:pPr algn="l"/>
                      <a:r>
                        <a:rPr lang="en-US" sz="1600" b="0" i="0" dirty="0" err="1">
                          <a:effectLst/>
                          <a:latin typeface="Fira Sans" panose="020B0503050000020004" pitchFamily="34" charset="0"/>
                        </a:rPr>
                        <a:t>Plt</a:t>
                      </a:r>
                      <a:r>
                        <a:rPr lang="en-US" sz="1600" b="0" i="0" dirty="0">
                          <a:effectLst/>
                          <a:latin typeface="Fira Sans" panose="020B0503050000020004" pitchFamily="34" charset="0"/>
                        </a:rPr>
                        <a:t>: 400 (140,000-400,000/</a:t>
                      </a:r>
                      <a:r>
                        <a:rPr lang="en-US" sz="1600" b="0" i="0" dirty="0" err="1">
                          <a:effectLst/>
                          <a:latin typeface="Fira Sans" panose="020B0503050000020004" pitchFamily="34" charset="0"/>
                        </a:rPr>
                        <a:t>mcL</a:t>
                      </a:r>
                      <a:r>
                        <a:rPr lang="en-US" sz="1600" b="0" i="0" dirty="0">
                          <a:effectLst/>
                          <a:latin typeface="Fira Sans" panose="020B0503050000020004" pitchFamily="34" charset="0"/>
                        </a:rPr>
                        <a:t>)</a:t>
                      </a:r>
                    </a:p>
                    <a:p>
                      <a:pPr algn="l"/>
                      <a:r>
                        <a:rPr lang="en-US" sz="1600" b="0" i="0" dirty="0">
                          <a:effectLst/>
                          <a:highlight>
                            <a:srgbClr val="FFFF00"/>
                          </a:highlight>
                          <a:latin typeface="Fira Sans" panose="020B0503050000020004" pitchFamily="34" charset="0"/>
                        </a:rPr>
                        <a:t>WBC: 17.8 (5,000-10,000/</a:t>
                      </a:r>
                      <a:r>
                        <a:rPr lang="en-US" sz="1600" b="0" i="0" dirty="0" err="1">
                          <a:effectLst/>
                          <a:highlight>
                            <a:srgbClr val="FFFF00"/>
                          </a:highlight>
                          <a:latin typeface="Fira Sans" panose="020B0503050000020004" pitchFamily="34" charset="0"/>
                        </a:rPr>
                        <a:t>mcL</a:t>
                      </a:r>
                      <a:r>
                        <a:rPr lang="en-US" sz="1600" b="0" i="0" dirty="0">
                          <a:effectLst/>
                          <a:highlight>
                            <a:srgbClr val="FFFF00"/>
                          </a:highlight>
                          <a:latin typeface="Fira Sans" panose="020B0503050000020004" pitchFamily="34" charset="0"/>
                        </a:rPr>
                        <a:t>)</a:t>
                      </a:r>
                    </a:p>
                    <a:p>
                      <a:pPr algn="l"/>
                      <a:r>
                        <a:rPr lang="en-US" sz="1600" b="0" i="0" dirty="0">
                          <a:effectLst/>
                          <a:latin typeface="Fira Sans" panose="020B0503050000020004" pitchFamily="34" charset="0"/>
                        </a:rPr>
                        <a:t>Viral PCR panel results = (-) adenovirus (-) influenza A &amp; B), </a:t>
                      </a:r>
                      <a:r>
                        <a:rPr lang="en-US" sz="1600" b="0" i="0" dirty="0">
                          <a:effectLst/>
                          <a:highlight>
                            <a:srgbClr val="FFFF00"/>
                          </a:highlight>
                          <a:latin typeface="Fira Sans" panose="020B0503050000020004" pitchFamily="34" charset="0"/>
                        </a:rPr>
                        <a:t>(+) respiratory syncytial virus</a:t>
                      </a:r>
                      <a:r>
                        <a:rPr lang="en-US" sz="1600" b="0" i="0" dirty="0">
                          <a:effectLst/>
                          <a:latin typeface="Fira Sans" panose="020B0503050000020004" pitchFamily="34" charset="0"/>
                        </a:rPr>
                        <a:t>, (-) rhinovirus</a:t>
                      </a:r>
                    </a:p>
                    <a:p>
                      <a:pPr algn="l"/>
                      <a:endParaRPr lang="en-US" dirty="0"/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946108236"/>
                  </a:ext>
                </a:extLst>
              </a:tr>
            </a:tbl>
          </a:graphicData>
        </a:graphic>
      </p:graphicFrame>
      <p:graphicFrame>
        <p:nvGraphicFramePr>
          <p:cNvPr id="9" name="Table 8">
            <a:extLst>
              <a:ext uri="{FF2B5EF4-FFF2-40B4-BE49-F238E27FC236}">
                <a16:creationId xmlns:a16="http://schemas.microsoft.com/office/drawing/2014/main" id="{43B69E79-B61A-4E8C-8AD5-82AD0751C8D7}"/>
              </a:ext>
            </a:extLst>
          </p:cNvPr>
          <p:cNvGraphicFramePr>
            <a:graphicFrameLocks noGrp="1"/>
          </p:cNvGraphicFramePr>
          <p:nvPr/>
        </p:nvGraphicFramePr>
        <p:xfrm>
          <a:off x="6825611" y="2893486"/>
          <a:ext cx="1510021" cy="304800"/>
        </p:xfrm>
        <a:graphic>
          <a:graphicData uri="http://schemas.openxmlformats.org/drawingml/2006/table">
            <a:tbl>
              <a:tblPr/>
              <a:tblGrid>
                <a:gridCol w="1510021">
                  <a:extLst>
                    <a:ext uri="{9D8B030D-6E8A-4147-A177-3AD203B41FA5}">
                      <a16:colId xmlns:a16="http://schemas.microsoft.com/office/drawing/2014/main" val="3694925794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highlight>
                            <a:srgbClr val="00FFFF"/>
                          </a:highlight>
                        </a:rPr>
                        <a:t>Lab Results</a:t>
                      </a:r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61042563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95668980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A9B9AA-BACA-4110-AF25-BC1E396AEB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Multiple Response Select N (Recognize Cues)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7A7C8DE-3F00-4AE7-AC83-1AEB7C80A9A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2457" y="2351313"/>
            <a:ext cx="5453543" cy="3825649"/>
          </a:xfrm>
        </p:spPr>
        <p:txBody>
          <a:bodyPr>
            <a:normAutofit fontScale="92500" lnSpcReduction="10000"/>
          </a:bodyPr>
          <a:lstStyle/>
          <a:p>
            <a:r>
              <a:rPr lang="en-US" dirty="0"/>
              <a:t>The 2-month-old is admitted to the pediatric unit with the following nursing note. Select three client findings that are of immediate concern to the nurse.</a:t>
            </a:r>
          </a:p>
          <a:p>
            <a:pPr lvl="1"/>
            <a:r>
              <a:rPr lang="en-US" dirty="0"/>
              <a:t>Pain </a:t>
            </a:r>
          </a:p>
          <a:p>
            <a:pPr lvl="1"/>
            <a:r>
              <a:rPr lang="en-US" dirty="0"/>
              <a:t>Current weight</a:t>
            </a:r>
          </a:p>
          <a:p>
            <a:pPr lvl="1"/>
            <a:r>
              <a:rPr lang="en-US" dirty="0"/>
              <a:t>Vital signs</a:t>
            </a:r>
          </a:p>
          <a:p>
            <a:pPr lvl="1"/>
            <a:r>
              <a:rPr lang="en-US" dirty="0"/>
              <a:t>Heart rate</a:t>
            </a:r>
          </a:p>
          <a:p>
            <a:pPr lvl="1"/>
            <a:r>
              <a:rPr lang="en-US" dirty="0"/>
              <a:t>Lab values</a:t>
            </a:r>
          </a:p>
          <a:p>
            <a:pPr lvl="1"/>
            <a:r>
              <a:rPr lang="en-US" dirty="0"/>
              <a:t>Hemodynamic status</a:t>
            </a:r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1BBF3799-D404-4B39-BC32-4D07B1DFD877}"/>
              </a:ext>
            </a:extLst>
          </p:cNvPr>
          <p:cNvGraphicFramePr>
            <a:graphicFrameLocks noGrp="1"/>
          </p:cNvGraphicFramePr>
          <p:nvPr/>
        </p:nvGraphicFramePr>
        <p:xfrm>
          <a:off x="6497273" y="2192882"/>
          <a:ext cx="1317072" cy="360726"/>
        </p:xfrm>
        <a:graphic>
          <a:graphicData uri="http://schemas.openxmlformats.org/drawingml/2006/table">
            <a:tbl>
              <a:tblPr/>
              <a:tblGrid>
                <a:gridCol w="1317072">
                  <a:extLst>
                    <a:ext uri="{9D8B030D-6E8A-4147-A177-3AD203B41FA5}">
                      <a16:colId xmlns:a16="http://schemas.microsoft.com/office/drawing/2014/main" val="1439442341"/>
                    </a:ext>
                  </a:extLst>
                </a:gridCol>
              </a:tblGrid>
              <a:tr h="360726"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Health History</a:t>
                      </a:r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30912633"/>
                  </a:ext>
                </a:extLst>
              </a:tr>
            </a:tbl>
          </a:graphicData>
        </a:graphic>
      </p:graphicFrame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976935D0-3BEF-4F4E-A2F9-11BC1F206B9B}"/>
              </a:ext>
            </a:extLst>
          </p:cNvPr>
          <p:cNvGraphicFramePr>
            <a:graphicFrameLocks noGrp="1"/>
          </p:cNvGraphicFramePr>
          <p:nvPr/>
        </p:nvGraphicFramePr>
        <p:xfrm>
          <a:off x="7814345" y="2192882"/>
          <a:ext cx="1283515" cy="360726"/>
        </p:xfrm>
        <a:graphic>
          <a:graphicData uri="http://schemas.openxmlformats.org/drawingml/2006/table">
            <a:tbl>
              <a:tblPr/>
              <a:tblGrid>
                <a:gridCol w="1283515">
                  <a:extLst>
                    <a:ext uri="{9D8B030D-6E8A-4147-A177-3AD203B41FA5}">
                      <a16:colId xmlns:a16="http://schemas.microsoft.com/office/drawing/2014/main" val="2135328920"/>
                    </a:ext>
                  </a:extLst>
                </a:gridCol>
              </a:tblGrid>
              <a:tr h="360726"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highlight>
                            <a:srgbClr val="00FFFF"/>
                          </a:highlight>
                        </a:rPr>
                        <a:t>Nurse’s Notes</a:t>
                      </a:r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94097254"/>
                  </a:ext>
                </a:extLst>
              </a:tr>
            </a:tbl>
          </a:graphicData>
        </a:graphic>
      </p:graphicFrame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B335FDD8-F681-4054-A661-A0682397D87C}"/>
              </a:ext>
            </a:extLst>
          </p:cNvPr>
          <p:cNvGraphicFramePr>
            <a:graphicFrameLocks noGrp="1"/>
          </p:cNvGraphicFramePr>
          <p:nvPr/>
        </p:nvGraphicFramePr>
        <p:xfrm>
          <a:off x="9097860" y="2192882"/>
          <a:ext cx="1510021" cy="365760"/>
        </p:xfrm>
        <a:graphic>
          <a:graphicData uri="http://schemas.openxmlformats.org/drawingml/2006/table">
            <a:tbl>
              <a:tblPr/>
              <a:tblGrid>
                <a:gridCol w="1510021">
                  <a:extLst>
                    <a:ext uri="{9D8B030D-6E8A-4147-A177-3AD203B41FA5}">
                      <a16:colId xmlns:a16="http://schemas.microsoft.com/office/drawing/2014/main" val="3694925794"/>
                    </a:ext>
                  </a:extLst>
                </a:gridCol>
              </a:tblGrid>
              <a:tr h="365760"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Imaging Studies</a:t>
                      </a:r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610425639"/>
                  </a:ext>
                </a:extLst>
              </a:tr>
            </a:tbl>
          </a:graphicData>
        </a:graphic>
      </p:graphicFrame>
      <p:graphicFrame>
        <p:nvGraphicFramePr>
          <p:cNvPr id="8" name="Table 7">
            <a:extLst>
              <a:ext uri="{FF2B5EF4-FFF2-40B4-BE49-F238E27FC236}">
                <a16:creationId xmlns:a16="http://schemas.microsoft.com/office/drawing/2014/main" id="{F1C41BE7-40CE-45B5-BDE3-4356113659E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38108843"/>
              </p:ext>
            </p:extLst>
          </p:nvPr>
        </p:nvGraphicFramePr>
        <p:xfrm>
          <a:off x="6497273" y="2558642"/>
          <a:ext cx="5620629" cy="2273417"/>
        </p:xfrm>
        <a:graphic>
          <a:graphicData uri="http://schemas.openxmlformats.org/drawingml/2006/table">
            <a:tbl>
              <a:tblPr/>
              <a:tblGrid>
                <a:gridCol w="5620629">
                  <a:extLst>
                    <a:ext uri="{9D8B030D-6E8A-4147-A177-3AD203B41FA5}">
                      <a16:colId xmlns:a16="http://schemas.microsoft.com/office/drawing/2014/main" val="3682952031"/>
                    </a:ext>
                  </a:extLst>
                </a:gridCol>
              </a:tblGrid>
              <a:tr h="2273417">
                <a:tc>
                  <a:txBody>
                    <a:bodyPr/>
                    <a:lstStyle/>
                    <a:p>
                      <a:pPr algn="l"/>
                      <a:r>
                        <a:rPr lang="en-US" sz="1600" b="0" i="0" dirty="0">
                          <a:effectLst/>
                          <a:latin typeface="Fira Sans" panose="020B0503050000020004" pitchFamily="34" charset="0"/>
                        </a:rPr>
                        <a:t>1000:  Lung sounds coarse; crackles and diminished breath sounds in lower lobes, and intercostal retractions noted, RR = 76 breaths/min. Copious amounts of clear nasal secretions. Regular heart rate and rhythm, brachial pulses +2/=, pale mucous membranes, capillary refill = 4-5 seconds</a:t>
                      </a:r>
                      <a:endParaRPr lang="en-US" dirty="0"/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946108236"/>
                  </a:ext>
                </a:extLst>
              </a:tr>
            </a:tbl>
          </a:graphicData>
        </a:graphic>
      </p:graphicFrame>
      <p:graphicFrame>
        <p:nvGraphicFramePr>
          <p:cNvPr id="9" name="Table 8">
            <a:extLst>
              <a:ext uri="{FF2B5EF4-FFF2-40B4-BE49-F238E27FC236}">
                <a16:creationId xmlns:a16="http://schemas.microsoft.com/office/drawing/2014/main" id="{43B69E79-B61A-4E8C-8AD5-82AD0751C8D7}"/>
              </a:ext>
            </a:extLst>
          </p:cNvPr>
          <p:cNvGraphicFramePr>
            <a:graphicFrameLocks noGrp="1"/>
          </p:cNvGraphicFramePr>
          <p:nvPr/>
        </p:nvGraphicFramePr>
        <p:xfrm>
          <a:off x="10607881" y="2192882"/>
          <a:ext cx="1510021" cy="365760"/>
        </p:xfrm>
        <a:graphic>
          <a:graphicData uri="http://schemas.openxmlformats.org/drawingml/2006/table">
            <a:tbl>
              <a:tblPr/>
              <a:tblGrid>
                <a:gridCol w="1510021">
                  <a:extLst>
                    <a:ext uri="{9D8B030D-6E8A-4147-A177-3AD203B41FA5}">
                      <a16:colId xmlns:a16="http://schemas.microsoft.com/office/drawing/2014/main" val="3694925794"/>
                    </a:ext>
                  </a:extLst>
                </a:gridCol>
              </a:tblGrid>
              <a:tr h="365760"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Lab Results</a:t>
                      </a:r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61042563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12753412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A9B9AA-BACA-4110-AF25-BC1E396AEB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Multiple Response Select N (Recognize Cues)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7A7C8DE-3F00-4AE7-AC83-1AEB7C80A9A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2457" y="2351313"/>
            <a:ext cx="5453543" cy="3825649"/>
          </a:xfrm>
        </p:spPr>
        <p:txBody>
          <a:bodyPr>
            <a:normAutofit fontScale="92500" lnSpcReduction="10000"/>
          </a:bodyPr>
          <a:lstStyle/>
          <a:p>
            <a:r>
              <a:rPr lang="en-US" dirty="0"/>
              <a:t>The 2-month-old is admitted to the pediatric unit with the following nursing note. Select three client findings that are of immediate concern to the nurse.</a:t>
            </a:r>
          </a:p>
          <a:p>
            <a:pPr lvl="1"/>
            <a:r>
              <a:rPr lang="en-US" dirty="0"/>
              <a:t>Pain </a:t>
            </a:r>
          </a:p>
          <a:p>
            <a:pPr lvl="1"/>
            <a:r>
              <a:rPr lang="en-US" dirty="0"/>
              <a:t>Current weight</a:t>
            </a:r>
          </a:p>
          <a:p>
            <a:pPr lvl="1"/>
            <a:r>
              <a:rPr lang="en-US" dirty="0">
                <a:highlight>
                  <a:srgbClr val="FFFF00"/>
                </a:highlight>
              </a:rPr>
              <a:t>Vital signs</a:t>
            </a:r>
          </a:p>
          <a:p>
            <a:pPr lvl="1"/>
            <a:r>
              <a:rPr lang="en-US" dirty="0"/>
              <a:t>Heart rate </a:t>
            </a:r>
          </a:p>
          <a:p>
            <a:pPr lvl="1"/>
            <a:r>
              <a:rPr lang="en-US" dirty="0">
                <a:highlight>
                  <a:srgbClr val="FFFF00"/>
                </a:highlight>
              </a:rPr>
              <a:t>Lab values</a:t>
            </a:r>
          </a:p>
          <a:p>
            <a:pPr lvl="1"/>
            <a:r>
              <a:rPr lang="en-US" dirty="0">
                <a:highlight>
                  <a:srgbClr val="FFFF00"/>
                </a:highlight>
              </a:rPr>
              <a:t>Hemodynamic status</a:t>
            </a:r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1BBF3799-D404-4B39-BC32-4D07B1DFD877}"/>
              </a:ext>
            </a:extLst>
          </p:cNvPr>
          <p:cNvGraphicFramePr>
            <a:graphicFrameLocks noGrp="1"/>
          </p:cNvGraphicFramePr>
          <p:nvPr/>
        </p:nvGraphicFramePr>
        <p:xfrm>
          <a:off x="6497273" y="2192882"/>
          <a:ext cx="1317072" cy="360726"/>
        </p:xfrm>
        <a:graphic>
          <a:graphicData uri="http://schemas.openxmlformats.org/drawingml/2006/table">
            <a:tbl>
              <a:tblPr/>
              <a:tblGrid>
                <a:gridCol w="1317072">
                  <a:extLst>
                    <a:ext uri="{9D8B030D-6E8A-4147-A177-3AD203B41FA5}">
                      <a16:colId xmlns:a16="http://schemas.microsoft.com/office/drawing/2014/main" val="1439442341"/>
                    </a:ext>
                  </a:extLst>
                </a:gridCol>
              </a:tblGrid>
              <a:tr h="360726"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Health History</a:t>
                      </a:r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30912633"/>
                  </a:ext>
                </a:extLst>
              </a:tr>
            </a:tbl>
          </a:graphicData>
        </a:graphic>
      </p:graphicFrame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976935D0-3BEF-4F4E-A2F9-11BC1F206B9B}"/>
              </a:ext>
            </a:extLst>
          </p:cNvPr>
          <p:cNvGraphicFramePr>
            <a:graphicFrameLocks noGrp="1"/>
          </p:cNvGraphicFramePr>
          <p:nvPr/>
        </p:nvGraphicFramePr>
        <p:xfrm>
          <a:off x="7814345" y="2192882"/>
          <a:ext cx="1283515" cy="360726"/>
        </p:xfrm>
        <a:graphic>
          <a:graphicData uri="http://schemas.openxmlformats.org/drawingml/2006/table">
            <a:tbl>
              <a:tblPr/>
              <a:tblGrid>
                <a:gridCol w="1283515">
                  <a:extLst>
                    <a:ext uri="{9D8B030D-6E8A-4147-A177-3AD203B41FA5}">
                      <a16:colId xmlns:a16="http://schemas.microsoft.com/office/drawing/2014/main" val="2135328920"/>
                    </a:ext>
                  </a:extLst>
                </a:gridCol>
              </a:tblGrid>
              <a:tr h="360726"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highlight>
                            <a:srgbClr val="00FFFF"/>
                          </a:highlight>
                        </a:rPr>
                        <a:t>Nurse’s Notes</a:t>
                      </a:r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94097254"/>
                  </a:ext>
                </a:extLst>
              </a:tr>
            </a:tbl>
          </a:graphicData>
        </a:graphic>
      </p:graphicFrame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B335FDD8-F681-4054-A661-A0682397D87C}"/>
              </a:ext>
            </a:extLst>
          </p:cNvPr>
          <p:cNvGraphicFramePr>
            <a:graphicFrameLocks noGrp="1"/>
          </p:cNvGraphicFramePr>
          <p:nvPr/>
        </p:nvGraphicFramePr>
        <p:xfrm>
          <a:off x="9097860" y="2192882"/>
          <a:ext cx="1510021" cy="365760"/>
        </p:xfrm>
        <a:graphic>
          <a:graphicData uri="http://schemas.openxmlformats.org/drawingml/2006/table">
            <a:tbl>
              <a:tblPr/>
              <a:tblGrid>
                <a:gridCol w="1510021">
                  <a:extLst>
                    <a:ext uri="{9D8B030D-6E8A-4147-A177-3AD203B41FA5}">
                      <a16:colId xmlns:a16="http://schemas.microsoft.com/office/drawing/2014/main" val="3694925794"/>
                    </a:ext>
                  </a:extLst>
                </a:gridCol>
              </a:tblGrid>
              <a:tr h="365760"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Imaging Studies</a:t>
                      </a:r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610425639"/>
                  </a:ext>
                </a:extLst>
              </a:tr>
            </a:tbl>
          </a:graphicData>
        </a:graphic>
      </p:graphicFrame>
      <p:graphicFrame>
        <p:nvGraphicFramePr>
          <p:cNvPr id="8" name="Table 7">
            <a:extLst>
              <a:ext uri="{FF2B5EF4-FFF2-40B4-BE49-F238E27FC236}">
                <a16:creationId xmlns:a16="http://schemas.microsoft.com/office/drawing/2014/main" id="{F1C41BE7-40CE-45B5-BDE3-4356113659E9}"/>
              </a:ext>
            </a:extLst>
          </p:cNvPr>
          <p:cNvGraphicFramePr>
            <a:graphicFrameLocks noGrp="1"/>
          </p:cNvGraphicFramePr>
          <p:nvPr/>
        </p:nvGraphicFramePr>
        <p:xfrm>
          <a:off x="6497273" y="2558642"/>
          <a:ext cx="5620629" cy="2273417"/>
        </p:xfrm>
        <a:graphic>
          <a:graphicData uri="http://schemas.openxmlformats.org/drawingml/2006/table">
            <a:tbl>
              <a:tblPr/>
              <a:tblGrid>
                <a:gridCol w="5620629">
                  <a:extLst>
                    <a:ext uri="{9D8B030D-6E8A-4147-A177-3AD203B41FA5}">
                      <a16:colId xmlns:a16="http://schemas.microsoft.com/office/drawing/2014/main" val="3682952031"/>
                    </a:ext>
                  </a:extLst>
                </a:gridCol>
              </a:tblGrid>
              <a:tr h="2273417">
                <a:tc>
                  <a:txBody>
                    <a:bodyPr/>
                    <a:lstStyle/>
                    <a:p>
                      <a:pPr algn="l"/>
                      <a:r>
                        <a:rPr lang="en-US" sz="1600" b="0" i="0" dirty="0">
                          <a:effectLst/>
                          <a:latin typeface="Fira Sans" panose="020B0503050000020004" pitchFamily="34" charset="0"/>
                        </a:rPr>
                        <a:t>1000:  Lung sounds coarse; crackles and diminished breath sounds in lower lobes, and intercostal retractions noted, RR = 76 breaths/min. Copious amounts of clear nasal secretions. Regular heart rate and rhythm, brachial pulses +2/=, pale mucous membranes, capillary refill = 4-5 seconds</a:t>
                      </a:r>
                      <a:endParaRPr lang="en-US" dirty="0"/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946108236"/>
                  </a:ext>
                </a:extLst>
              </a:tr>
            </a:tbl>
          </a:graphicData>
        </a:graphic>
      </p:graphicFrame>
      <p:graphicFrame>
        <p:nvGraphicFramePr>
          <p:cNvPr id="9" name="Table 8">
            <a:extLst>
              <a:ext uri="{FF2B5EF4-FFF2-40B4-BE49-F238E27FC236}">
                <a16:creationId xmlns:a16="http://schemas.microsoft.com/office/drawing/2014/main" id="{43B69E79-B61A-4E8C-8AD5-82AD0751C8D7}"/>
              </a:ext>
            </a:extLst>
          </p:cNvPr>
          <p:cNvGraphicFramePr>
            <a:graphicFrameLocks noGrp="1"/>
          </p:cNvGraphicFramePr>
          <p:nvPr/>
        </p:nvGraphicFramePr>
        <p:xfrm>
          <a:off x="10607881" y="2192882"/>
          <a:ext cx="1510021" cy="365760"/>
        </p:xfrm>
        <a:graphic>
          <a:graphicData uri="http://schemas.openxmlformats.org/drawingml/2006/table">
            <a:tbl>
              <a:tblPr/>
              <a:tblGrid>
                <a:gridCol w="1510021">
                  <a:extLst>
                    <a:ext uri="{9D8B030D-6E8A-4147-A177-3AD203B41FA5}">
                      <a16:colId xmlns:a16="http://schemas.microsoft.com/office/drawing/2014/main" val="3694925794"/>
                    </a:ext>
                  </a:extLst>
                </a:gridCol>
              </a:tblGrid>
              <a:tr h="365760"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Lab Results</a:t>
                      </a:r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61042563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54586851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6" presetClass="emph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0" tmFilter="0, 0; .2, .5; .8, .5; 1, 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7" dur="250" autoRev="1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6" presetClass="emph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1" dur="500" tmFilter="0, 0; .2, .5; .8, .5; 1, 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2" dur="250" autoRev="1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6" presetClass="emph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6" dur="500" tmFilter="0, 0; .2, .5; .8, .5; 1, 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7" dur="250" autoRev="1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42A5316D-ED2F-4F89-B4B4-8D9240B1A34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2013557" cy="6858000"/>
          </a:xfrm>
          <a:prstGeom prst="rect">
            <a:avLst/>
          </a:prstGeom>
          <a:solidFill>
            <a:srgbClr val="7F7F7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A35CA04-D570-FBAC-607D-E62A18938A8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4510" y="1487272"/>
            <a:ext cx="2743200" cy="2743200"/>
          </a:xfrm>
          <a:prstGeom prst="ellipse">
            <a:avLst/>
          </a:prstGeom>
          <a:solidFill>
            <a:srgbClr val="262626"/>
          </a:solidFill>
          <a:ln w="174625" cmpd="thinThick">
            <a:solidFill>
              <a:srgbClr val="262626"/>
            </a:solidFill>
          </a:ln>
        </p:spPr>
        <p:txBody>
          <a:bodyPr>
            <a:normAutofit/>
          </a:bodyPr>
          <a:lstStyle/>
          <a:p>
            <a:pPr algn="ctr"/>
            <a:r>
              <a:rPr lang="en-US" sz="2600">
                <a:solidFill>
                  <a:srgbClr val="FFFFFF"/>
                </a:solidFill>
              </a:rPr>
              <a:t>Medication Calculation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8DDB5F4D-9F46-429A-10B3-B828C02D8B6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38600" y="1323704"/>
            <a:ext cx="7188199" cy="3070336"/>
          </a:xfrm>
          <a:prstGeom prst="rect">
            <a:avLst/>
          </a:prstGeom>
        </p:spPr>
      </p:pic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9408E78-5DDE-D9E3-3203-9FE15192111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038600" y="4884873"/>
            <a:ext cx="7188199" cy="1292090"/>
          </a:xfrm>
        </p:spPr>
        <p:txBody>
          <a:bodyPr>
            <a:normAutofit/>
          </a:bodyPr>
          <a:lstStyle/>
          <a:p>
            <a:r>
              <a:rPr lang="en-US" sz="1800" dirty="0"/>
              <a:t>The nurse double-checks the hourly IV fluid rate of 14 ml/hr. Is this an acceptable maintenance fluid for a 2-month-old weighing 7 </a:t>
            </a:r>
            <a:r>
              <a:rPr lang="en-US" sz="1800" dirty="0" err="1"/>
              <a:t>lb</a:t>
            </a:r>
            <a:r>
              <a:rPr lang="en-US" sz="1800" dirty="0"/>
              <a:t> 9.6 oz?</a:t>
            </a:r>
          </a:p>
        </p:txBody>
      </p:sp>
    </p:spTree>
    <p:extLst>
      <p:ext uri="{BB962C8B-B14F-4D97-AF65-F5344CB8AC3E}">
        <p14:creationId xmlns:p14="http://schemas.microsoft.com/office/powerpoint/2010/main" val="298212172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A9B9AA-BACA-4110-AF25-BC1E396AEB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Analyze Cues</a:t>
            </a:r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1BBF3799-D404-4B39-BC32-4D07B1DFD87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28279733"/>
              </p:ext>
            </p:extLst>
          </p:nvPr>
        </p:nvGraphicFramePr>
        <p:xfrm>
          <a:off x="3180502" y="2192882"/>
          <a:ext cx="1317072" cy="360726"/>
        </p:xfrm>
        <a:graphic>
          <a:graphicData uri="http://schemas.openxmlformats.org/drawingml/2006/table">
            <a:tbl>
              <a:tblPr/>
              <a:tblGrid>
                <a:gridCol w="1317072">
                  <a:extLst>
                    <a:ext uri="{9D8B030D-6E8A-4147-A177-3AD203B41FA5}">
                      <a16:colId xmlns:a16="http://schemas.microsoft.com/office/drawing/2014/main" val="1439442341"/>
                    </a:ext>
                  </a:extLst>
                </a:gridCol>
              </a:tblGrid>
              <a:tr h="360726"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Health History</a:t>
                      </a:r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30912633"/>
                  </a:ext>
                </a:extLst>
              </a:tr>
            </a:tbl>
          </a:graphicData>
        </a:graphic>
      </p:graphicFrame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976935D0-3BEF-4F4E-A2F9-11BC1F206B9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28868558"/>
              </p:ext>
            </p:extLst>
          </p:nvPr>
        </p:nvGraphicFramePr>
        <p:xfrm>
          <a:off x="4497574" y="2192882"/>
          <a:ext cx="1283515" cy="360726"/>
        </p:xfrm>
        <a:graphic>
          <a:graphicData uri="http://schemas.openxmlformats.org/drawingml/2006/table">
            <a:tbl>
              <a:tblPr/>
              <a:tblGrid>
                <a:gridCol w="1283515">
                  <a:extLst>
                    <a:ext uri="{9D8B030D-6E8A-4147-A177-3AD203B41FA5}">
                      <a16:colId xmlns:a16="http://schemas.microsoft.com/office/drawing/2014/main" val="2135328920"/>
                    </a:ext>
                  </a:extLst>
                </a:gridCol>
              </a:tblGrid>
              <a:tr h="360726"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highlight>
                            <a:srgbClr val="00FFFF"/>
                          </a:highlight>
                        </a:rPr>
                        <a:t>Nurse’s Notes</a:t>
                      </a:r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94097254"/>
                  </a:ext>
                </a:extLst>
              </a:tr>
            </a:tbl>
          </a:graphicData>
        </a:graphic>
      </p:graphicFrame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B335FDD8-F681-4054-A661-A0682397D87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81362855"/>
              </p:ext>
            </p:extLst>
          </p:nvPr>
        </p:nvGraphicFramePr>
        <p:xfrm>
          <a:off x="5781089" y="2192882"/>
          <a:ext cx="1510021" cy="365760"/>
        </p:xfrm>
        <a:graphic>
          <a:graphicData uri="http://schemas.openxmlformats.org/drawingml/2006/table">
            <a:tbl>
              <a:tblPr/>
              <a:tblGrid>
                <a:gridCol w="1510021">
                  <a:extLst>
                    <a:ext uri="{9D8B030D-6E8A-4147-A177-3AD203B41FA5}">
                      <a16:colId xmlns:a16="http://schemas.microsoft.com/office/drawing/2014/main" val="3694925794"/>
                    </a:ext>
                  </a:extLst>
                </a:gridCol>
              </a:tblGrid>
              <a:tr h="365760"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Imaging Studies</a:t>
                      </a:r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610425639"/>
                  </a:ext>
                </a:extLst>
              </a:tr>
            </a:tbl>
          </a:graphicData>
        </a:graphic>
      </p:graphicFrame>
      <p:graphicFrame>
        <p:nvGraphicFramePr>
          <p:cNvPr id="9" name="Table 8">
            <a:extLst>
              <a:ext uri="{FF2B5EF4-FFF2-40B4-BE49-F238E27FC236}">
                <a16:creationId xmlns:a16="http://schemas.microsoft.com/office/drawing/2014/main" id="{43B69E79-B61A-4E8C-8AD5-82AD0751C8D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90239522"/>
              </p:ext>
            </p:extLst>
          </p:nvPr>
        </p:nvGraphicFramePr>
        <p:xfrm>
          <a:off x="7294825" y="2187848"/>
          <a:ext cx="1510021" cy="365760"/>
        </p:xfrm>
        <a:graphic>
          <a:graphicData uri="http://schemas.openxmlformats.org/drawingml/2006/table">
            <a:tbl>
              <a:tblPr/>
              <a:tblGrid>
                <a:gridCol w="1510021">
                  <a:extLst>
                    <a:ext uri="{9D8B030D-6E8A-4147-A177-3AD203B41FA5}">
                      <a16:colId xmlns:a16="http://schemas.microsoft.com/office/drawing/2014/main" val="3694925794"/>
                    </a:ext>
                  </a:extLst>
                </a:gridCol>
              </a:tblGrid>
              <a:tr h="365760"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Lab Results</a:t>
                      </a:r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610425639"/>
                  </a:ext>
                </a:extLst>
              </a:tr>
            </a:tbl>
          </a:graphicData>
        </a:graphic>
      </p:graphicFrame>
      <p:sp>
        <p:nvSpPr>
          <p:cNvPr id="12" name="TextBox 11">
            <a:extLst>
              <a:ext uri="{FF2B5EF4-FFF2-40B4-BE49-F238E27FC236}">
                <a16:creationId xmlns:a16="http://schemas.microsoft.com/office/drawing/2014/main" id="{B01F7914-58F2-A173-567B-E67AA07A343C}"/>
              </a:ext>
            </a:extLst>
          </p:cNvPr>
          <p:cNvSpPr txBox="1"/>
          <p:nvPr/>
        </p:nvSpPr>
        <p:spPr>
          <a:xfrm>
            <a:off x="1755634" y="5393627"/>
            <a:ext cx="847779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Based on the most recent assessment findings, which nursing interventions are indicated at this time?</a:t>
            </a:r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2D7BA956-C2E3-92DB-D112-AB72553AE97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65061553"/>
              </p:ext>
            </p:extLst>
          </p:nvPr>
        </p:nvGraphicFramePr>
        <p:xfrm>
          <a:off x="3184217" y="2588688"/>
          <a:ext cx="5620629" cy="2273417"/>
        </p:xfrm>
        <a:graphic>
          <a:graphicData uri="http://schemas.openxmlformats.org/drawingml/2006/table">
            <a:tbl>
              <a:tblPr/>
              <a:tblGrid>
                <a:gridCol w="5620629">
                  <a:extLst>
                    <a:ext uri="{9D8B030D-6E8A-4147-A177-3AD203B41FA5}">
                      <a16:colId xmlns:a16="http://schemas.microsoft.com/office/drawing/2014/main" val="3682952031"/>
                    </a:ext>
                  </a:extLst>
                </a:gridCol>
              </a:tblGrid>
              <a:tr h="2273417">
                <a:tc>
                  <a:txBody>
                    <a:bodyPr/>
                    <a:lstStyle/>
                    <a:p>
                      <a:pPr algn="l"/>
                      <a:r>
                        <a:rPr lang="en-US" sz="1600" b="0" i="0" dirty="0">
                          <a:effectLst/>
                          <a:latin typeface="Fira Sans" panose="020B0503050000020004" pitchFamily="34" charset="0"/>
                        </a:rPr>
                        <a:t>1000:  Lung sounds coarse; crackles and diminished breath sounds in lower lobes, and intercostal retractions noted, RR = 76 breaths/min. Copious amounts of clear nasal secretions. Regular heart rate and rhythm, brachial pulses +2/=, pale mucous membranes, capillary refill = 4-5 seconds</a:t>
                      </a:r>
                      <a:endParaRPr lang="en-US" dirty="0"/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94610823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88827169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BB2B761-C565-0F30-FD1A-756F3A25A10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Matrix Multiple Response (Analyze Cues)</a:t>
            </a:r>
          </a:p>
        </p:txBody>
      </p:sp>
      <p:graphicFrame>
        <p:nvGraphicFramePr>
          <p:cNvPr id="7" name="Table 7">
            <a:extLst>
              <a:ext uri="{FF2B5EF4-FFF2-40B4-BE49-F238E27FC236}">
                <a16:creationId xmlns:a16="http://schemas.microsoft.com/office/drawing/2014/main" id="{2E3AAF48-56FE-5521-9D6E-BEB3BCF6BEB3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444356137"/>
              </p:ext>
            </p:extLst>
          </p:nvPr>
        </p:nvGraphicFramePr>
        <p:xfrm>
          <a:off x="838200" y="1841954"/>
          <a:ext cx="9383487" cy="4683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127829">
                  <a:extLst>
                    <a:ext uri="{9D8B030D-6E8A-4147-A177-3AD203B41FA5}">
                      <a16:colId xmlns:a16="http://schemas.microsoft.com/office/drawing/2014/main" val="3414722270"/>
                    </a:ext>
                  </a:extLst>
                </a:gridCol>
                <a:gridCol w="3127829">
                  <a:extLst>
                    <a:ext uri="{9D8B030D-6E8A-4147-A177-3AD203B41FA5}">
                      <a16:colId xmlns:a16="http://schemas.microsoft.com/office/drawing/2014/main" val="2651239398"/>
                    </a:ext>
                  </a:extLst>
                </a:gridCol>
                <a:gridCol w="3127829">
                  <a:extLst>
                    <a:ext uri="{9D8B030D-6E8A-4147-A177-3AD203B41FA5}">
                      <a16:colId xmlns:a16="http://schemas.microsoft.com/office/drawing/2014/main" val="160212355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Indicated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Not indicated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0494523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Administer antibiotics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0477044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Monitor oxygen saturation levels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9430856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Encourage oral clear liquids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0285079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Provide nasal suctioning as needed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2920513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Administer opioid pain medication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4139343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Maintain accurate I &amp; 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4139562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Maintain prescribed IV fluids at 14 ml/</a:t>
                      </a:r>
                      <a:r>
                        <a:rPr lang="en-US" dirty="0" err="1"/>
                        <a:t>hr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8023223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Instruct the mother to pump and store breastmilk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2339581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54145901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BB2B761-C565-0F30-FD1A-756F3A25A10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Matrix Multiple Response (Analyze Cues)</a:t>
            </a:r>
          </a:p>
        </p:txBody>
      </p:sp>
      <p:graphicFrame>
        <p:nvGraphicFramePr>
          <p:cNvPr id="7" name="Table 7">
            <a:extLst>
              <a:ext uri="{FF2B5EF4-FFF2-40B4-BE49-F238E27FC236}">
                <a16:creationId xmlns:a16="http://schemas.microsoft.com/office/drawing/2014/main" id="{2E3AAF48-56FE-5521-9D6E-BEB3BCF6BEB3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637430921"/>
              </p:ext>
            </p:extLst>
          </p:nvPr>
        </p:nvGraphicFramePr>
        <p:xfrm>
          <a:off x="821094" y="1841954"/>
          <a:ext cx="9400593" cy="468201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144935">
                  <a:extLst>
                    <a:ext uri="{9D8B030D-6E8A-4147-A177-3AD203B41FA5}">
                      <a16:colId xmlns:a16="http://schemas.microsoft.com/office/drawing/2014/main" val="3414722270"/>
                    </a:ext>
                  </a:extLst>
                </a:gridCol>
                <a:gridCol w="3127829">
                  <a:extLst>
                    <a:ext uri="{9D8B030D-6E8A-4147-A177-3AD203B41FA5}">
                      <a16:colId xmlns:a16="http://schemas.microsoft.com/office/drawing/2014/main" val="2651239398"/>
                    </a:ext>
                  </a:extLst>
                </a:gridCol>
                <a:gridCol w="3127829">
                  <a:extLst>
                    <a:ext uri="{9D8B030D-6E8A-4147-A177-3AD203B41FA5}">
                      <a16:colId xmlns:a16="http://schemas.microsoft.com/office/drawing/2014/main" val="160212355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Indicated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Not indicated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0494523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Administer antibiotics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                  X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0477044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Monitor oxygen saturation levels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                         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9430856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Encourage oral clear liquids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                   X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0285079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Provide nasal suctioning as needed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                         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2920513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Administer opioid pain medication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                    X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41393438"/>
                  </a:ext>
                </a:extLst>
              </a:tr>
              <a:tr h="36909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Maintain accurate I &amp; 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/>
                        <a:t>                          X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4139562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Maintain prescribed IV fluids at 14 ml/</a:t>
                      </a:r>
                      <a:r>
                        <a:rPr lang="en-US" dirty="0" err="1"/>
                        <a:t>hr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                          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8023223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Instruct the mother to pump and store breastmilk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                          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2339581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6963266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/>
          <p:cNvSpPr>
            <a:spLocks noGrp="1"/>
          </p:cNvSpPr>
          <p:nvPr>
            <p:ph type="title"/>
          </p:nvPr>
        </p:nvSpPr>
        <p:spPr>
          <a:xfrm>
            <a:off x="1644829" y="5180719"/>
            <a:ext cx="8895351" cy="812767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ctr">
              <a:defRPr/>
            </a:pPr>
            <a:r>
              <a:rPr lang="en-US" sz="400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Your turn to assess….</a:t>
            </a:r>
          </a:p>
        </p:txBody>
      </p:sp>
      <p:pic>
        <p:nvPicPr>
          <p:cNvPr id="2" name="Online Media 1" title="Two RSV Patients">
            <a:hlinkClick r:id="" action="ppaction://media"/>
            <a:extLst>
              <a:ext uri="{FF2B5EF4-FFF2-40B4-BE49-F238E27FC236}">
                <a16:creationId xmlns:a16="http://schemas.microsoft.com/office/drawing/2014/main" id="{264F5F99-E3EA-48EE-B740-045916F8A099}"/>
              </a:ext>
            </a:extLst>
          </p:cNvPr>
          <p:cNvPicPr>
            <a:picLocks noGrp="1" noRot="1" noChangeAspect="1"/>
          </p:cNvPicPr>
          <p:nvPr>
            <p:ph type="pic" idx="1"/>
            <a:videoFile r:link="rId1"/>
          </p:nvPr>
        </p:nvPicPr>
        <p:blipFill>
          <a:blip r:embed="rId4"/>
          <a:stretch>
            <a:fillRect/>
          </a:stretch>
        </p:blipFill>
        <p:spPr>
          <a:xfrm>
            <a:off x="3049766" y="571500"/>
            <a:ext cx="6101407" cy="3447295"/>
          </a:xfrm>
          <a:prstGeom prst="rect">
            <a:avLst/>
          </a:prstGeom>
        </p:spPr>
      </p:pic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>
          <a:xfrm>
            <a:off x="173736" y="6382512"/>
            <a:ext cx="2845901" cy="365125"/>
          </a:xfrm>
        </p:spPr>
        <p:txBody>
          <a:bodyPr vert="horz" lIns="91440" tIns="45720" rIns="91440" bIns="45720" rtlCol="0" anchor="ctr">
            <a:normAutofit/>
          </a:bodyPr>
          <a:lstStyle/>
          <a:p>
            <a:pPr>
              <a:spcAft>
                <a:spcPts val="600"/>
              </a:spcAft>
            </a:pPr>
            <a:fld id="{2E0E05EB-9794-48F5-A546-509FE5B70E18}" type="datetime1">
              <a:rPr lang="en-US" smtClean="0"/>
              <a:pPr>
                <a:spcAft>
                  <a:spcPts val="600"/>
                </a:spcAft>
              </a:pPr>
              <a:t>6/24/2025</a:t>
            </a:fld>
            <a:endParaRPr lang="en-US"/>
          </a:p>
        </p:txBody>
      </p:sp>
      <p:sp>
        <p:nvSpPr>
          <p:cNvPr id="25605" name="Slide Number Placeholder 4"/>
          <p:cNvSpPr>
            <a:spLocks noGrp="1"/>
          </p:cNvSpPr>
          <p:nvPr>
            <p:ph type="sldNum" sz="quarter" idx="12"/>
          </p:nvPr>
        </p:nvSpPr>
        <p:spPr bwMode="auto">
          <a:xfrm>
            <a:off x="11457919" y="6382512"/>
            <a:ext cx="500997" cy="365125"/>
          </a:xfrm>
        </p:spPr>
        <p:txBody>
          <a:bodyPr vert="horz" lIns="91440" tIns="45720" rIns="91440" bIns="45720" numCol="1" rtlCol="0" anchor="ctr" anchorCtr="0" compatLnSpc="1">
            <a:prstTxWarp prst="textNoShape">
              <a:avLst/>
            </a:prstTxWarp>
            <a:normAutofit fontScale="92500" lnSpcReduction="20000"/>
          </a:bodyPr>
          <a:lstStyle/>
          <a:p>
            <a:pPr>
              <a:spcAft>
                <a:spcPts val="600"/>
              </a:spcAft>
            </a:pPr>
            <a:r>
              <a:rPr lang="en-US"/>
              <a:t>11-</a:t>
            </a:r>
            <a:fld id="{10F96E82-22ED-4409-8127-149A3A13FABB}" type="slidenum">
              <a:rPr lang="en-US" smtClean="0"/>
              <a:pPr>
                <a:spcAft>
                  <a:spcPts val="600"/>
                </a:spcAft>
              </a:pPr>
              <a:t>15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2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>
                <p:cTn id="7" fill="hold" display="0">
                  <p:stCondLst>
                    <p:cond delay="indefinite"/>
                  </p:stCondLst>
                </p:cTn>
                <p:tgtEl>
                  <p:spTgt spid="2"/>
                </p:tgtEl>
              </p:cMediaNode>
            </p:video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2" dur="1" fill="hold"/>
                                        <p:tgtEl>
                                          <p:spTgt spid="2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"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1432</TotalTime>
  <Words>1028</Words>
  <Application>Microsoft Office PowerPoint</Application>
  <PresentationFormat>Widescreen</PresentationFormat>
  <Paragraphs>165</Paragraphs>
  <Slides>15</Slides>
  <Notes>9</Notes>
  <HiddenSlides>0</HiddenSlides>
  <MMClips>2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20" baseType="lpstr">
      <vt:lpstr>Arial</vt:lpstr>
      <vt:lpstr>Calibri</vt:lpstr>
      <vt:lpstr>Calibri Light</vt:lpstr>
      <vt:lpstr>Fira Sans</vt:lpstr>
      <vt:lpstr>Office Theme</vt:lpstr>
      <vt:lpstr>Pediatric Unfolding Case Study</vt:lpstr>
      <vt:lpstr>Clinical Judgment</vt:lpstr>
      <vt:lpstr>Recognize Cues</vt:lpstr>
      <vt:lpstr>Recognize Cues</vt:lpstr>
      <vt:lpstr>Bronchiolitis </vt:lpstr>
      <vt:lpstr>More Clues….</vt:lpstr>
      <vt:lpstr>     Recognize Cues</vt:lpstr>
      <vt:lpstr>     Recognize Cues</vt:lpstr>
      <vt:lpstr>Multiple Response Select N (Recognize Cues)</vt:lpstr>
      <vt:lpstr>Multiple Response Select N (Recognize Cues)</vt:lpstr>
      <vt:lpstr>Medication Calculation</vt:lpstr>
      <vt:lpstr>Analyze Cues</vt:lpstr>
      <vt:lpstr>Matrix Multiple Response (Analyze Cues)</vt:lpstr>
      <vt:lpstr>Matrix Multiple Response (Analyze Cues)</vt:lpstr>
      <vt:lpstr>Your turn to assess….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Pediatric Unfolding Case Study</dc:title>
  <dc:creator>Jessica DeVore</dc:creator>
  <cp:lastModifiedBy>Ellie Fuller</cp:lastModifiedBy>
  <cp:revision>3</cp:revision>
  <dcterms:created xsi:type="dcterms:W3CDTF">2023-02-13T16:56:20Z</dcterms:created>
  <dcterms:modified xsi:type="dcterms:W3CDTF">2025-06-24T19:37:08Z</dcterms:modified>
</cp:coreProperties>
</file>